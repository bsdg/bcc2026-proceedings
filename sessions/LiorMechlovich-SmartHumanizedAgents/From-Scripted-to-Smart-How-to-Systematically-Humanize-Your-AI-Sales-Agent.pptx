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9144000" cy="5143500"/>
  <p:notesSz cx="5143500" cy="9144000"/>
  <p:embeddedFontLst>
    <p:embeddedFont>
      <p:font typeface="Merriweather Bold"/>
      <p:regular r:id="rId49"/>
    </p:embeddedFont>
    <p:embeddedFont>
      <p:font typeface="Open Sans"/>
      <p:regular r:id="rId50"/>
    </p:embeddedFont>
    <p:embeddedFont>
      <p:font typeface="Open Sans Bold"/>
      <p:regular r:id="rId5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font" Target="fonts/font1.fntdata"/><Relationship Id="rId50" Type="http://schemas.openxmlformats.org/officeDocument/2006/relationships/font" Target="fonts/font2.fntdata"/><Relationship Id="rId51"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jp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jp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jp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jp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jp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jp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jp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jp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jp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jp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jp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6-1.jpg"/><Relationship Id="rId2" Type="http://schemas.openxmlformats.org/officeDocument/2006/relationships/image" Target="../media/image-1016-2.png"/><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7-1.jpg"/><Relationship Id="rId2" Type="http://schemas.openxmlformats.org/officeDocument/2006/relationships/image" Target="../media/image-1017-2.png"/><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8-1.jpg"/><Relationship Id="rId2" Type="http://schemas.openxmlformats.org/officeDocument/2006/relationships/image" Target="../media/image-1018-2.png"/><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9-1.jpg"/><Relationship Id="rId2" Type="http://schemas.openxmlformats.org/officeDocument/2006/relationships/image" Target="../media/image-1019-2.png"/><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0-1.jpg"/><Relationship Id="rId2" Type="http://schemas.openxmlformats.org/officeDocument/2006/relationships/image" Target="../media/image-1020-2.png"/><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1-1.jpg"/><Relationship Id="rId2" Type="http://schemas.openxmlformats.org/officeDocument/2006/relationships/image" Target="../media/image-1021-2.png"/><Relationship Id="rId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2-1.jpg"/><Relationship Id="rId2" Type="http://schemas.openxmlformats.org/officeDocument/2006/relationships/image" Target="../media/image-1022-2.png"/><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3-1.jpg"/><Relationship Id="rId2" Type="http://schemas.openxmlformats.org/officeDocument/2006/relationships/image" Target="../media/image-1023-2.png"/><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4-1.jpg"/><Relationship Id="rId2" Type="http://schemas.openxmlformats.org/officeDocument/2006/relationships/image" Target="../media/image-1024-2.png"/><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5-1.jpg"/><Relationship Id="rId2" Type="http://schemas.openxmlformats.org/officeDocument/2006/relationships/image" Target="../media/image-1025-2.png"/><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6-1.jpg"/><Relationship Id="rId2" Type="http://schemas.openxmlformats.org/officeDocument/2006/relationships/image" Target="../media/image-1026-2.png"/><Relationship Id="rId4"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7-1.jpg"/><Relationship Id="rId2" Type="http://schemas.openxmlformats.org/officeDocument/2006/relationships/image" Target="../media/image-1027-2.png"/><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8-1.jpg"/><Relationship Id="rId2" Type="http://schemas.openxmlformats.org/officeDocument/2006/relationships/image" Target="../media/image-1028-2.png"/><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9-1.jpg"/><Relationship Id="rId2" Type="http://schemas.openxmlformats.org/officeDocument/2006/relationships/image" Target="../media/image-1029-2.png"/><Relationship Id="rId4"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0-1.jpg"/><Relationship Id="rId2" Type="http://schemas.openxmlformats.org/officeDocument/2006/relationships/image" Target="../media/image-1030-2.png"/><Relationship Id="rId4"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1-1.jpg"/><Relationship Id="rId2" Type="http://schemas.openxmlformats.org/officeDocument/2006/relationships/image" Target="../media/image-1031-2.png"/><Relationship Id="rId4"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2-1.jpg"/><Relationship Id="rId2" Type="http://schemas.openxmlformats.org/officeDocument/2006/relationships/image" Target="../media/image-1032-2.png"/><Relationship Id="rId4"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3-1.jpg"/><Relationship Id="rId2" Type="http://schemas.openxmlformats.org/officeDocument/2006/relationships/image" Target="../media/image-1033-2.png"/><Relationship Id="rId4"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4-1.jpg"/><Relationship Id="rId2" Type="http://schemas.openxmlformats.org/officeDocument/2006/relationships/image" Target="../media/image-1034-2.png"/><Relationship Id="rId4"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5-1.jpg"/><Relationship Id="rId2" Type="http://schemas.openxmlformats.org/officeDocument/2006/relationships/image" Target="../media/image-1035-2.png"/><Relationship Id="rId4"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6-1.jpg"/><Relationship Id="rId2" Type="http://schemas.openxmlformats.org/officeDocument/2006/relationships/image" Target="../media/image-1036-2.png"/><Relationship Id="rId4"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7-1.jpg"/><Relationship Id="rId2" Type="http://schemas.openxmlformats.org/officeDocument/2006/relationships/image" Target="../media/image-1037-2.png"/><Relationship Id="rId4"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8-1.jpg"/><Relationship Id="rId2" Type="http://schemas.openxmlformats.org/officeDocument/2006/relationships/image" Target="../media/image-1038-2.png"/><Relationship Id="rId4"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9-1.jpg"/><Relationship Id="rId2" Type="http://schemas.openxmlformats.org/officeDocument/2006/relationships/image" Target="../media/image-1039-2.png"/><Relationship Id="rId4"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40-1.jpg"/><Relationship Id="rId2" Type="http://schemas.openxmlformats.org/officeDocument/2006/relationships/image" Target="../media/image-1040-2.png"/><Relationship Id="rId4"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41-1.jpg"/><Relationship Id="rId2" Type="http://schemas.openxmlformats.org/officeDocument/2006/relationships/image" Target="../media/image-1041-2.png"/><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42-1.jpg"/><Relationship Id="rId2" Type="http://schemas.openxmlformats.org/officeDocument/2006/relationships/image" Target="../media/image-1042-2.png"/><Relationship Id="rId4"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43-1.jpg"/><Relationship Id="rId2" Type="http://schemas.openxmlformats.org/officeDocument/2006/relationships/image" Target="../media/image-1043-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alespeak.ai" TargetMode="External"/><Relationship Id="rId1" Type="http://schemas.openxmlformats.org/officeDocument/2006/relationships/image" Target="../media/image-2-1.jpg"/><Relationship Id="rId2" Type="http://schemas.openxmlformats.org/officeDocument/2006/relationships/image" Target="../media/image-2-2.jp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svg"/><Relationship Id="rId4" Type="http://schemas.openxmlformats.org/officeDocument/2006/relationships/image" Target="../media/image-5-4.jpg"/><Relationship Id="rId5" Type="http://schemas.openxmlformats.org/officeDocument/2006/relationships/image" Target="../media/image-5-5.svg"/><Relationship Id="rId6" Type="http://schemas.openxmlformats.org/officeDocument/2006/relationships/image" Target="../media/image-5-6.jpg"/><Relationship Id="rId7" Type="http://schemas.openxmlformats.org/officeDocument/2006/relationships/image" Target="../media/image-5-7.sv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svg"/><Relationship Id="rId3" Type="http://schemas.openxmlformats.org/officeDocument/2006/relationships/image" Target="../media/image-13-3.jpg"/><Relationship Id="rId4" Type="http://schemas.openxmlformats.org/officeDocument/2006/relationships/image" Target="../media/image-13-4.svg"/><Relationship Id="rId5" Type="http://schemas.openxmlformats.org/officeDocument/2006/relationships/image" Target="../media/image-13-5.jpg"/><Relationship Id="rId6" Type="http://schemas.openxmlformats.org/officeDocument/2006/relationships/image" Target="../media/image-13-6.svg"/><Relationship Id="rId7" Type="http://schemas.openxmlformats.org/officeDocument/2006/relationships/slideLayout" Target="../slideLayouts/slideLayout1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svg"/><Relationship Id="rId3" Type="http://schemas.openxmlformats.org/officeDocument/2006/relationships/image" Target="../media/image-17-3.jpg"/><Relationship Id="rId4" Type="http://schemas.openxmlformats.org/officeDocument/2006/relationships/image" Target="../media/image-17-4.svg"/><Relationship Id="rId5" Type="http://schemas.openxmlformats.org/officeDocument/2006/relationships/image" Target="../media/image-17-5.jpg"/><Relationship Id="rId6" Type="http://schemas.openxmlformats.org/officeDocument/2006/relationships/image" Target="../media/image-17-6.svg"/><Relationship Id="rId7" Type="http://schemas.openxmlformats.org/officeDocument/2006/relationships/slideLayout" Target="../slideLayouts/slideLayout18.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0" Type="http://schemas.openxmlformats.org/officeDocument/2006/relationships/hyperlink" Target="https://www.langchain.com/conceptual-guides/traces-start-agent-improvement-loop" TargetMode="External"/><Relationship Id="rId1" Type="http://schemas.openxmlformats.org/officeDocument/2006/relationships/image" Target="../media/image-22-1.png"/><Relationship Id="rId2" Type="http://schemas.openxmlformats.org/officeDocument/2006/relationships/image" Target="../media/image-22-2.jpg"/><Relationship Id="rId3" Type="http://schemas.openxmlformats.org/officeDocument/2006/relationships/image" Target="../media/image-22-3.svg"/><Relationship Id="rId4" Type="http://schemas.openxmlformats.org/officeDocument/2006/relationships/image" Target="../media/image-22-4.png"/><Relationship Id="rId5" Type="http://schemas.openxmlformats.org/officeDocument/2006/relationships/image" Target="../media/image-22-5.jpg"/><Relationship Id="rId6" Type="http://schemas.openxmlformats.org/officeDocument/2006/relationships/image" Target="../media/image-22-6.svg"/><Relationship Id="rId7" Type="http://schemas.openxmlformats.org/officeDocument/2006/relationships/image" Target="../media/image-22-7.png"/><Relationship Id="rId8" Type="http://schemas.openxmlformats.org/officeDocument/2006/relationships/image" Target="../media/image-22-8.jpg"/><Relationship Id="rId9" Type="http://schemas.openxmlformats.org/officeDocument/2006/relationships/image" Target="../media/image-22-9.svg"/><Relationship Id="rId10" Type="http://schemas.openxmlformats.org/officeDocument/2006/relationships/image" Target="../media/image-22-10.png"/><Relationship Id="rId11" Type="http://schemas.openxmlformats.org/officeDocument/2006/relationships/image" Target="../media/image-22-11.jpg"/><Relationship Id="rId12" Type="http://schemas.openxmlformats.org/officeDocument/2006/relationships/image" Target="../media/image-22-12.svg"/><Relationship Id="rId13" Type="http://schemas.openxmlformats.org/officeDocument/2006/relationships/image" Target="../media/image-22-13.png"/><Relationship Id="rId14" Type="http://schemas.openxmlformats.org/officeDocument/2006/relationships/image" Target="../media/image-22-14.jpg"/><Relationship Id="rId15" Type="http://schemas.openxmlformats.org/officeDocument/2006/relationships/image" Target="../media/image-22-15.svg"/><Relationship Id="rId16" Type="http://schemas.openxmlformats.org/officeDocument/2006/relationships/image" Target="../media/image-22-16.png"/><Relationship Id="rId17" Type="http://schemas.openxmlformats.org/officeDocument/2006/relationships/image" Target="../media/image-22-17.jpg"/><Relationship Id="rId18" Type="http://schemas.openxmlformats.org/officeDocument/2006/relationships/image" Target="../media/image-22-18.svg"/><Relationship Id="rId19" Type="http://schemas.openxmlformats.org/officeDocument/2006/relationships/image" Target="../media/image-22-19.png"/><Relationship Id="rId21" Type="http://schemas.openxmlformats.org/officeDocument/2006/relationships/slideLayout" Target="../slideLayouts/slideLayout23.xml"/><Relationship Id="rId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svg"/><Relationship Id="rId3" Type="http://schemas.openxmlformats.org/officeDocument/2006/relationships/image" Target="../media/image-24-3.jpg"/><Relationship Id="rId4" Type="http://schemas.openxmlformats.org/officeDocument/2006/relationships/image" Target="../media/image-24-4.svg"/><Relationship Id="rId5" Type="http://schemas.openxmlformats.org/officeDocument/2006/relationships/image" Target="../media/image-24-5.jpg"/><Relationship Id="rId6" Type="http://schemas.openxmlformats.org/officeDocument/2006/relationships/image" Target="../media/image-24-6.svg"/><Relationship Id="rId7" Type="http://schemas.openxmlformats.org/officeDocument/2006/relationships/image" Target="../media/image-24-7.jpg"/><Relationship Id="rId8" Type="http://schemas.openxmlformats.org/officeDocument/2006/relationships/image" Target="../media/image-24-8.svg"/><Relationship Id="rId9" Type="http://schemas.openxmlformats.org/officeDocument/2006/relationships/slideLayout" Target="../slideLayouts/slideLayout25.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7.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9.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3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40.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4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4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43.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Shape 0"/>
          <p:cNvSpPr/>
          <p:nvPr/>
        </p:nvSpPr>
        <p:spPr>
          <a:xfrm>
            <a:off x="496119" y="1293837"/>
            <a:ext cx="754484" cy="266402"/>
          </a:xfrm>
          <a:prstGeom prst="roundRect">
            <a:avLst>
              <a:gd name="adj" fmla="val 17880"/>
            </a:avLst>
          </a:prstGeom>
          <a:solidFill>
            <a:srgbClr val="FFD8CC"/>
          </a:solidFill>
          <a:ln/>
        </p:spPr>
      </p:sp>
      <p:sp>
        <p:nvSpPr>
          <p:cNvPr id="4" name="Text 1"/>
          <p:cNvSpPr/>
          <p:nvPr/>
        </p:nvSpPr>
        <p:spPr>
          <a:xfrm>
            <a:off x="581174" y="1336328"/>
            <a:ext cx="1041574" cy="181421"/>
          </a:xfrm>
          <a:prstGeom prst="rect">
            <a:avLst/>
          </a:prstGeom>
          <a:noFill/>
          <a:ln/>
        </p:spPr>
        <p:txBody>
          <a:bodyPr wrap="none" lIns="0" tIns="0" rIns="0" bIns="0" rtlCol="0" anchor="t"/>
          <a:lstStyle/>
          <a:p>
            <a:pPr algn="l" indent="0" marL="0">
              <a:lnSpc>
                <a:spcPct val="133000"/>
              </a:lnSpc>
              <a:buNone/>
            </a:pPr>
            <a:r>
              <a:rPr lang="en-US" sz="850" dirty="0">
                <a:solidFill>
                  <a:srgbClr val="403C4E"/>
                </a:solidFill>
                <a:latin typeface="Open Sans" pitchFamily="34" charset="0"/>
                <a:ea typeface="Open Sans" pitchFamily="34" charset="-122"/>
                <a:cs typeface="Open Sans" pitchFamily="34" charset="-120"/>
              </a:rPr>
              <a:t>CHAPTER 1</a:t>
            </a:r>
            <a:endParaRPr lang="en-US" sz="850" dirty="0"/>
          </a:p>
        </p:txBody>
      </p:sp>
      <p:sp>
        <p:nvSpPr>
          <p:cNvPr id="5" name="Text 2"/>
          <p:cNvSpPr/>
          <p:nvPr/>
        </p:nvSpPr>
        <p:spPr>
          <a:xfrm>
            <a:off x="1321445" y="1336328"/>
            <a:ext cx="1219200" cy="181421"/>
          </a:xfrm>
          <a:prstGeom prst="rect">
            <a:avLst/>
          </a:prstGeom>
          <a:noFill/>
          <a:ln/>
        </p:spPr>
        <p:txBody>
          <a:bodyPr wrap="none" lIns="0" tIns="0" rIns="0" bIns="0" rtlCol="0" anchor="t"/>
          <a:lstStyle/>
          <a:p>
            <a:pPr algn="l" indent="0" marL="0">
              <a:lnSpc>
                <a:spcPct val="133000"/>
              </a:lnSpc>
              <a:buNone/>
            </a:pPr>
            <a:r>
              <a:rPr lang="en-US" sz="850" dirty="0">
                <a:solidFill>
                  <a:srgbClr val="FFAD94"/>
                </a:solidFill>
                <a:latin typeface="Open Sans" pitchFamily="34" charset="0"/>
                <a:ea typeface="Open Sans" pitchFamily="34" charset="-122"/>
                <a:cs typeface="Open Sans" pitchFamily="34" charset="-120"/>
              </a:rPr>
              <a:t>THE PROBLEM</a:t>
            </a:r>
            <a:endParaRPr lang="en-US" sz="850" dirty="0"/>
          </a:p>
        </p:txBody>
      </p:sp>
      <p:sp>
        <p:nvSpPr>
          <p:cNvPr id="6" name="Text 3"/>
          <p:cNvSpPr/>
          <p:nvPr/>
        </p:nvSpPr>
        <p:spPr>
          <a:xfrm>
            <a:off x="496119" y="1616943"/>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The Scripted Bot Era Is Over</a:t>
            </a:r>
            <a:endParaRPr lang="en-US" sz="2750" dirty="0"/>
          </a:p>
        </p:txBody>
      </p:sp>
      <p:sp>
        <p:nvSpPr>
          <p:cNvPr id="7" name="Text 4"/>
          <p:cNvSpPr/>
          <p:nvPr/>
        </p:nvSpPr>
        <p:spPr>
          <a:xfrm>
            <a:off x="496119" y="2715518"/>
            <a:ext cx="4722763"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Early AI sales agents were little more than glorified decision trees — rigid "if X, then Y" logic with </a:t>
            </a:r>
            <a:pPr algn="l" indent="0" marL="0">
              <a:lnSpc>
                <a:spcPct val="133000"/>
              </a:lnSpc>
              <a:buNone/>
            </a:pPr>
            <a:r>
              <a:rPr lang="en-US" sz="1100" b="1" dirty="0">
                <a:solidFill>
                  <a:srgbClr val="403C4E"/>
                </a:solidFill>
                <a:latin typeface="Open Sans" pitchFamily="34" charset="0"/>
                <a:ea typeface="Open Sans" pitchFamily="34" charset="-122"/>
                <a:cs typeface="Open Sans" pitchFamily="34" charset="-120"/>
              </a:rPr>
              <a:t>no memory, no judgment, and zero context awareness</a:t>
            </a:r>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 The result? Conversations that felt robotic, transactional, and painfully fragile. The moment a buyer deviated from the happy path, the whole experience shattered.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688925"/>
            <a:ext cx="928762" cy="928762"/>
          </a:xfrm>
          <a:prstGeom prst="rect">
            <a:avLst/>
          </a:prstGeom>
        </p:spPr>
      </p:pic>
      <p:sp>
        <p:nvSpPr>
          <p:cNvPr id="3" name="Text 0"/>
          <p:cNvSpPr/>
          <p:nvPr/>
        </p:nvSpPr>
        <p:spPr>
          <a:xfrm>
            <a:off x="1775520" y="671215"/>
            <a:ext cx="6877050" cy="531614"/>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403C4E"/>
                </a:solidFill>
                <a:latin typeface="Merriweather Bold" pitchFamily="34" charset="0"/>
                <a:ea typeface="Merriweather Bold" pitchFamily="34" charset="-122"/>
                <a:cs typeface="Merriweather Bold" pitchFamily="34" charset="-120"/>
              </a:rPr>
              <a:t>From Scripted to Smart: How to Systematically Humanize Your AI Sales Agent</a:t>
            </a:r>
            <a:endParaRPr lang="en-US" sz="1650" dirty="0"/>
          </a:p>
        </p:txBody>
      </p:sp>
      <p:pic>
        <p:nvPicPr>
          <p:cNvPr id="4" name="Image 1" descr="preencoded.png">    </p:cNvPr>
          <p:cNvPicPr>
            <a:picLocks noChangeAspect="1"/>
          </p:cNvPicPr>
          <p:nvPr/>
        </p:nvPicPr>
        <p:blipFill>
          <a:blip r:embed="rId2"/>
          <a:stretch>
            <a:fillRect/>
          </a:stretch>
        </p:blipFill>
        <p:spPr>
          <a:xfrm>
            <a:off x="1775520" y="1362298"/>
            <a:ext cx="6877050" cy="1554361"/>
          </a:xfrm>
          <a:prstGeom prst="rect">
            <a:avLst/>
          </a:prstGeom>
        </p:spPr>
      </p:pic>
      <p:sp>
        <p:nvSpPr>
          <p:cNvPr id="5" name="Text 1"/>
          <p:cNvSpPr/>
          <p:nvPr/>
        </p:nvSpPr>
        <p:spPr>
          <a:xfrm>
            <a:off x="3457352" y="3288729"/>
            <a:ext cx="2000622" cy="221456"/>
          </a:xfrm>
          <a:prstGeom prst="rect">
            <a:avLst/>
          </a:prstGeom>
          <a:noFill/>
          <a:ln/>
        </p:spPr>
        <p:txBody>
          <a:bodyPr wrap="none" lIns="0" tIns="0" rIns="0" bIns="0" rtlCol="0" anchor="t"/>
          <a:lstStyle/>
          <a:p>
            <a:pPr algn="ctr"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Lior Mechlovich</a:t>
            </a:r>
            <a:endParaRPr lang="en-US" sz="1350" dirty="0"/>
          </a:p>
        </p:txBody>
      </p:sp>
      <p:sp>
        <p:nvSpPr>
          <p:cNvPr id="6" name="Text 2"/>
          <p:cNvSpPr/>
          <p:nvPr/>
        </p:nvSpPr>
        <p:spPr>
          <a:xfrm>
            <a:off x="2966740" y="3566889"/>
            <a:ext cx="2981846" cy="221456"/>
          </a:xfrm>
          <a:prstGeom prst="rect">
            <a:avLst/>
          </a:prstGeom>
          <a:noFill/>
          <a:ln/>
        </p:spPr>
        <p:txBody>
          <a:bodyPr wrap="none" lIns="0" tIns="0" rIns="0" bIns="0" rtlCol="0" anchor="t"/>
          <a:lstStyle/>
          <a:p>
            <a:pPr algn="ctr"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CTO &amp; Co-founder, </a:t>
            </a:r>
            <a:pPr algn="ctr" indent="0" marL="0">
              <a:lnSpc>
                <a:spcPct val="104000"/>
              </a:lnSpc>
              <a:buNone/>
            </a:pPr>
            <a:r>
              <a:rPr lang="en-US" sz="1350" b="1" u="sng" dirty="0">
                <a:solidFill>
                  <a:srgbClr val="CC3000"/>
                </a:solidFill>
                <a:latin typeface="Merriweather Bold" pitchFamily="34" charset="0"/>
                <a:ea typeface="Merriweather Bold" pitchFamily="34" charset="-122"/>
                <a:cs typeface="Merriweather 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Salespeak.ai</a:t>
            </a:r>
            <a:endParaRPr lang="en-US" sz="1350" dirty="0"/>
          </a:p>
        </p:txBody>
      </p:sp>
      <p:sp>
        <p:nvSpPr>
          <p:cNvPr id="7" name="Text 3"/>
          <p:cNvSpPr/>
          <p:nvPr/>
        </p:nvSpPr>
        <p:spPr>
          <a:xfrm>
            <a:off x="496119" y="4000946"/>
            <a:ext cx="8151763" cy="613097"/>
          </a:xfrm>
          <a:prstGeom prst="rect">
            <a:avLst/>
          </a:prstGeom>
          <a:noFill/>
          <a:ln/>
        </p:spPr>
        <p:txBody>
          <a:bodyPr wrap="square" lIns="0" tIns="0" rIns="0" bIns="0" rtlCol="0" anchor="t"/>
          <a:lstStyle/>
          <a:p>
            <a:pPr algn="ctr" indent="0" marL="0">
              <a:lnSpc>
                <a:spcPct val="133000"/>
              </a:lnSpc>
              <a:spcAft>
                <a:spcPts val="1250"/>
              </a:spcAft>
              <a:buNone/>
            </a:pPr>
            <a:r>
              <a:rPr lang="en-US" sz="1100" dirty="0">
                <a:solidFill>
                  <a:srgbClr val="403C4E"/>
                </a:solidFill>
                <a:latin typeface="Open Sans" pitchFamily="34" charset="0"/>
                <a:ea typeface="Open Sans" pitchFamily="34" charset="-122"/>
                <a:cs typeface="Open Sans" pitchFamily="34" charset="-120"/>
              </a:rPr>
              <a:t>Spent most of my career building data platforms (ex-Amazon/AWS). Co-founded two bay area VC-backed startups</a:t>
            </a:r>
            <a:endParaRPr lang="en-US" sz="1100" dirty="0"/>
          </a:p>
          <a:p>
            <a:pPr algn="ctr"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Building B2B enterprise AI products, Agents, Evals, and everything between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387623" y="337914"/>
            <a:ext cx="4085258" cy="346100"/>
          </a:xfrm>
          <a:prstGeom prst="rect">
            <a:avLst/>
          </a:prstGeom>
          <a:noFill/>
          <a:ln/>
        </p:spPr>
        <p:txBody>
          <a:bodyPr wrap="none" lIns="0" tIns="0" rIns="0" bIns="0" rtlCol="0" anchor="t"/>
          <a:lstStyle/>
          <a:p>
            <a:pPr algn="l" indent="0" marL="0">
              <a:lnSpc>
                <a:spcPct val="104000"/>
              </a:lnSpc>
              <a:buNone/>
            </a:pPr>
            <a:r>
              <a:rPr lang="en-US" sz="2150" b="1" dirty="0">
                <a:solidFill>
                  <a:srgbClr val="403C4E"/>
                </a:solidFill>
                <a:latin typeface="Merriweather Bold" pitchFamily="34" charset="0"/>
                <a:ea typeface="Merriweather Bold" pitchFamily="34" charset="-122"/>
                <a:cs typeface="Merriweather Bold" pitchFamily="34" charset="-120"/>
              </a:rPr>
              <a:t>Why people hate chatbots?</a:t>
            </a:r>
            <a:endParaRPr lang="en-US" sz="2150" dirty="0"/>
          </a:p>
        </p:txBody>
      </p:sp>
      <p:sp>
        <p:nvSpPr>
          <p:cNvPr id="4" name="Text 1"/>
          <p:cNvSpPr/>
          <p:nvPr/>
        </p:nvSpPr>
        <p:spPr>
          <a:xfrm>
            <a:off x="387623" y="813792"/>
            <a:ext cx="4939754" cy="473273"/>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While the promise of AI sales agents is compelling, many have experienced the stark reality of how current chatbots often fall short, leading to more frustration than help. Here are the all-too-common pain points:</a:t>
            </a:r>
            <a:endParaRPr lang="en-US" sz="850" dirty="0"/>
          </a:p>
        </p:txBody>
      </p:sp>
      <p:sp>
        <p:nvSpPr>
          <p:cNvPr id="5" name="Shape 2"/>
          <p:cNvSpPr/>
          <p:nvPr/>
        </p:nvSpPr>
        <p:spPr>
          <a:xfrm>
            <a:off x="387623" y="1384399"/>
            <a:ext cx="4939754" cy="790426"/>
          </a:xfrm>
          <a:prstGeom prst="roundRect">
            <a:avLst>
              <a:gd name="adj" fmla="val 5885"/>
            </a:avLst>
          </a:prstGeom>
          <a:solidFill>
            <a:srgbClr val="FFFFFF"/>
          </a:solidFill>
          <a:ln w="14288">
            <a:solidFill>
              <a:srgbClr val="E5BEB2"/>
            </a:solidFill>
            <a:prstDash val="solid"/>
          </a:ln>
        </p:spPr>
      </p:sp>
      <p:sp>
        <p:nvSpPr>
          <p:cNvPr id="6" name="Text 3"/>
          <p:cNvSpPr/>
          <p:nvPr/>
        </p:nvSpPr>
        <p:spPr>
          <a:xfrm>
            <a:off x="512638" y="1509415"/>
            <a:ext cx="3076129" cy="173013"/>
          </a:xfrm>
          <a:prstGeom prst="rect">
            <a:avLst/>
          </a:prstGeom>
          <a:noFill/>
          <a:ln/>
        </p:spPr>
        <p:txBody>
          <a:bodyPr wrap="none" lIns="0" tIns="0" rIns="0" bIns="0" rtlCol="0" anchor="t"/>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Jarvis Expectations, "Have You Tried" Reality</a:t>
            </a:r>
            <a:endParaRPr lang="en-US" sz="1050" dirty="0"/>
          </a:p>
        </p:txBody>
      </p:sp>
      <p:sp>
        <p:nvSpPr>
          <p:cNvPr id="7" name="Text 4"/>
          <p:cNvSpPr/>
          <p:nvPr/>
        </p:nvSpPr>
        <p:spPr>
          <a:xfrm>
            <a:off x="512638" y="1734294"/>
            <a:ext cx="4689723"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We anticipate intelligent assistance, but too often encounter rigid scripts that derail at the slightest deviation.</a:t>
            </a:r>
            <a:endParaRPr lang="en-US" sz="850" dirty="0"/>
          </a:p>
        </p:txBody>
      </p:sp>
      <p:sp>
        <p:nvSpPr>
          <p:cNvPr id="8" name="Shape 5"/>
          <p:cNvSpPr/>
          <p:nvPr/>
        </p:nvSpPr>
        <p:spPr>
          <a:xfrm>
            <a:off x="387623" y="2261295"/>
            <a:ext cx="4939754" cy="790426"/>
          </a:xfrm>
          <a:prstGeom prst="roundRect">
            <a:avLst>
              <a:gd name="adj" fmla="val 5885"/>
            </a:avLst>
          </a:prstGeom>
          <a:solidFill>
            <a:srgbClr val="FFFFFF"/>
          </a:solidFill>
          <a:ln w="14288">
            <a:solidFill>
              <a:srgbClr val="E5BEB2"/>
            </a:solidFill>
            <a:prstDash val="solid"/>
          </a:ln>
        </p:spPr>
      </p:sp>
      <p:sp>
        <p:nvSpPr>
          <p:cNvPr id="9" name="Text 6"/>
          <p:cNvSpPr/>
          <p:nvPr/>
        </p:nvSpPr>
        <p:spPr>
          <a:xfrm>
            <a:off x="512638" y="2386310"/>
            <a:ext cx="1643360" cy="173013"/>
          </a:xfrm>
          <a:prstGeom prst="rect">
            <a:avLst/>
          </a:prstGeom>
          <a:noFill/>
          <a:ln/>
        </p:spPr>
        <p:txBody>
          <a:bodyPr wrap="none" lIns="0" tIns="0" rIns="0" bIns="0" rtlCol="0" anchor="t"/>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The Infinite Doom Loop</a:t>
            </a:r>
            <a:endParaRPr lang="en-US" sz="1050" dirty="0"/>
          </a:p>
        </p:txBody>
      </p:sp>
      <p:sp>
        <p:nvSpPr>
          <p:cNvPr id="10" name="Text 7"/>
          <p:cNvSpPr/>
          <p:nvPr/>
        </p:nvSpPr>
        <p:spPr>
          <a:xfrm>
            <a:off x="512638" y="2611189"/>
            <a:ext cx="4689723"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Explaining your problem, only for the bot to ask the same question, forget context, and cycle endlessly.</a:t>
            </a:r>
            <a:endParaRPr lang="en-US" sz="850" dirty="0"/>
          </a:p>
        </p:txBody>
      </p:sp>
      <p:sp>
        <p:nvSpPr>
          <p:cNvPr id="11" name="Shape 8"/>
          <p:cNvSpPr/>
          <p:nvPr/>
        </p:nvSpPr>
        <p:spPr>
          <a:xfrm>
            <a:off x="387623" y="3138190"/>
            <a:ext cx="4939754" cy="790426"/>
          </a:xfrm>
          <a:prstGeom prst="roundRect">
            <a:avLst>
              <a:gd name="adj" fmla="val 5885"/>
            </a:avLst>
          </a:prstGeom>
          <a:solidFill>
            <a:srgbClr val="FFFFFF"/>
          </a:solidFill>
          <a:ln w="14288">
            <a:solidFill>
              <a:srgbClr val="E5BEB2"/>
            </a:solidFill>
            <a:prstDash val="solid"/>
          </a:ln>
        </p:spPr>
      </p:sp>
      <p:sp>
        <p:nvSpPr>
          <p:cNvPr id="12" name="Text 9"/>
          <p:cNvSpPr/>
          <p:nvPr/>
        </p:nvSpPr>
        <p:spPr>
          <a:xfrm>
            <a:off x="512638" y="3263205"/>
            <a:ext cx="2429173" cy="173013"/>
          </a:xfrm>
          <a:prstGeom prst="rect">
            <a:avLst/>
          </a:prstGeom>
          <a:noFill/>
          <a:ln/>
        </p:spPr>
        <p:txBody>
          <a:bodyPr wrap="none" lIns="0" tIns="0" rIns="0" bIns="0" rtlCol="0" anchor="t"/>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"Just Let Me Talk to a Human" Rage</a:t>
            </a:r>
            <a:endParaRPr lang="en-US" sz="1050" dirty="0"/>
          </a:p>
        </p:txBody>
      </p:sp>
      <p:sp>
        <p:nvSpPr>
          <p:cNvPr id="13" name="Text 10"/>
          <p:cNvSpPr/>
          <p:nvPr/>
        </p:nvSpPr>
        <p:spPr>
          <a:xfrm>
            <a:off x="512638" y="3488085"/>
            <a:ext cx="4689723"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The universal outcry when a chatbot stubbornly refuses to escalate an issue to a real person, no matter how logical the request.</a:t>
            </a:r>
            <a:endParaRPr lang="en-US" sz="850" dirty="0"/>
          </a:p>
        </p:txBody>
      </p:sp>
      <p:sp>
        <p:nvSpPr>
          <p:cNvPr id="14" name="Shape 11"/>
          <p:cNvSpPr/>
          <p:nvPr/>
        </p:nvSpPr>
        <p:spPr>
          <a:xfrm>
            <a:off x="387623" y="4015085"/>
            <a:ext cx="4939754" cy="790426"/>
          </a:xfrm>
          <a:prstGeom prst="roundRect">
            <a:avLst>
              <a:gd name="adj" fmla="val 5885"/>
            </a:avLst>
          </a:prstGeom>
          <a:solidFill>
            <a:srgbClr val="FFFFFF"/>
          </a:solidFill>
          <a:ln w="14288">
            <a:solidFill>
              <a:srgbClr val="E5BEB2"/>
            </a:solidFill>
            <a:prstDash val="solid"/>
          </a:ln>
        </p:spPr>
      </p:sp>
      <p:sp>
        <p:nvSpPr>
          <p:cNvPr id="15" name="Text 12"/>
          <p:cNvSpPr/>
          <p:nvPr/>
        </p:nvSpPr>
        <p:spPr>
          <a:xfrm>
            <a:off x="512638" y="4140101"/>
            <a:ext cx="1818977" cy="173013"/>
          </a:xfrm>
          <a:prstGeom prst="rect">
            <a:avLst/>
          </a:prstGeom>
          <a:noFill/>
          <a:ln/>
        </p:spPr>
        <p:txBody>
          <a:bodyPr wrap="none" lIns="0" tIns="0" rIns="0" bIns="0" rtlCol="0" anchor="t"/>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Confidently Wrong Energy</a:t>
            </a:r>
            <a:endParaRPr lang="en-US" sz="1050" dirty="0"/>
          </a:p>
        </p:txBody>
      </p:sp>
      <p:sp>
        <p:nvSpPr>
          <p:cNvPr id="16" name="Text 13"/>
          <p:cNvSpPr/>
          <p:nvPr/>
        </p:nvSpPr>
        <p:spPr>
          <a:xfrm>
            <a:off x="512638" y="4364980"/>
            <a:ext cx="4689723"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Bots providing irrelevant answers with unwavering certainty, like explaining store hours when you're asking about billing.</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038969"/>
            <a:ext cx="4722763" cy="1772096"/>
          </a:xfrm>
          <a:prstGeom prst="rect">
            <a:avLst/>
          </a:prstGeom>
          <a:noFill/>
          <a:ln/>
        </p:spPr>
        <p:txBody>
          <a:bodyPr wrap="square" lIns="0" tIns="0" rIns="0" bIns="0" rtlCol="0" anchor="t">
            <a:normAutofit/>
          </a:bodyPr>
          <a:lstStyle/>
          <a:p>
            <a:pPr algn="l" indent="0" marL="0">
              <a:lnSpc>
                <a:spcPct val="104000"/>
              </a:lnSpc>
              <a:buNone/>
            </a:pPr>
            <a:r>
              <a:rPr lang="en-US" sz="5550" b="1" dirty="0">
                <a:solidFill>
                  <a:srgbClr val="403C4E"/>
                </a:solidFill>
                <a:latin typeface="Merriweather Bold" pitchFamily="34" charset="0"/>
                <a:ea typeface="Merriweather Bold" pitchFamily="34" charset="-122"/>
                <a:cs typeface="Merriweather Bold" pitchFamily="34" charset="-120"/>
              </a:rPr>
              <a:t>"Where's the 'X' button?"</a:t>
            </a:r>
            <a:endParaRPr lang="en-US" sz="5550" dirty="0"/>
          </a:p>
        </p:txBody>
      </p:sp>
      <p:sp>
        <p:nvSpPr>
          <p:cNvPr id="4" name="Shape 1"/>
          <p:cNvSpPr/>
          <p:nvPr/>
        </p:nvSpPr>
        <p:spPr>
          <a:xfrm>
            <a:off x="3925119" y="3059088"/>
            <a:ext cx="4722763" cy="10567"/>
          </a:xfrm>
          <a:prstGeom prst="rect">
            <a:avLst/>
          </a:prstGeom>
          <a:solidFill>
            <a:srgbClr val="403C4E">
              <a:alpha val="50000"/>
            </a:srgbClr>
          </a:solidFill>
          <a:ln/>
        </p:spPr>
      </p:sp>
      <p:sp>
        <p:nvSpPr>
          <p:cNvPr id="5" name="Text 2"/>
          <p:cNvSpPr/>
          <p:nvPr/>
        </p:nvSpPr>
        <p:spPr>
          <a:xfrm>
            <a:off x="3925119" y="3264545"/>
            <a:ext cx="4722763" cy="839912"/>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00" dirty="0">
                <a:solidFill>
                  <a:srgbClr val="403C4E"/>
                </a:solidFill>
                <a:latin typeface="Open Sans" pitchFamily="34" charset="0"/>
                <a:ea typeface="Open Sans" pitchFamily="34" charset="-122"/>
                <a:cs typeface="Open Sans" pitchFamily="34" charset="-120"/>
              </a:rPr>
              <a:t>That's the most common human response to a Chat box on the bottom right….</a:t>
            </a:r>
            <a:endParaRPr lang="en-US" sz="1100" dirty="0"/>
          </a:p>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Can we change that?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88379" y="446633"/>
            <a:ext cx="5145435" cy="436066"/>
          </a:xfrm>
          <a:prstGeom prst="rect">
            <a:avLst/>
          </a:prstGeom>
          <a:noFill/>
          <a:ln/>
        </p:spPr>
        <p:txBody>
          <a:bodyPr wrap="none" lIns="0" tIns="0" rIns="0" bIns="0" rtlCol="0" anchor="t"/>
          <a:lstStyle/>
          <a:p>
            <a:pPr algn="l" indent="0" marL="0">
              <a:lnSpc>
                <a:spcPct val="104000"/>
              </a:lnSpc>
              <a:buNone/>
            </a:pPr>
            <a:r>
              <a:rPr lang="en-US" sz="2700" b="1" dirty="0">
                <a:solidFill>
                  <a:srgbClr val="403C4E"/>
                </a:solidFill>
                <a:latin typeface="Merriweather Bold" pitchFamily="34" charset="0"/>
                <a:ea typeface="Merriweather Bold" pitchFamily="34" charset="-122"/>
                <a:cs typeface="Merriweather Bold" pitchFamily="34" charset="-120"/>
              </a:rPr>
              <a:t>What Buyers Actually Want</a:t>
            </a:r>
            <a:endParaRPr lang="en-US" sz="2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8379" y="1088752"/>
            <a:ext cx="279053" cy="279053"/>
          </a:xfrm>
          <a:prstGeom prst="rect">
            <a:avLst/>
          </a:prstGeom>
        </p:spPr>
      </p:pic>
      <p:sp>
        <p:nvSpPr>
          <p:cNvPr id="5" name="Text 1"/>
          <p:cNvSpPr/>
          <p:nvPr/>
        </p:nvSpPr>
        <p:spPr>
          <a:xfrm>
            <a:off x="939105" y="1136675"/>
            <a:ext cx="1744340" cy="218033"/>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To Feel Understood</a:t>
            </a:r>
            <a:endParaRPr lang="en-US" sz="1350" dirty="0"/>
          </a:p>
        </p:txBody>
      </p:sp>
      <p:sp>
        <p:nvSpPr>
          <p:cNvPr id="6" name="Text 2"/>
          <p:cNvSpPr/>
          <p:nvPr/>
        </p:nvSpPr>
        <p:spPr>
          <a:xfrm>
            <a:off x="939105" y="1437084"/>
            <a:ext cx="4287515" cy="442913"/>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Not sold to — understood. Buyers want reps who grasp their world before pitching a solution.</a:t>
            </a:r>
            <a:endParaRPr lang="en-US" sz="10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8379" y="2154734"/>
            <a:ext cx="279053" cy="279053"/>
          </a:xfrm>
          <a:prstGeom prst="rect">
            <a:avLst/>
          </a:prstGeom>
        </p:spPr>
      </p:pic>
      <p:sp>
        <p:nvSpPr>
          <p:cNvPr id="8" name="Text 3"/>
          <p:cNvSpPr/>
          <p:nvPr/>
        </p:nvSpPr>
        <p:spPr>
          <a:xfrm>
            <a:off x="939105" y="2202656"/>
            <a:ext cx="2338164" cy="218033"/>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To Feel Guided, Not Pushed</a:t>
            </a:r>
            <a:endParaRPr lang="en-US" sz="1350" dirty="0"/>
          </a:p>
        </p:txBody>
      </p:sp>
      <p:sp>
        <p:nvSpPr>
          <p:cNvPr id="9" name="Text 4"/>
          <p:cNvSpPr/>
          <p:nvPr/>
        </p:nvSpPr>
        <p:spPr>
          <a:xfrm>
            <a:off x="939105" y="2503066"/>
            <a:ext cx="4287515" cy="442913"/>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Smart follow-up questions and context-aware conversations that adapt in real time.</a:t>
            </a:r>
            <a:endParaRPr lang="en-US" sz="10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8379" y="3220715"/>
            <a:ext cx="279053" cy="279053"/>
          </a:xfrm>
          <a:prstGeom prst="rect">
            <a:avLst/>
          </a:prstGeom>
        </p:spPr>
      </p:pic>
      <p:sp>
        <p:nvSpPr>
          <p:cNvPr id="11" name="Text 5"/>
          <p:cNvSpPr/>
          <p:nvPr/>
        </p:nvSpPr>
        <p:spPr>
          <a:xfrm>
            <a:off x="939105" y="3268638"/>
            <a:ext cx="2665958" cy="218033"/>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Continuity Across Touchpoints</a:t>
            </a:r>
            <a:endParaRPr lang="en-US" sz="1350" dirty="0"/>
          </a:p>
        </p:txBody>
      </p:sp>
      <p:sp>
        <p:nvSpPr>
          <p:cNvPr id="12" name="Text 6"/>
          <p:cNvSpPr/>
          <p:nvPr/>
        </p:nvSpPr>
        <p:spPr>
          <a:xfrm>
            <a:off x="939105" y="3569047"/>
            <a:ext cx="4287515" cy="442913"/>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Every conversation should build on the last — no starting from scratch, no repeating context.</a:t>
            </a:r>
            <a:endParaRPr lang="en-US" sz="1050" dirty="0"/>
          </a:p>
        </p:txBody>
      </p:sp>
      <p:sp>
        <p:nvSpPr>
          <p:cNvPr id="13" name="Text 7"/>
          <p:cNvSpPr/>
          <p:nvPr/>
        </p:nvSpPr>
        <p:spPr>
          <a:xfrm>
            <a:off x="697706" y="4320927"/>
            <a:ext cx="4986114" cy="221456"/>
          </a:xfrm>
          <a:prstGeom prst="rect">
            <a:avLst/>
          </a:prstGeom>
          <a:noFill/>
          <a:ln/>
        </p:spPr>
        <p:txBody>
          <a:bodyPr wrap="none" lIns="0" tIns="0" rIns="0" bIns="0" rtlCol="0" anchor="t"/>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Human ≠ random. </a:t>
            </a:r>
            <a:pPr algn="l" indent="0" marL="0">
              <a:lnSpc>
                <a:spcPct val="132000"/>
              </a:lnSpc>
              <a:buNone/>
            </a:pPr>
            <a:r>
              <a:rPr lang="en-US" sz="1050" b="1" dirty="0">
                <a:solidFill>
                  <a:srgbClr val="403C4E"/>
                </a:solidFill>
                <a:latin typeface="Open Sans" pitchFamily="34" charset="0"/>
                <a:ea typeface="Open Sans" pitchFamily="34" charset="-122"/>
                <a:cs typeface="Open Sans" pitchFamily="34" charset="-120"/>
              </a:rPr>
              <a:t>Human = adaptive + context-driven.</a:t>
            </a:r>
            <a:endParaRPr lang="en-US" sz="1050" dirty="0"/>
          </a:p>
        </p:txBody>
      </p:sp>
      <p:sp>
        <p:nvSpPr>
          <p:cNvPr id="14" name="Shape 8"/>
          <p:cNvSpPr/>
          <p:nvPr/>
        </p:nvSpPr>
        <p:spPr>
          <a:xfrm>
            <a:off x="488379" y="4166443"/>
            <a:ext cx="19050" cy="530423"/>
          </a:xfrm>
          <a:prstGeom prst="rect">
            <a:avLst/>
          </a:prstGeom>
          <a:solidFill>
            <a:srgbClr val="FFAD94"/>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03759" y="305098"/>
            <a:ext cx="566142" cy="182761"/>
          </a:xfrm>
          <a:prstGeom prst="roundRect">
            <a:avLst>
              <a:gd name="adj" fmla="val 19548"/>
            </a:avLst>
          </a:prstGeom>
          <a:solidFill>
            <a:srgbClr val="FFD8CC"/>
          </a:solidFill>
          <a:ln/>
        </p:spPr>
      </p:sp>
      <p:sp>
        <p:nvSpPr>
          <p:cNvPr id="3" name="Text 1"/>
          <p:cNvSpPr/>
          <p:nvPr/>
        </p:nvSpPr>
        <p:spPr>
          <a:xfrm>
            <a:off x="967532" y="336947"/>
            <a:ext cx="895796" cy="119063"/>
          </a:xfrm>
          <a:prstGeom prst="rect">
            <a:avLst/>
          </a:prstGeom>
          <a:noFill/>
          <a:ln/>
        </p:spPr>
        <p:txBody>
          <a:bodyPr wrap="none" lIns="0" tIns="0" rIns="0" bIns="0" rtlCol="0" anchor="t"/>
          <a:lstStyle/>
          <a:p>
            <a:pPr algn="l" indent="0" marL="0">
              <a:lnSpc>
                <a:spcPct val="117000"/>
              </a:lnSpc>
              <a:buNone/>
            </a:pPr>
            <a:r>
              <a:rPr lang="en-US" sz="650" dirty="0">
                <a:solidFill>
                  <a:srgbClr val="403C4E"/>
                </a:solidFill>
                <a:latin typeface="Open Sans" pitchFamily="34" charset="0"/>
                <a:ea typeface="Open Sans" pitchFamily="34" charset="-122"/>
                <a:cs typeface="Open Sans" pitchFamily="34" charset="-120"/>
              </a:rPr>
              <a:t>CHAPTER 2</a:t>
            </a:r>
            <a:endParaRPr lang="en-US" sz="650" dirty="0"/>
          </a:p>
        </p:txBody>
      </p:sp>
      <p:sp>
        <p:nvSpPr>
          <p:cNvPr id="4" name="Text 2"/>
          <p:cNvSpPr/>
          <p:nvPr/>
        </p:nvSpPr>
        <p:spPr>
          <a:xfrm>
            <a:off x="1523033" y="336947"/>
            <a:ext cx="1502569" cy="119063"/>
          </a:xfrm>
          <a:prstGeom prst="rect">
            <a:avLst/>
          </a:prstGeom>
          <a:noFill/>
          <a:ln/>
        </p:spPr>
        <p:txBody>
          <a:bodyPr wrap="none" lIns="0" tIns="0" rIns="0" bIns="0" rtlCol="0" anchor="t"/>
          <a:lstStyle/>
          <a:p>
            <a:pPr algn="l" indent="0" marL="0">
              <a:lnSpc>
                <a:spcPct val="117000"/>
              </a:lnSpc>
              <a:buNone/>
            </a:pPr>
            <a:r>
              <a:rPr lang="en-US" sz="650" dirty="0">
                <a:solidFill>
                  <a:srgbClr val="FFAD94"/>
                </a:solidFill>
                <a:latin typeface="Open Sans" pitchFamily="34" charset="0"/>
                <a:ea typeface="Open Sans" pitchFamily="34" charset="-122"/>
                <a:cs typeface="Open Sans" pitchFamily="34" charset="-120"/>
              </a:rPr>
              <a:t>INTRODUCING SALESPEAK</a:t>
            </a:r>
            <a:endParaRPr lang="en-US" sz="650" dirty="0"/>
          </a:p>
        </p:txBody>
      </p:sp>
      <p:sp>
        <p:nvSpPr>
          <p:cNvPr id="5" name="Text 3"/>
          <p:cNvSpPr/>
          <p:nvPr/>
        </p:nvSpPr>
        <p:spPr>
          <a:xfrm>
            <a:off x="903759" y="519708"/>
            <a:ext cx="3115270" cy="332259"/>
          </a:xfrm>
          <a:prstGeom prst="rect">
            <a:avLst/>
          </a:prstGeom>
          <a:noFill/>
          <a:ln/>
        </p:spPr>
        <p:txBody>
          <a:bodyPr wrap="none" lIns="0" tIns="0" rIns="0" bIns="0" rtlCol="0" anchor="t"/>
          <a:lstStyle/>
          <a:p>
            <a:pPr algn="l" indent="0" marL="0">
              <a:lnSpc>
                <a:spcPct val="104000"/>
              </a:lnSpc>
              <a:buNone/>
            </a:pPr>
            <a:r>
              <a:rPr lang="en-US" sz="2050" b="1" dirty="0">
                <a:solidFill>
                  <a:srgbClr val="403C4E"/>
                </a:solidFill>
                <a:latin typeface="Merriweather Bold" pitchFamily="34" charset="0"/>
                <a:ea typeface="Merriweather Bold" pitchFamily="34" charset="-122"/>
                <a:cs typeface="Merriweather Bold" pitchFamily="34" charset="-120"/>
              </a:rPr>
              <a:t>What Is Salespeak?</a:t>
            </a:r>
            <a:endParaRPr lang="en-US" sz="2050" dirty="0"/>
          </a:p>
        </p:txBody>
      </p:sp>
      <p:pic>
        <p:nvPicPr>
          <p:cNvPr id="6" name="Image 0" descr="preencoded.png">    </p:cNvPr>
          <p:cNvPicPr>
            <a:picLocks noChangeAspect="1"/>
          </p:cNvPicPr>
          <p:nvPr/>
        </p:nvPicPr>
        <p:blipFill>
          <a:blip r:embed="rId1"/>
          <a:stretch>
            <a:fillRect/>
          </a:stretch>
        </p:blipFill>
        <p:spPr>
          <a:xfrm>
            <a:off x="903759" y="1061219"/>
            <a:ext cx="4677817" cy="2823046"/>
          </a:xfrm>
          <a:prstGeom prst="rect">
            <a:avLst/>
          </a:prstGeom>
        </p:spPr>
      </p:pic>
      <p:sp>
        <p:nvSpPr>
          <p:cNvPr id="7" name="Text 4"/>
          <p:cNvSpPr/>
          <p:nvPr/>
        </p:nvSpPr>
        <p:spPr>
          <a:xfrm>
            <a:off x="903759" y="3973934"/>
            <a:ext cx="5135017" cy="148828"/>
          </a:xfrm>
          <a:prstGeom prst="rect">
            <a:avLst/>
          </a:prstGeom>
          <a:noFill/>
          <a:ln/>
        </p:spPr>
        <p:txBody>
          <a:bodyPr wrap="none" lIns="0" tIns="0" rIns="0" bIns="0" rtlCol="0" anchor="t"/>
          <a:lstStyle/>
          <a:p>
            <a:pPr algn="l" indent="0" marL="0">
              <a:lnSpc>
                <a:spcPct val="117000"/>
              </a:lnSpc>
              <a:buNone/>
            </a:pPr>
            <a:endParaRPr lang="en-US" sz="800" dirty="0"/>
          </a:p>
        </p:txBody>
      </p:sp>
      <p:sp>
        <p:nvSpPr>
          <p:cNvPr id="8" name="Text 5"/>
          <p:cNvSpPr/>
          <p:nvPr/>
        </p:nvSpPr>
        <p:spPr>
          <a:xfrm>
            <a:off x="5845746" y="2210916"/>
            <a:ext cx="2399109" cy="744141"/>
          </a:xfrm>
          <a:prstGeom prst="rect">
            <a:avLst/>
          </a:prstGeom>
          <a:noFill/>
          <a:ln/>
        </p:spPr>
        <p:txBody>
          <a:bodyPr wrap="square" lIns="0" tIns="0" rIns="0" bIns="0" rtlCol="0" anchor="t">
            <a:normAutofit/>
          </a:bodyPr>
          <a:lstStyle/>
          <a:p>
            <a:pPr algn="l" indent="0" marL="0">
              <a:lnSpc>
                <a:spcPct val="117000"/>
              </a:lnSpc>
              <a:buNone/>
            </a:pPr>
            <a:r>
              <a:rPr lang="en-US" sz="800" dirty="0">
                <a:solidFill>
                  <a:srgbClr val="403C4E"/>
                </a:solidFill>
                <a:latin typeface="Open Sans" pitchFamily="34" charset="0"/>
                <a:ea typeface="Open Sans" pitchFamily="34" charset="-122"/>
                <a:cs typeface="Open Sans" pitchFamily="34" charset="-120"/>
              </a:rPr>
              <a:t>Salespeak is </a:t>
            </a:r>
            <a:pPr algn="l" indent="0" marL="0">
              <a:lnSpc>
                <a:spcPct val="117000"/>
              </a:lnSpc>
              <a:buNone/>
            </a:pPr>
            <a:r>
              <a:rPr lang="en-US" sz="800" b="1" dirty="0">
                <a:solidFill>
                  <a:srgbClr val="403C4E"/>
                </a:solidFill>
                <a:latin typeface="Open Sans" pitchFamily="34" charset="0"/>
                <a:ea typeface="Open Sans" pitchFamily="34" charset="-122"/>
                <a:cs typeface="Open Sans" pitchFamily="34" charset="-120"/>
              </a:rPr>
              <a:t>AI-native sales agent infrastructure</a:t>
            </a:r>
            <a:pPr algn="l" indent="0" marL="0">
              <a:lnSpc>
                <a:spcPct val="117000"/>
              </a:lnSpc>
              <a:buNone/>
            </a:pPr>
            <a:r>
              <a:rPr lang="en-US" sz="800" dirty="0">
                <a:solidFill>
                  <a:srgbClr val="403C4E"/>
                </a:solidFill>
                <a:latin typeface="Open Sans" pitchFamily="34" charset="0"/>
                <a:ea typeface="Open Sans" pitchFamily="34" charset="-122"/>
                <a:cs typeface="Open Sans" pitchFamily="34" charset="-120"/>
              </a:rPr>
              <a:t> — purpose-built for revenue conversations. We turn large language models into structured, goal-driven agents that sell the way your best reps do.</a:t>
            </a:r>
            <a:endParaRPr lang="en-US" sz="800" dirty="0"/>
          </a:p>
        </p:txBody>
      </p:sp>
      <p:sp>
        <p:nvSpPr>
          <p:cNvPr id="9" name="Shape 6"/>
          <p:cNvSpPr/>
          <p:nvPr/>
        </p:nvSpPr>
        <p:spPr>
          <a:xfrm>
            <a:off x="903759" y="4284166"/>
            <a:ext cx="1774329" cy="554236"/>
          </a:xfrm>
          <a:prstGeom prst="roundRect">
            <a:avLst>
              <a:gd name="adj" fmla="val 8057"/>
            </a:avLst>
          </a:prstGeom>
          <a:solidFill>
            <a:srgbClr val="FFD8CC"/>
          </a:solidFill>
          <a:ln w="4763">
            <a:solidFill>
              <a:srgbClr val="E5BEB2"/>
            </a:solidFill>
            <a:prstDash val="solid"/>
          </a:ln>
        </p:spPr>
      </p:sp>
      <p:sp>
        <p:nvSpPr>
          <p:cNvPr id="10" name="Text 7"/>
          <p:cNvSpPr/>
          <p:nvPr/>
        </p:nvSpPr>
        <p:spPr>
          <a:xfrm>
            <a:off x="1014785" y="4395192"/>
            <a:ext cx="1426369" cy="166092"/>
          </a:xfrm>
          <a:prstGeom prst="rect">
            <a:avLst/>
          </a:prstGeom>
          <a:noFill/>
          <a:ln/>
        </p:spPr>
        <p:txBody>
          <a:bodyPr wrap="none" lIns="0" tIns="0" rIns="0" bIns="0" rtlCol="0" anchor="t"/>
          <a:lstStyle/>
          <a:p>
            <a:pPr algn="l" indent="0" marL="0">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Multi-Turn Discovery</a:t>
            </a:r>
            <a:endParaRPr lang="en-US" sz="1000" dirty="0"/>
          </a:p>
        </p:txBody>
      </p:sp>
      <p:sp>
        <p:nvSpPr>
          <p:cNvPr id="11" name="Shape 8"/>
          <p:cNvSpPr/>
          <p:nvPr/>
        </p:nvSpPr>
        <p:spPr>
          <a:xfrm>
            <a:off x="2757785" y="4284166"/>
            <a:ext cx="1774329" cy="554236"/>
          </a:xfrm>
          <a:prstGeom prst="roundRect">
            <a:avLst>
              <a:gd name="adj" fmla="val 8057"/>
            </a:avLst>
          </a:prstGeom>
          <a:solidFill>
            <a:srgbClr val="FFD8CC"/>
          </a:solidFill>
          <a:ln w="4763">
            <a:solidFill>
              <a:srgbClr val="E5BEB2"/>
            </a:solidFill>
            <a:prstDash val="solid"/>
          </a:ln>
        </p:spPr>
      </p:sp>
      <p:sp>
        <p:nvSpPr>
          <p:cNvPr id="12" name="Text 9"/>
          <p:cNvSpPr/>
          <p:nvPr/>
        </p:nvSpPr>
        <p:spPr>
          <a:xfrm>
            <a:off x="2868811" y="4395192"/>
            <a:ext cx="1329035" cy="166092"/>
          </a:xfrm>
          <a:prstGeom prst="rect">
            <a:avLst/>
          </a:prstGeom>
          <a:noFill/>
          <a:ln/>
        </p:spPr>
        <p:txBody>
          <a:bodyPr wrap="none" lIns="0" tIns="0" rIns="0" bIns="0" rtlCol="0" anchor="t"/>
          <a:lstStyle/>
          <a:p>
            <a:pPr algn="l" indent="0" marL="0">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Objection Handling</a:t>
            </a:r>
            <a:endParaRPr lang="en-US" sz="1000" dirty="0"/>
          </a:p>
        </p:txBody>
      </p:sp>
      <p:sp>
        <p:nvSpPr>
          <p:cNvPr id="13" name="Shape 10"/>
          <p:cNvSpPr/>
          <p:nvPr/>
        </p:nvSpPr>
        <p:spPr>
          <a:xfrm>
            <a:off x="4611812" y="4284166"/>
            <a:ext cx="1774329" cy="554236"/>
          </a:xfrm>
          <a:prstGeom prst="roundRect">
            <a:avLst>
              <a:gd name="adj" fmla="val 8057"/>
            </a:avLst>
          </a:prstGeom>
          <a:solidFill>
            <a:srgbClr val="FFD8CC"/>
          </a:solidFill>
          <a:ln w="4763">
            <a:solidFill>
              <a:srgbClr val="E5BEB2"/>
            </a:solidFill>
            <a:prstDash val="solid"/>
          </a:ln>
        </p:spPr>
      </p:sp>
      <p:sp>
        <p:nvSpPr>
          <p:cNvPr id="14" name="Text 11"/>
          <p:cNvSpPr/>
          <p:nvPr/>
        </p:nvSpPr>
        <p:spPr>
          <a:xfrm>
            <a:off x="4722837" y="4395192"/>
            <a:ext cx="1552277" cy="332184"/>
          </a:xfrm>
          <a:prstGeom prst="rect">
            <a:avLst/>
          </a:prstGeom>
          <a:noFill/>
          <a:ln/>
        </p:spPr>
        <p:txBody>
          <a:bodyPr wrap="square" lIns="0" tIns="0" rIns="0" bIns="0" rtlCol="0" anchor="t">
            <a:normAutofit/>
          </a:bodyPr>
          <a:lstStyle/>
          <a:p>
            <a:pPr algn="l" indent="0" marL="0">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Context-Aware Follow-Ups</a:t>
            </a:r>
            <a:endParaRPr lang="en-US" sz="1000" dirty="0"/>
          </a:p>
        </p:txBody>
      </p:sp>
      <p:sp>
        <p:nvSpPr>
          <p:cNvPr id="15" name="Shape 12"/>
          <p:cNvSpPr/>
          <p:nvPr/>
        </p:nvSpPr>
        <p:spPr>
          <a:xfrm>
            <a:off x="6465838" y="4284166"/>
            <a:ext cx="1774329" cy="554236"/>
          </a:xfrm>
          <a:prstGeom prst="roundRect">
            <a:avLst>
              <a:gd name="adj" fmla="val 8057"/>
            </a:avLst>
          </a:prstGeom>
          <a:solidFill>
            <a:srgbClr val="FFD8CC"/>
          </a:solidFill>
          <a:ln w="4763">
            <a:solidFill>
              <a:srgbClr val="E5BEB2"/>
            </a:solidFill>
            <a:prstDash val="solid"/>
          </a:ln>
        </p:spPr>
      </p:sp>
      <p:sp>
        <p:nvSpPr>
          <p:cNvPr id="16" name="Text 13"/>
          <p:cNvSpPr/>
          <p:nvPr/>
        </p:nvSpPr>
        <p:spPr>
          <a:xfrm>
            <a:off x="6576864" y="4395192"/>
            <a:ext cx="1388343" cy="166092"/>
          </a:xfrm>
          <a:prstGeom prst="rect">
            <a:avLst/>
          </a:prstGeom>
          <a:noFill/>
          <a:ln/>
        </p:spPr>
        <p:txBody>
          <a:bodyPr wrap="none" lIns="0" tIns="0" rIns="0" bIns="0" rtlCol="0" anchor="t"/>
          <a:lstStyle/>
          <a:p>
            <a:pPr algn="l" indent="0" marL="0">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CRM Personalization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832101" y="368275"/>
            <a:ext cx="4470350" cy="359941"/>
          </a:xfrm>
          <a:prstGeom prst="rect">
            <a:avLst/>
          </a:prstGeom>
          <a:noFill/>
          <a:ln/>
        </p:spPr>
        <p:txBody>
          <a:bodyPr wrap="none" lIns="0" tIns="0" rIns="0" bIns="0" rtlCol="0" anchor="t"/>
          <a:lstStyle/>
          <a:p>
            <a:pPr algn="l" indent="0" marL="0">
              <a:lnSpc>
                <a:spcPct val="104000"/>
              </a:lnSpc>
              <a:buNone/>
            </a:pPr>
            <a:r>
              <a:rPr lang="en-US" sz="2250" b="1" dirty="0">
                <a:solidFill>
                  <a:srgbClr val="403C4E"/>
                </a:solidFill>
                <a:latin typeface="Merriweather Bold" pitchFamily="34" charset="0"/>
                <a:ea typeface="Merriweather Bold" pitchFamily="34" charset="-122"/>
                <a:cs typeface="Merriweather Bold" pitchFamily="34" charset="-120"/>
              </a:rPr>
              <a:t>Salespeak's Core Philosophy</a:t>
            </a:r>
            <a:endParaRPr lang="en-US" sz="2250" dirty="0"/>
          </a:p>
        </p:txBody>
      </p:sp>
      <p:sp>
        <p:nvSpPr>
          <p:cNvPr id="4" name="Text 1"/>
          <p:cNvSpPr/>
          <p:nvPr/>
        </p:nvSpPr>
        <p:spPr>
          <a:xfrm>
            <a:off x="3832101" y="868561"/>
            <a:ext cx="4908798" cy="500955"/>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AI agents should behave like </a:t>
            </a:r>
            <a:pPr algn="l" indent="0" marL="0">
              <a:lnSpc>
                <a:spcPct val="121000"/>
              </a:lnSpc>
              <a:buNone/>
            </a:pPr>
            <a:r>
              <a:rPr lang="en-US" sz="900" b="1" dirty="0">
                <a:solidFill>
                  <a:srgbClr val="403C4E"/>
                </a:solidFill>
                <a:latin typeface="Open Sans" pitchFamily="34" charset="0"/>
                <a:ea typeface="Open Sans" pitchFamily="34" charset="-122"/>
                <a:cs typeface="Open Sans" pitchFamily="34" charset="-120"/>
              </a:rPr>
              <a:t>trained reps</a:t>
            </a:r>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 not chatbots. Every conversation is intent-aware, goal-oriented, state-driven, and memory-enabled. We replace brittle scripts with intelligent systems.</a:t>
            </a:r>
            <a:endParaRPr lang="en-US" sz="900" dirty="0"/>
          </a:p>
        </p:txBody>
      </p:sp>
      <p:pic>
        <p:nvPicPr>
          <p:cNvPr id="5" name="Image 1" descr="preencoded.png">    </p:cNvPr>
          <p:cNvPicPr>
            <a:picLocks noChangeAspect="1"/>
          </p:cNvPicPr>
          <p:nvPr/>
        </p:nvPicPr>
        <p:blipFill>
          <a:blip r:embed="rId2"/>
          <a:stretch>
            <a:fillRect/>
          </a:stretch>
        </p:blipFill>
        <p:spPr>
          <a:xfrm>
            <a:off x="3832101" y="1474738"/>
            <a:ext cx="575890" cy="691083"/>
          </a:xfrm>
          <a:prstGeom prst="rect">
            <a:avLst/>
          </a:prstGeom>
        </p:spPr>
      </p:pic>
      <p:sp>
        <p:nvSpPr>
          <p:cNvPr id="6" name="Text 2"/>
          <p:cNvSpPr/>
          <p:nvPr/>
        </p:nvSpPr>
        <p:spPr>
          <a:xfrm>
            <a:off x="4501530" y="1589856"/>
            <a:ext cx="1439763"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Intent-Aware</a:t>
            </a:r>
            <a:endParaRPr lang="en-US" sz="1100" dirty="0"/>
          </a:p>
        </p:txBody>
      </p:sp>
      <p:sp>
        <p:nvSpPr>
          <p:cNvPr id="7" name="Text 3"/>
          <p:cNvSpPr/>
          <p:nvPr/>
        </p:nvSpPr>
        <p:spPr>
          <a:xfrm>
            <a:off x="4501530" y="1825898"/>
            <a:ext cx="4239369"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Understands what the buyer really needs</a:t>
            </a:r>
            <a:endParaRPr lang="en-US" sz="900" dirty="0"/>
          </a:p>
        </p:txBody>
      </p:sp>
      <p:pic>
        <p:nvPicPr>
          <p:cNvPr id="8" name="Image 2" descr="preencoded.png">    </p:cNvPr>
          <p:cNvPicPr>
            <a:picLocks noChangeAspect="1"/>
          </p:cNvPicPr>
          <p:nvPr/>
        </p:nvPicPr>
        <p:blipFill>
          <a:blip r:embed="rId3"/>
          <a:stretch>
            <a:fillRect/>
          </a:stretch>
        </p:blipFill>
        <p:spPr>
          <a:xfrm>
            <a:off x="3832101" y="2165821"/>
            <a:ext cx="575890" cy="691083"/>
          </a:xfrm>
          <a:prstGeom prst="rect">
            <a:avLst/>
          </a:prstGeom>
        </p:spPr>
      </p:pic>
      <p:sp>
        <p:nvSpPr>
          <p:cNvPr id="9" name="Text 4"/>
          <p:cNvSpPr/>
          <p:nvPr/>
        </p:nvSpPr>
        <p:spPr>
          <a:xfrm>
            <a:off x="4501530" y="2280940"/>
            <a:ext cx="1439763"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Goal-Oriented</a:t>
            </a:r>
            <a:endParaRPr lang="en-US" sz="1100" dirty="0"/>
          </a:p>
        </p:txBody>
      </p:sp>
      <p:sp>
        <p:nvSpPr>
          <p:cNvPr id="10" name="Text 5"/>
          <p:cNvSpPr/>
          <p:nvPr/>
        </p:nvSpPr>
        <p:spPr>
          <a:xfrm>
            <a:off x="4501530" y="2516981"/>
            <a:ext cx="4239369"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Every turn drives toward an outcome</a:t>
            </a:r>
            <a:endParaRPr lang="en-US" sz="900" dirty="0"/>
          </a:p>
        </p:txBody>
      </p:sp>
      <p:pic>
        <p:nvPicPr>
          <p:cNvPr id="11" name="Image 3" descr="preencoded.png">    </p:cNvPr>
          <p:cNvPicPr>
            <a:picLocks noChangeAspect="1"/>
          </p:cNvPicPr>
          <p:nvPr/>
        </p:nvPicPr>
        <p:blipFill>
          <a:blip r:embed="rId4"/>
          <a:stretch>
            <a:fillRect/>
          </a:stretch>
        </p:blipFill>
        <p:spPr>
          <a:xfrm>
            <a:off x="3832101" y="2856905"/>
            <a:ext cx="575890" cy="691083"/>
          </a:xfrm>
          <a:prstGeom prst="rect">
            <a:avLst/>
          </a:prstGeom>
        </p:spPr>
      </p:pic>
      <p:sp>
        <p:nvSpPr>
          <p:cNvPr id="12" name="Text 6"/>
          <p:cNvSpPr/>
          <p:nvPr/>
        </p:nvSpPr>
        <p:spPr>
          <a:xfrm>
            <a:off x="4501530" y="2972023"/>
            <a:ext cx="1439763"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State-Driven</a:t>
            </a:r>
            <a:endParaRPr lang="en-US" sz="1100" dirty="0"/>
          </a:p>
        </p:txBody>
      </p:sp>
      <p:sp>
        <p:nvSpPr>
          <p:cNvPr id="13" name="Text 7"/>
          <p:cNvSpPr/>
          <p:nvPr/>
        </p:nvSpPr>
        <p:spPr>
          <a:xfrm>
            <a:off x="4501530" y="3208065"/>
            <a:ext cx="4239369"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Tracks where the conversation stands</a:t>
            </a:r>
            <a:endParaRPr lang="en-US" sz="900" dirty="0"/>
          </a:p>
        </p:txBody>
      </p:sp>
      <p:pic>
        <p:nvPicPr>
          <p:cNvPr id="14" name="Image 4" descr="preencoded.png">    </p:cNvPr>
          <p:cNvPicPr>
            <a:picLocks noChangeAspect="1"/>
          </p:cNvPicPr>
          <p:nvPr/>
        </p:nvPicPr>
        <p:blipFill>
          <a:blip r:embed="rId5"/>
          <a:stretch>
            <a:fillRect/>
          </a:stretch>
        </p:blipFill>
        <p:spPr>
          <a:xfrm>
            <a:off x="3832101" y="3547988"/>
            <a:ext cx="575890" cy="691083"/>
          </a:xfrm>
          <a:prstGeom prst="rect">
            <a:avLst/>
          </a:prstGeom>
        </p:spPr>
      </p:pic>
      <p:sp>
        <p:nvSpPr>
          <p:cNvPr id="15" name="Text 8"/>
          <p:cNvSpPr/>
          <p:nvPr/>
        </p:nvSpPr>
        <p:spPr>
          <a:xfrm>
            <a:off x="4501530" y="3663107"/>
            <a:ext cx="1439763"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Memory-Enabled</a:t>
            </a:r>
            <a:endParaRPr lang="en-US" sz="1100" dirty="0"/>
          </a:p>
        </p:txBody>
      </p:sp>
      <p:sp>
        <p:nvSpPr>
          <p:cNvPr id="16" name="Text 9"/>
          <p:cNvSpPr/>
          <p:nvPr/>
        </p:nvSpPr>
        <p:spPr>
          <a:xfrm>
            <a:off x="4501530" y="3899148"/>
            <a:ext cx="4239369"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Recalls context across sessions</a:t>
            </a:r>
            <a:endParaRPr lang="en-US" sz="900" dirty="0"/>
          </a:p>
        </p:txBody>
      </p:sp>
      <p:sp>
        <p:nvSpPr>
          <p:cNvPr id="17" name="Shape 10"/>
          <p:cNvSpPr/>
          <p:nvPr/>
        </p:nvSpPr>
        <p:spPr>
          <a:xfrm>
            <a:off x="3832101" y="4344293"/>
            <a:ext cx="4908798" cy="430932"/>
          </a:xfrm>
          <a:prstGeom prst="roundRect">
            <a:avLst>
              <a:gd name="adj" fmla="val 11226"/>
            </a:avLst>
          </a:prstGeom>
          <a:solidFill>
            <a:srgbClr val="FFC4B3"/>
          </a:solidFill>
          <a:ln/>
        </p:spPr>
      </p:sp>
      <p:pic>
        <p:nvPicPr>
          <p:cNvPr id="18" name="Image 5" descr="preencoded.png">    </p:cNvPr>
          <p:cNvPicPr>
            <a:picLocks noChangeAspect="1"/>
          </p:cNvPicPr>
          <p:nvPr/>
        </p:nvPicPr>
        <p:blipFill>
          <a:blip r:embed="rId6"/>
          <a:stretch>
            <a:fillRect/>
          </a:stretch>
        </p:blipFill>
        <p:spPr>
          <a:xfrm>
            <a:off x="3947220" y="4515966"/>
            <a:ext cx="143917" cy="115119"/>
          </a:xfrm>
          <a:prstGeom prst="rect">
            <a:avLst/>
          </a:prstGeom>
        </p:spPr>
      </p:pic>
      <p:sp>
        <p:nvSpPr>
          <p:cNvPr id="19" name="Text 11"/>
          <p:cNvSpPr/>
          <p:nvPr/>
        </p:nvSpPr>
        <p:spPr>
          <a:xfrm>
            <a:off x="4206255" y="4466555"/>
            <a:ext cx="4876726" cy="166985"/>
          </a:xfrm>
          <a:prstGeom prst="rect">
            <a:avLst/>
          </a:prstGeom>
          <a:noFill/>
          <a:ln/>
        </p:spPr>
        <p:txBody>
          <a:bodyPr wrap="none" lIns="0" tIns="0" rIns="0" bIns="0" rtlCol="0" anchor="t"/>
          <a:lstStyle/>
          <a:p>
            <a:pPr algn="l" indent="0" marL="0">
              <a:lnSpc>
                <a:spcPct val="121000"/>
              </a:lnSpc>
              <a:buNone/>
            </a:pPr>
            <a:r>
              <a:rPr lang="en-US" sz="900" dirty="0">
                <a:solidFill>
                  <a:srgbClr val="000000"/>
                </a:solidFill>
                <a:latin typeface="Open Sans" pitchFamily="34" charset="0"/>
                <a:ea typeface="Open Sans" pitchFamily="34" charset="-122"/>
                <a:cs typeface="Open Sans" pitchFamily="34" charset="-120"/>
              </a:rPr>
              <a:t>We don't build chatbots. </a:t>
            </a:r>
            <a:pPr algn="l" indent="0" marL="0">
              <a:lnSpc>
                <a:spcPct val="121000"/>
              </a:lnSpc>
              <a:buNone/>
            </a:pPr>
            <a:r>
              <a:rPr lang="en-US" sz="900" b="1" dirty="0">
                <a:solidFill>
                  <a:srgbClr val="000000"/>
                </a:solidFill>
                <a:latin typeface="Open Sans" pitchFamily="34" charset="0"/>
                <a:ea typeface="Open Sans" pitchFamily="34" charset="-122"/>
                <a:cs typeface="Open Sans" pitchFamily="34" charset="-120"/>
              </a:rPr>
              <a:t>We build Intelligent conversational agents.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0912" y="319087"/>
            <a:ext cx="589508" cy="192658"/>
          </a:xfrm>
          <a:prstGeom prst="roundRect">
            <a:avLst>
              <a:gd name="adj" fmla="val 19316"/>
            </a:avLst>
          </a:prstGeom>
          <a:solidFill>
            <a:srgbClr val="FFD8CC"/>
          </a:solidFill>
          <a:ln/>
        </p:spPr>
      </p:sp>
      <p:sp>
        <p:nvSpPr>
          <p:cNvPr id="3" name="Text 1"/>
          <p:cNvSpPr/>
          <p:nvPr/>
        </p:nvSpPr>
        <p:spPr>
          <a:xfrm>
            <a:off x="817364" y="352276"/>
            <a:ext cx="913805" cy="126281"/>
          </a:xfrm>
          <a:prstGeom prst="rect">
            <a:avLst/>
          </a:prstGeom>
          <a:noFill/>
          <a:ln/>
        </p:spPr>
        <p:txBody>
          <a:bodyPr wrap="none" lIns="0" tIns="0" rIns="0" bIns="0" rtlCol="0" anchor="t"/>
          <a:lstStyle/>
          <a:p>
            <a:pPr algn="l" indent="0" marL="0">
              <a:lnSpc>
                <a:spcPct val="119000"/>
              </a:lnSpc>
              <a:buNone/>
            </a:pPr>
            <a:r>
              <a:rPr lang="en-US" sz="650" dirty="0">
                <a:solidFill>
                  <a:srgbClr val="403C4E"/>
                </a:solidFill>
                <a:latin typeface="Open Sans" pitchFamily="34" charset="0"/>
                <a:ea typeface="Open Sans" pitchFamily="34" charset="-122"/>
                <a:cs typeface="Open Sans" pitchFamily="34" charset="-120"/>
              </a:rPr>
              <a:t>CHAPTER 3</a:t>
            </a:r>
            <a:endParaRPr lang="en-US" sz="650" dirty="0"/>
          </a:p>
        </p:txBody>
      </p:sp>
      <p:sp>
        <p:nvSpPr>
          <p:cNvPr id="4" name="Text 2"/>
          <p:cNvSpPr/>
          <p:nvPr/>
        </p:nvSpPr>
        <p:spPr>
          <a:xfrm>
            <a:off x="1395785" y="352276"/>
            <a:ext cx="1950021" cy="126281"/>
          </a:xfrm>
          <a:prstGeom prst="rect">
            <a:avLst/>
          </a:prstGeom>
          <a:noFill/>
          <a:ln/>
        </p:spPr>
        <p:txBody>
          <a:bodyPr wrap="none" lIns="0" tIns="0" rIns="0" bIns="0" rtlCol="0" anchor="t"/>
          <a:lstStyle/>
          <a:p>
            <a:pPr algn="l" indent="0" marL="0">
              <a:lnSpc>
                <a:spcPct val="119000"/>
              </a:lnSpc>
              <a:buNone/>
            </a:pPr>
            <a:r>
              <a:rPr lang="en-US" sz="650" dirty="0">
                <a:solidFill>
                  <a:srgbClr val="FFAD94"/>
                </a:solidFill>
                <a:latin typeface="Open Sans" pitchFamily="34" charset="0"/>
                <a:ea typeface="Open Sans" pitchFamily="34" charset="-122"/>
                <a:cs typeface="Open Sans" pitchFamily="34" charset="-120"/>
              </a:rPr>
              <a:t>HOW GREAT SALES AGENTS BEHAVE</a:t>
            </a:r>
            <a:endParaRPr lang="en-US" sz="650" dirty="0"/>
          </a:p>
        </p:txBody>
      </p:sp>
      <p:sp>
        <p:nvSpPr>
          <p:cNvPr id="5" name="Text 3"/>
          <p:cNvSpPr/>
          <p:nvPr/>
        </p:nvSpPr>
        <p:spPr>
          <a:xfrm>
            <a:off x="750912" y="546348"/>
            <a:ext cx="5946428" cy="346100"/>
          </a:xfrm>
          <a:prstGeom prst="rect">
            <a:avLst/>
          </a:prstGeom>
          <a:noFill/>
          <a:ln/>
        </p:spPr>
        <p:txBody>
          <a:bodyPr wrap="none" lIns="0" tIns="0" rIns="0" bIns="0" rtlCol="0" anchor="t"/>
          <a:lstStyle/>
          <a:p>
            <a:pPr algn="l" indent="0" marL="0">
              <a:lnSpc>
                <a:spcPct val="104000"/>
              </a:lnSpc>
              <a:buNone/>
            </a:pPr>
            <a:r>
              <a:rPr lang="en-US" sz="2150" b="1" dirty="0">
                <a:solidFill>
                  <a:srgbClr val="403C4E"/>
                </a:solidFill>
                <a:latin typeface="Merriweather Bold" pitchFamily="34" charset="0"/>
                <a:ea typeface="Merriweather Bold" pitchFamily="34" charset="-122"/>
                <a:cs typeface="Merriweather Bold" pitchFamily="34" charset="-120"/>
              </a:rPr>
              <a:t>How Human Sales Agents Actually Work</a:t>
            </a:r>
            <a:endParaRPr lang="en-US" sz="2150" dirty="0"/>
          </a:p>
        </p:txBody>
      </p:sp>
      <p:sp>
        <p:nvSpPr>
          <p:cNvPr id="6" name="Text 4"/>
          <p:cNvSpPr/>
          <p:nvPr/>
        </p:nvSpPr>
        <p:spPr>
          <a:xfrm>
            <a:off x="750912" y="1927250"/>
            <a:ext cx="2499122" cy="1104305"/>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The best reps don't follow scripts — they operate on </a:t>
            </a:r>
            <a:pPr algn="l" indent="0" marL="0">
              <a:lnSpc>
                <a:spcPct val="119000"/>
              </a:lnSpc>
              <a:buNone/>
            </a:pPr>
            <a:r>
              <a:rPr lang="en-US" sz="850" b="1" dirty="0">
                <a:solidFill>
                  <a:srgbClr val="403C4E"/>
                </a:solidFill>
                <a:latin typeface="Open Sans" pitchFamily="34" charset="0"/>
                <a:ea typeface="Open Sans" pitchFamily="34" charset="-122"/>
                <a:cs typeface="Open Sans" pitchFamily="34" charset="-120"/>
              </a:rPr>
              <a:t>instinct sharpened by systems</a:t>
            </a:r>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 They diagnose before prescribing, ask layered questions, and adjust based on real-time buyer signals. They manage conversation state intuitively and always know when to push — and when to pause.</a:t>
            </a:r>
            <a:endParaRPr lang="en-US" sz="850" dirty="0"/>
          </a:p>
        </p:txBody>
      </p:sp>
      <p:pic>
        <p:nvPicPr>
          <p:cNvPr id="7" name="Image 0" descr="preencoded.png">    </p:cNvPr>
          <p:cNvPicPr>
            <a:picLocks noChangeAspect="1"/>
          </p:cNvPicPr>
          <p:nvPr/>
        </p:nvPicPr>
        <p:blipFill>
          <a:blip r:embed="rId1"/>
          <a:stretch>
            <a:fillRect/>
          </a:stretch>
        </p:blipFill>
        <p:spPr>
          <a:xfrm>
            <a:off x="3524920" y="1119560"/>
            <a:ext cx="4872782" cy="2719685"/>
          </a:xfrm>
          <a:prstGeom prst="rect">
            <a:avLst/>
          </a:prstGeom>
        </p:spPr>
      </p:pic>
      <p:sp>
        <p:nvSpPr>
          <p:cNvPr id="8" name="Shape 5"/>
          <p:cNvSpPr/>
          <p:nvPr/>
        </p:nvSpPr>
        <p:spPr>
          <a:xfrm>
            <a:off x="750912" y="4033912"/>
            <a:ext cx="2489671" cy="790426"/>
          </a:xfrm>
          <a:prstGeom prst="roundRect">
            <a:avLst>
              <a:gd name="adj" fmla="val 8676"/>
            </a:avLst>
          </a:prstGeom>
          <a:solidFill>
            <a:srgbClr val="FFFFFF"/>
          </a:solidFill>
          <a:ln w="14288">
            <a:solidFill>
              <a:srgbClr val="E5BEB2"/>
            </a:solidFill>
            <a:prstDash val="solid"/>
          </a:ln>
        </p:spPr>
      </p:sp>
      <p:sp>
        <p:nvSpPr>
          <p:cNvPr id="9" name="Shape 6"/>
          <p:cNvSpPr/>
          <p:nvPr/>
        </p:nvSpPr>
        <p:spPr>
          <a:xfrm>
            <a:off x="736625" y="4033912"/>
            <a:ext cx="57150" cy="790426"/>
          </a:xfrm>
          <a:prstGeom prst="roundRect">
            <a:avLst>
              <a:gd name="adj" fmla="val 81395"/>
            </a:avLst>
          </a:prstGeom>
          <a:solidFill>
            <a:srgbClr val="FFAD94"/>
          </a:solidFill>
          <a:ln/>
        </p:spPr>
      </p:sp>
      <p:sp>
        <p:nvSpPr>
          <p:cNvPr id="10" name="Text 7"/>
          <p:cNvSpPr/>
          <p:nvPr/>
        </p:nvSpPr>
        <p:spPr>
          <a:xfrm>
            <a:off x="918790" y="4158928"/>
            <a:ext cx="1384399" cy="173013"/>
          </a:xfrm>
          <a:prstGeom prst="rect">
            <a:avLst/>
          </a:prstGeom>
          <a:noFill/>
          <a:ln/>
        </p:spPr>
        <p:txBody>
          <a:bodyPr wrap="none" lIns="0" tIns="0" rIns="0" bIns="0" rtlCol="0" anchor="t"/>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Diagnose First</a:t>
            </a:r>
            <a:endParaRPr lang="en-US" sz="1050" dirty="0"/>
          </a:p>
        </p:txBody>
      </p:sp>
      <p:sp>
        <p:nvSpPr>
          <p:cNvPr id="11" name="Text 8"/>
          <p:cNvSpPr/>
          <p:nvPr/>
        </p:nvSpPr>
        <p:spPr>
          <a:xfrm>
            <a:off x="918790" y="4383807"/>
            <a:ext cx="2196778" cy="157758"/>
          </a:xfrm>
          <a:prstGeom prst="rect">
            <a:avLst/>
          </a:prstGeom>
          <a:noFill/>
          <a:ln/>
        </p:spPr>
        <p:txBody>
          <a:bodyPr wrap="none" lIns="0" tIns="0" rIns="0" bIns="0" rtlCol="0" anchor="t"/>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Understand before you prescribe</a:t>
            </a:r>
            <a:endParaRPr lang="en-US" sz="850" dirty="0"/>
          </a:p>
        </p:txBody>
      </p:sp>
      <p:sp>
        <p:nvSpPr>
          <p:cNvPr id="12" name="Shape 9"/>
          <p:cNvSpPr/>
          <p:nvPr/>
        </p:nvSpPr>
        <p:spPr>
          <a:xfrm>
            <a:off x="3327053" y="4033912"/>
            <a:ext cx="2489746" cy="790426"/>
          </a:xfrm>
          <a:prstGeom prst="roundRect">
            <a:avLst>
              <a:gd name="adj" fmla="val 8676"/>
            </a:avLst>
          </a:prstGeom>
          <a:solidFill>
            <a:srgbClr val="FFFFFF"/>
          </a:solidFill>
          <a:ln w="14288">
            <a:solidFill>
              <a:srgbClr val="E5BEB2"/>
            </a:solidFill>
            <a:prstDash val="solid"/>
          </a:ln>
        </p:spPr>
      </p:sp>
      <p:sp>
        <p:nvSpPr>
          <p:cNvPr id="13" name="Shape 10"/>
          <p:cNvSpPr/>
          <p:nvPr/>
        </p:nvSpPr>
        <p:spPr>
          <a:xfrm>
            <a:off x="3312765" y="4033912"/>
            <a:ext cx="57150" cy="790426"/>
          </a:xfrm>
          <a:prstGeom prst="roundRect">
            <a:avLst>
              <a:gd name="adj" fmla="val 81395"/>
            </a:avLst>
          </a:prstGeom>
          <a:solidFill>
            <a:srgbClr val="FFAD94"/>
          </a:solidFill>
          <a:ln/>
        </p:spPr>
      </p:sp>
      <p:sp>
        <p:nvSpPr>
          <p:cNvPr id="14" name="Text 11"/>
          <p:cNvSpPr/>
          <p:nvPr/>
        </p:nvSpPr>
        <p:spPr>
          <a:xfrm>
            <a:off x="3494931" y="4158928"/>
            <a:ext cx="1384399" cy="173013"/>
          </a:xfrm>
          <a:prstGeom prst="rect">
            <a:avLst/>
          </a:prstGeom>
          <a:noFill/>
          <a:ln/>
        </p:spPr>
        <p:txBody>
          <a:bodyPr wrap="none" lIns="0" tIns="0" rIns="0" bIns="0" rtlCol="0" anchor="t"/>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Read Signals</a:t>
            </a:r>
            <a:endParaRPr lang="en-US" sz="1050" dirty="0"/>
          </a:p>
        </p:txBody>
      </p:sp>
      <p:sp>
        <p:nvSpPr>
          <p:cNvPr id="15" name="Text 12"/>
          <p:cNvSpPr/>
          <p:nvPr/>
        </p:nvSpPr>
        <p:spPr>
          <a:xfrm>
            <a:off x="3494931" y="4383807"/>
            <a:ext cx="2196852" cy="157758"/>
          </a:xfrm>
          <a:prstGeom prst="rect">
            <a:avLst/>
          </a:prstGeom>
          <a:noFill/>
          <a:ln/>
        </p:spPr>
        <p:txBody>
          <a:bodyPr wrap="none" lIns="0" tIns="0" rIns="0" bIns="0" rtlCol="0" anchor="t"/>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Adjust approach based on buyer cues</a:t>
            </a:r>
            <a:endParaRPr lang="en-US" sz="850" dirty="0"/>
          </a:p>
        </p:txBody>
      </p:sp>
      <p:sp>
        <p:nvSpPr>
          <p:cNvPr id="16" name="Shape 13"/>
          <p:cNvSpPr/>
          <p:nvPr/>
        </p:nvSpPr>
        <p:spPr>
          <a:xfrm>
            <a:off x="5903268" y="4033912"/>
            <a:ext cx="2489671" cy="790426"/>
          </a:xfrm>
          <a:prstGeom prst="roundRect">
            <a:avLst>
              <a:gd name="adj" fmla="val 8676"/>
            </a:avLst>
          </a:prstGeom>
          <a:solidFill>
            <a:srgbClr val="FFFFFF"/>
          </a:solidFill>
          <a:ln w="14288">
            <a:solidFill>
              <a:srgbClr val="E5BEB2"/>
            </a:solidFill>
            <a:prstDash val="solid"/>
          </a:ln>
        </p:spPr>
      </p:sp>
      <p:sp>
        <p:nvSpPr>
          <p:cNvPr id="17" name="Shape 14"/>
          <p:cNvSpPr/>
          <p:nvPr/>
        </p:nvSpPr>
        <p:spPr>
          <a:xfrm>
            <a:off x="5888980" y="4033912"/>
            <a:ext cx="57150" cy="790426"/>
          </a:xfrm>
          <a:prstGeom prst="roundRect">
            <a:avLst>
              <a:gd name="adj" fmla="val 81395"/>
            </a:avLst>
          </a:prstGeom>
          <a:solidFill>
            <a:srgbClr val="FFAD94"/>
          </a:solidFill>
          <a:ln/>
        </p:spPr>
      </p:sp>
      <p:sp>
        <p:nvSpPr>
          <p:cNvPr id="18" name="Text 15"/>
          <p:cNvSpPr/>
          <p:nvPr/>
        </p:nvSpPr>
        <p:spPr>
          <a:xfrm>
            <a:off x="6071146" y="4158928"/>
            <a:ext cx="1384399" cy="173013"/>
          </a:xfrm>
          <a:prstGeom prst="rect">
            <a:avLst/>
          </a:prstGeom>
          <a:noFill/>
          <a:ln/>
        </p:spPr>
        <p:txBody>
          <a:bodyPr wrap="none" lIns="0" tIns="0" rIns="0" bIns="0" rtlCol="0" anchor="t"/>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Manage State</a:t>
            </a:r>
            <a:endParaRPr lang="en-US" sz="1050" dirty="0"/>
          </a:p>
        </p:txBody>
      </p:sp>
      <p:sp>
        <p:nvSpPr>
          <p:cNvPr id="19" name="Text 16"/>
          <p:cNvSpPr/>
          <p:nvPr/>
        </p:nvSpPr>
        <p:spPr>
          <a:xfrm>
            <a:off x="6071146" y="4383807"/>
            <a:ext cx="2196778"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403C4E"/>
                </a:solidFill>
                <a:latin typeface="Open Sans" pitchFamily="34" charset="0"/>
                <a:ea typeface="Open Sans" pitchFamily="34" charset="-122"/>
                <a:cs typeface="Open Sans" pitchFamily="34" charset="-120"/>
              </a:rPr>
              <a:t>Track deal context across every touchpoint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033835"/>
            <a:ext cx="7977113"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Behavioral Traits of High-Performing Reps</a:t>
            </a:r>
            <a:endParaRPr lang="en-US" sz="2750" dirty="0"/>
          </a:p>
        </p:txBody>
      </p:sp>
      <p:pic>
        <p:nvPicPr>
          <p:cNvPr id="3" name="Image 0" descr="preencoded.png">    </p:cNvPr>
          <p:cNvPicPr>
            <a:picLocks noChangeAspect="1"/>
          </p:cNvPicPr>
          <p:nvPr/>
        </p:nvPicPr>
        <p:blipFill>
          <a:blip r:embed="rId1"/>
          <a:stretch>
            <a:fillRect/>
          </a:stretch>
        </p:blipFill>
        <p:spPr>
          <a:xfrm>
            <a:off x="496119" y="1760339"/>
            <a:ext cx="1143595" cy="706785"/>
          </a:xfrm>
          <a:prstGeom prst="rect">
            <a:avLst/>
          </a:prstGeom>
        </p:spPr>
      </p:pic>
      <p:sp>
        <p:nvSpPr>
          <p:cNvPr id="4" name="Text 1"/>
          <p:cNvSpPr/>
          <p:nvPr/>
        </p:nvSpPr>
        <p:spPr>
          <a:xfrm>
            <a:off x="496119" y="2644304"/>
            <a:ext cx="2378943"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Curiosity-Driven Discovery</a:t>
            </a:r>
            <a:endParaRPr lang="en-US" sz="1350" dirty="0"/>
          </a:p>
        </p:txBody>
      </p:sp>
      <p:sp>
        <p:nvSpPr>
          <p:cNvPr id="5" name="Text 2"/>
          <p:cNvSpPr/>
          <p:nvPr/>
        </p:nvSpPr>
        <p:spPr>
          <a:xfrm>
            <a:off x="496119" y="2950815"/>
            <a:ext cx="2599134"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Asking the questions that reveal what buyers won't volunteer</a:t>
            </a:r>
            <a:endParaRPr lang="en-US" sz="1100" dirty="0"/>
          </a:p>
        </p:txBody>
      </p:sp>
      <p:pic>
        <p:nvPicPr>
          <p:cNvPr id="6" name="Image 1" descr="preencoded.png">    </p:cNvPr>
          <p:cNvPicPr>
            <a:picLocks noChangeAspect="1"/>
          </p:cNvPicPr>
          <p:nvPr/>
        </p:nvPicPr>
        <p:blipFill>
          <a:blip r:embed="rId2"/>
          <a:stretch>
            <a:fillRect/>
          </a:stretch>
        </p:blipFill>
        <p:spPr>
          <a:xfrm>
            <a:off x="3272433" y="1760339"/>
            <a:ext cx="1143595" cy="706785"/>
          </a:xfrm>
          <a:prstGeom prst="rect">
            <a:avLst/>
          </a:prstGeom>
        </p:spPr>
      </p:pic>
      <p:sp>
        <p:nvSpPr>
          <p:cNvPr id="7" name="Text 3"/>
          <p:cNvSpPr/>
          <p:nvPr/>
        </p:nvSpPr>
        <p:spPr>
          <a:xfrm>
            <a:off x="3272433" y="2644304"/>
            <a:ext cx="2114327"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Structured Qualification</a:t>
            </a:r>
            <a:endParaRPr lang="en-US" sz="1350" dirty="0"/>
          </a:p>
        </p:txBody>
      </p:sp>
      <p:sp>
        <p:nvSpPr>
          <p:cNvPr id="8" name="Text 4"/>
          <p:cNvSpPr/>
          <p:nvPr/>
        </p:nvSpPr>
        <p:spPr>
          <a:xfrm>
            <a:off x="3272433" y="2950815"/>
            <a:ext cx="2599134"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Implicit frameworks like MEDDIC guide every interaction</a:t>
            </a:r>
            <a:endParaRPr lang="en-US" sz="1100" dirty="0"/>
          </a:p>
        </p:txBody>
      </p:sp>
      <p:pic>
        <p:nvPicPr>
          <p:cNvPr id="9" name="Image 2" descr="preencoded.png">    </p:cNvPr>
          <p:cNvPicPr>
            <a:picLocks noChangeAspect="1"/>
          </p:cNvPicPr>
          <p:nvPr/>
        </p:nvPicPr>
        <p:blipFill>
          <a:blip r:embed="rId3"/>
          <a:stretch>
            <a:fillRect/>
          </a:stretch>
        </p:blipFill>
        <p:spPr>
          <a:xfrm>
            <a:off x="6048747" y="1760339"/>
            <a:ext cx="1143595" cy="706785"/>
          </a:xfrm>
          <a:prstGeom prst="rect">
            <a:avLst/>
          </a:prstGeom>
        </p:spPr>
      </p:pic>
      <p:sp>
        <p:nvSpPr>
          <p:cNvPr id="10" name="Text 5"/>
          <p:cNvSpPr/>
          <p:nvPr/>
        </p:nvSpPr>
        <p:spPr>
          <a:xfrm>
            <a:off x="6048747" y="2644304"/>
            <a:ext cx="1931268"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Emotional Calibration</a:t>
            </a:r>
            <a:endParaRPr lang="en-US" sz="1350" dirty="0"/>
          </a:p>
        </p:txBody>
      </p:sp>
      <p:sp>
        <p:nvSpPr>
          <p:cNvPr id="11" name="Text 6"/>
          <p:cNvSpPr/>
          <p:nvPr/>
        </p:nvSpPr>
        <p:spPr>
          <a:xfrm>
            <a:off x="6048747" y="2950815"/>
            <a:ext cx="2599134"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Objection reframing with adaptive pacing and goal clarity</a:t>
            </a:r>
            <a:endParaRPr lang="en-US" sz="1100" dirty="0"/>
          </a:p>
        </p:txBody>
      </p:sp>
      <p:sp>
        <p:nvSpPr>
          <p:cNvPr id="12" name="Text 7"/>
          <p:cNvSpPr/>
          <p:nvPr/>
        </p:nvSpPr>
        <p:spPr>
          <a:xfrm>
            <a:off x="708720" y="3723382"/>
            <a:ext cx="8396362"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If we want AI to behave human, we must </a:t>
            </a:r>
            <a:pPr algn="l" indent="0" marL="0">
              <a:lnSpc>
                <a:spcPct val="133000"/>
              </a:lnSpc>
              <a:buNone/>
            </a:pPr>
            <a:r>
              <a:rPr lang="en-US" sz="1100" b="1" dirty="0">
                <a:solidFill>
                  <a:srgbClr val="403C4E"/>
                </a:solidFill>
                <a:latin typeface="Open Sans" pitchFamily="34" charset="0"/>
                <a:ea typeface="Open Sans" pitchFamily="34" charset="-122"/>
                <a:cs typeface="Open Sans" pitchFamily="34" charset="-120"/>
              </a:rPr>
              <a:t>model behavior</a:t>
            </a:r>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 — not just responses.</a:t>
            </a:r>
            <a:endParaRPr lang="en-US" sz="1100" dirty="0"/>
          </a:p>
        </p:txBody>
      </p:sp>
      <p:sp>
        <p:nvSpPr>
          <p:cNvPr id="13" name="Shape 8"/>
          <p:cNvSpPr/>
          <p:nvPr/>
        </p:nvSpPr>
        <p:spPr>
          <a:xfrm>
            <a:off x="496119" y="3563913"/>
            <a:ext cx="19050" cy="545753"/>
          </a:xfrm>
          <a:prstGeom prst="rect">
            <a:avLst/>
          </a:prstGeom>
          <a:solidFill>
            <a:srgbClr val="FFAD94"/>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03759" y="381670"/>
            <a:ext cx="7793608" cy="148828"/>
          </a:xfrm>
          <a:prstGeom prst="rect">
            <a:avLst/>
          </a:prstGeom>
          <a:noFill/>
          <a:ln/>
        </p:spPr>
        <p:txBody>
          <a:bodyPr wrap="none" lIns="0" tIns="0" rIns="0" bIns="0" rtlCol="0" anchor="t"/>
          <a:lstStyle/>
          <a:p>
            <a:pPr algn="l" indent="0" marL="0">
              <a:lnSpc>
                <a:spcPct val="117000"/>
              </a:lnSpc>
              <a:buNone/>
            </a:pPr>
            <a:r>
              <a:rPr lang="en-US" sz="800" dirty="0">
                <a:solidFill>
                  <a:srgbClr val="403C4E"/>
                </a:solidFill>
                <a:latin typeface="Open Sans" pitchFamily="34" charset="0"/>
                <a:ea typeface="Open Sans" pitchFamily="34" charset="-122"/>
                <a:cs typeface="Open Sans" pitchFamily="34" charset="-120"/>
              </a:rPr>
              <a:t>From Anthropic's </a:t>
            </a:r>
            <a:pPr algn="l" indent="0" marL="0">
              <a:lnSpc>
                <a:spcPct val="117000"/>
              </a:lnSpc>
              <a:buNone/>
            </a:pPr>
            <a:r>
              <a:rPr lang="en-US" sz="800" b="1" dirty="0">
                <a:solidFill>
                  <a:srgbClr val="403C4E"/>
                </a:solidFill>
                <a:latin typeface="Open Sans" pitchFamily="34" charset="0"/>
                <a:ea typeface="Open Sans" pitchFamily="34" charset="-122"/>
                <a:cs typeface="Open Sans" pitchFamily="34" charset="-120"/>
              </a:rPr>
              <a:t>Prompting for Agents | Code w/ Claude</a:t>
            </a:r>
            <a:endParaRPr lang="en-US" sz="800" dirty="0"/>
          </a:p>
        </p:txBody>
      </p:sp>
      <p:pic>
        <p:nvPicPr>
          <p:cNvPr id="3" name="Image 0" descr="preencoded.png">    </p:cNvPr>
          <p:cNvPicPr>
            <a:picLocks noChangeAspect="1"/>
          </p:cNvPicPr>
          <p:nvPr/>
        </p:nvPicPr>
        <p:blipFill>
          <a:blip r:embed="rId1"/>
          <a:stretch>
            <a:fillRect/>
          </a:stretch>
        </p:blipFill>
        <p:spPr>
          <a:xfrm>
            <a:off x="903759" y="620167"/>
            <a:ext cx="7336408" cy="3587502"/>
          </a:xfrm>
          <a:prstGeom prst="rect">
            <a:avLst/>
          </a:prstGeom>
        </p:spPr>
      </p:pic>
      <p:sp>
        <p:nvSpPr>
          <p:cNvPr id="4" name="Text 1"/>
          <p:cNvSpPr/>
          <p:nvPr/>
        </p:nvSpPr>
        <p:spPr>
          <a:xfrm>
            <a:off x="903759" y="4297338"/>
            <a:ext cx="7336408" cy="536153"/>
          </a:xfrm>
          <a:prstGeom prst="rect">
            <a:avLst/>
          </a:prstGeom>
          <a:noFill/>
          <a:ln/>
        </p:spPr>
        <p:txBody>
          <a:bodyPr wrap="square" lIns="0" tIns="0" rIns="0" bIns="0" rtlCol="0" anchor="t"/>
          <a:lstStyle/>
          <a:p>
            <a:pPr algn="l" indent="0" marL="0">
              <a:lnSpc>
                <a:spcPct val="117000"/>
              </a:lnSpc>
              <a:spcAft>
                <a:spcPts val="1850"/>
              </a:spcAft>
              <a:buNone/>
            </a:pPr>
            <a:endParaRPr lang="en-US" sz="800" dirty="0"/>
          </a:p>
          <a:p>
            <a:pPr algn="l" indent="0" marL="0">
              <a:lnSpc>
                <a:spcPct val="117000"/>
              </a:lnSpc>
              <a:buNone/>
            </a:pPr>
            <a:r>
              <a:rPr lang="en-US" sz="800" b="1" dirty="0">
                <a:solidFill>
                  <a:srgbClr val="403C4E"/>
                </a:solidFill>
                <a:latin typeface="Open Sans" pitchFamily="34" charset="0"/>
                <a:ea typeface="Open Sans" pitchFamily="34" charset="-122"/>
                <a:cs typeface="Open Sans" pitchFamily="34" charset="-120"/>
              </a:rPr>
              <a:t>How to start:</a:t>
            </a:r>
            <a:pPr algn="l" indent="0" marL="0">
              <a:lnSpc>
                <a:spcPct val="117000"/>
              </a:lnSpc>
              <a:buNone/>
            </a:pPr>
            <a:r>
              <a:rPr lang="en-US" sz="800" dirty="0">
                <a:solidFill>
                  <a:srgbClr val="403C4E"/>
                </a:solidFill>
                <a:latin typeface="Open Sans" pitchFamily="34" charset="0"/>
                <a:ea typeface="Open Sans" pitchFamily="34" charset="-122"/>
                <a:cs typeface="Open Sans" pitchFamily="34" charset="-120"/>
              </a:rPr>
              <a:t> Avoid the anti-pattern of attempting to build a massive, fully automated suite of hundreds of test cases immediately. Start with a </a:t>
            </a:r>
            <a:pPr algn="l" indent="0" marL="0">
              <a:lnSpc>
                <a:spcPct val="117000"/>
              </a:lnSpc>
              <a:buNone/>
            </a:pPr>
            <a:r>
              <a:rPr lang="en-US" sz="800" b="1" dirty="0">
                <a:solidFill>
                  <a:srgbClr val="403C4E"/>
                </a:solidFill>
                <a:latin typeface="Open Sans" pitchFamily="34" charset="0"/>
                <a:ea typeface="Open Sans" pitchFamily="34" charset="-122"/>
                <a:cs typeface="Open Sans" pitchFamily="34" charset="-120"/>
              </a:rPr>
              <a:t>small, simple eval</a:t>
            </a:r>
            <a:pPr algn="l" indent="0" marL="0">
              <a:lnSpc>
                <a:spcPct val="117000"/>
              </a:lnSpc>
              <a:buNone/>
            </a:pPr>
            <a:r>
              <a:rPr lang="en-US" sz="800" dirty="0">
                <a:solidFill>
                  <a:srgbClr val="403C4E"/>
                </a:solidFill>
                <a:latin typeface="Open Sans" pitchFamily="34" charset="0"/>
                <a:ea typeface="Open Sans" pitchFamily="34" charset="-122"/>
                <a:cs typeface="Open Sans" pitchFamily="34" charset="-120"/>
              </a:rPr>
              <a:t>, which can even be done manually, to get started and gain initial signal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96119" y="1252612"/>
            <a:ext cx="754484" cy="266402"/>
          </a:xfrm>
          <a:prstGeom prst="roundRect">
            <a:avLst>
              <a:gd name="adj" fmla="val 17880"/>
            </a:avLst>
          </a:prstGeom>
          <a:solidFill>
            <a:srgbClr val="FFD8CC"/>
          </a:solidFill>
          <a:ln/>
        </p:spPr>
      </p:sp>
      <p:sp>
        <p:nvSpPr>
          <p:cNvPr id="3" name="Text 1"/>
          <p:cNvSpPr/>
          <p:nvPr/>
        </p:nvSpPr>
        <p:spPr>
          <a:xfrm>
            <a:off x="581174" y="1295102"/>
            <a:ext cx="1041574" cy="181421"/>
          </a:xfrm>
          <a:prstGeom prst="rect">
            <a:avLst/>
          </a:prstGeom>
          <a:noFill/>
          <a:ln/>
        </p:spPr>
        <p:txBody>
          <a:bodyPr wrap="none" lIns="0" tIns="0" rIns="0" bIns="0" rtlCol="0" anchor="t"/>
          <a:lstStyle/>
          <a:p>
            <a:pPr algn="l" indent="0" marL="0">
              <a:lnSpc>
                <a:spcPct val="133000"/>
              </a:lnSpc>
              <a:buNone/>
            </a:pPr>
            <a:r>
              <a:rPr lang="en-US" sz="850" dirty="0">
                <a:solidFill>
                  <a:srgbClr val="403C4E"/>
                </a:solidFill>
                <a:latin typeface="Open Sans" pitchFamily="34" charset="0"/>
                <a:ea typeface="Open Sans" pitchFamily="34" charset="-122"/>
                <a:cs typeface="Open Sans" pitchFamily="34" charset="-120"/>
              </a:rPr>
              <a:t>CHAPTER 4</a:t>
            </a:r>
            <a:endParaRPr lang="en-US" sz="850" dirty="0"/>
          </a:p>
        </p:txBody>
      </p:sp>
      <p:sp>
        <p:nvSpPr>
          <p:cNvPr id="4" name="Text 2"/>
          <p:cNvSpPr/>
          <p:nvPr/>
        </p:nvSpPr>
        <p:spPr>
          <a:xfrm>
            <a:off x="1321445" y="1295102"/>
            <a:ext cx="2177728" cy="181421"/>
          </a:xfrm>
          <a:prstGeom prst="rect">
            <a:avLst/>
          </a:prstGeom>
          <a:noFill/>
          <a:ln/>
        </p:spPr>
        <p:txBody>
          <a:bodyPr wrap="none" lIns="0" tIns="0" rIns="0" bIns="0" rtlCol="0" anchor="t"/>
          <a:lstStyle/>
          <a:p>
            <a:pPr algn="l" indent="0" marL="0">
              <a:lnSpc>
                <a:spcPct val="133000"/>
              </a:lnSpc>
              <a:buNone/>
            </a:pPr>
            <a:r>
              <a:rPr lang="en-US" sz="850" dirty="0">
                <a:solidFill>
                  <a:srgbClr val="FFAD94"/>
                </a:solidFill>
                <a:latin typeface="Open Sans" pitchFamily="34" charset="0"/>
                <a:ea typeface="Open Sans" pitchFamily="34" charset="-122"/>
                <a:cs typeface="Open Sans" pitchFamily="34" charset="-120"/>
              </a:rPr>
              <a:t>FROM SCRIPTED TO SYSTEMATIC</a:t>
            </a:r>
            <a:endParaRPr lang="en-US" sz="850" dirty="0"/>
          </a:p>
        </p:txBody>
      </p:sp>
      <p:sp>
        <p:nvSpPr>
          <p:cNvPr id="5" name="Text 3"/>
          <p:cNvSpPr/>
          <p:nvPr/>
        </p:nvSpPr>
        <p:spPr>
          <a:xfrm>
            <a:off x="496119" y="1575718"/>
            <a:ext cx="4001319"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Scripts vs. Systems</a:t>
            </a:r>
            <a:endParaRPr lang="en-US" sz="2750" dirty="0"/>
          </a:p>
        </p:txBody>
      </p:sp>
      <p:sp>
        <p:nvSpPr>
          <p:cNvPr id="6" name="Shape 4"/>
          <p:cNvSpPr/>
          <p:nvPr/>
        </p:nvSpPr>
        <p:spPr>
          <a:xfrm>
            <a:off x="394022" y="2231306"/>
            <a:ext cx="4107135" cy="1659582"/>
          </a:xfrm>
          <a:prstGeom prst="roundRect">
            <a:avLst>
              <a:gd name="adj" fmla="val 6151"/>
            </a:avLst>
          </a:prstGeom>
          <a:solidFill>
            <a:srgbClr val="FFAD94"/>
          </a:solidFill>
          <a:ln/>
        </p:spPr>
      </p:sp>
      <p:sp>
        <p:nvSpPr>
          <p:cNvPr id="7" name="Text 5"/>
          <p:cNvSpPr/>
          <p:nvPr/>
        </p:nvSpPr>
        <p:spPr>
          <a:xfrm>
            <a:off x="535781" y="2373064"/>
            <a:ext cx="2583656" cy="27057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Merriweather Bold" pitchFamily="34" charset="0"/>
                <a:ea typeface="Merriweather Bold" pitchFamily="34" charset="-122"/>
                <a:cs typeface="Merriweather Bold" pitchFamily="34" charset="-120"/>
              </a:rPr>
              <a:t>❌</a:t>
            </a:r>
            <a:pPr algn="l" indent="0" marL="0">
              <a:lnSpc>
                <a:spcPct val="104000"/>
              </a:lnSpc>
              <a:buNone/>
            </a:pPr>
            <a:r>
              <a:rPr lang="en-US" sz="1650" b="1" dirty="0">
                <a:solidFill>
                  <a:srgbClr val="403C4E"/>
                </a:solidFill>
                <a:latin typeface="Merriweather Bold" pitchFamily="34" charset="0"/>
                <a:ea typeface="Merriweather Bold" pitchFamily="34" charset="-122"/>
                <a:cs typeface="Merriweather Bold" pitchFamily="34" charset="-120"/>
              </a:rPr>
              <a:t> Scripted Agent</a:t>
            </a:r>
            <a:endParaRPr lang="en-US" sz="1650" dirty="0"/>
          </a:p>
        </p:txBody>
      </p:sp>
      <p:sp>
        <p:nvSpPr>
          <p:cNvPr id="8" name="Text 6"/>
          <p:cNvSpPr/>
          <p:nvPr/>
        </p:nvSpPr>
        <p:spPr>
          <a:xfrm>
            <a:off x="535781" y="2785393"/>
            <a:ext cx="3823618" cy="1055936"/>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Static flows with hardcoded branches</a:t>
            </a:r>
            <a:endParaRPr lang="en-US" sz="1100" dirty="0"/>
          </a:p>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Breaks the moment buyers go off-script</a:t>
            </a:r>
            <a:endParaRPr lang="en-US" sz="1100" dirty="0"/>
          </a:p>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No abstraction of intent</a:t>
            </a:r>
            <a:endParaRPr lang="en-US" sz="1100" dirty="0"/>
          </a:p>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No reasoning layer whatsoever</a:t>
            </a:r>
            <a:endParaRPr lang="en-US" sz="1100" dirty="0"/>
          </a:p>
        </p:txBody>
      </p:sp>
      <p:sp>
        <p:nvSpPr>
          <p:cNvPr id="9" name="Text 7"/>
          <p:cNvSpPr/>
          <p:nvPr/>
        </p:nvSpPr>
        <p:spPr>
          <a:xfrm>
            <a:off x="4749701" y="2373064"/>
            <a:ext cx="2595563" cy="27057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Merriweather Bold" pitchFamily="34" charset="0"/>
                <a:ea typeface="Merriweather Bold" pitchFamily="34" charset="-122"/>
                <a:cs typeface="Merriweather Bold" pitchFamily="34" charset="-120"/>
              </a:rPr>
              <a:t>✅</a:t>
            </a:r>
            <a:pPr algn="l" indent="0" marL="0">
              <a:lnSpc>
                <a:spcPct val="104000"/>
              </a:lnSpc>
              <a:buNone/>
            </a:pPr>
            <a:r>
              <a:rPr lang="en-US" sz="1650" b="1" dirty="0">
                <a:solidFill>
                  <a:srgbClr val="403C4E"/>
                </a:solidFill>
                <a:latin typeface="Merriweather Bold" pitchFamily="34" charset="0"/>
                <a:ea typeface="Merriweather Bold" pitchFamily="34" charset="-122"/>
                <a:cs typeface="Merriweather Bold" pitchFamily="34" charset="-120"/>
              </a:rPr>
              <a:t> Systematic Agent</a:t>
            </a:r>
            <a:endParaRPr lang="en-US" sz="1650" dirty="0"/>
          </a:p>
        </p:txBody>
      </p:sp>
      <p:sp>
        <p:nvSpPr>
          <p:cNvPr id="10" name="Text 8"/>
          <p:cNvSpPr/>
          <p:nvPr/>
        </p:nvSpPr>
        <p:spPr>
          <a:xfrm>
            <a:off x="4749701" y="2785393"/>
            <a:ext cx="3902943" cy="1055936"/>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Models intent and tracks conversation state</a:t>
            </a:r>
            <a:endParaRPr lang="en-US" sz="1100" dirty="0"/>
          </a:p>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Has explicit goals per interaction</a:t>
            </a:r>
            <a:endParaRPr lang="en-US" sz="1100" dirty="0"/>
          </a:p>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Makes real-time decisions with reasoning</a:t>
            </a:r>
            <a:endParaRPr lang="en-US" sz="1100" dirty="0"/>
          </a:p>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Uses persistent memory across sessions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34132" y="354360"/>
            <a:ext cx="660350" cy="223317"/>
          </a:xfrm>
          <a:prstGeom prst="roundRect">
            <a:avLst>
              <a:gd name="adj" fmla="val 18664"/>
            </a:avLst>
          </a:prstGeom>
          <a:solidFill>
            <a:srgbClr val="FFD8CC"/>
          </a:solidFill>
          <a:ln/>
        </p:spPr>
      </p:sp>
      <p:sp>
        <p:nvSpPr>
          <p:cNvPr id="3" name="Text 1"/>
          <p:cNvSpPr/>
          <p:nvPr/>
        </p:nvSpPr>
        <p:spPr>
          <a:xfrm>
            <a:off x="508546" y="391567"/>
            <a:ext cx="968722" cy="148903"/>
          </a:xfrm>
          <a:prstGeom prst="rect">
            <a:avLst/>
          </a:prstGeom>
          <a:noFill/>
          <a:ln/>
        </p:spPr>
        <p:txBody>
          <a:bodyPr wrap="none" lIns="0" tIns="0" rIns="0" bIns="0" rtlCol="0" anchor="t"/>
          <a:lstStyle/>
          <a:p>
            <a:pPr algn="l" indent="0" marL="0">
              <a:lnSpc>
                <a:spcPct val="125000"/>
              </a:lnSpc>
              <a:buNone/>
            </a:pPr>
            <a:r>
              <a:rPr lang="en-US" sz="750" dirty="0">
                <a:solidFill>
                  <a:srgbClr val="403C4E"/>
                </a:solidFill>
                <a:latin typeface="Open Sans" pitchFamily="34" charset="0"/>
                <a:ea typeface="Open Sans" pitchFamily="34" charset="-122"/>
                <a:cs typeface="Open Sans" pitchFamily="34" charset="-120"/>
              </a:rPr>
              <a:t>CHAPTER 4</a:t>
            </a:r>
            <a:endParaRPr lang="en-US" sz="750" dirty="0"/>
          </a:p>
        </p:txBody>
      </p:sp>
      <p:sp>
        <p:nvSpPr>
          <p:cNvPr id="4" name="Text 2"/>
          <p:cNvSpPr/>
          <p:nvPr/>
        </p:nvSpPr>
        <p:spPr>
          <a:xfrm>
            <a:off x="1156469" y="391567"/>
            <a:ext cx="1963043" cy="148903"/>
          </a:xfrm>
          <a:prstGeom prst="rect">
            <a:avLst/>
          </a:prstGeom>
          <a:noFill/>
          <a:ln/>
        </p:spPr>
        <p:txBody>
          <a:bodyPr wrap="none" lIns="0" tIns="0" rIns="0" bIns="0" rtlCol="0" anchor="t"/>
          <a:lstStyle/>
          <a:p>
            <a:pPr algn="l" indent="0" marL="0">
              <a:lnSpc>
                <a:spcPct val="125000"/>
              </a:lnSpc>
              <a:buNone/>
            </a:pPr>
            <a:r>
              <a:rPr lang="en-US" sz="750" dirty="0">
                <a:solidFill>
                  <a:srgbClr val="FFAD94"/>
                </a:solidFill>
                <a:latin typeface="Open Sans" pitchFamily="34" charset="0"/>
                <a:ea typeface="Open Sans" pitchFamily="34" charset="-122"/>
                <a:cs typeface="Open Sans" pitchFamily="34" charset="-120"/>
              </a:rPr>
              <a:t>FROM SCRIPTED TO SYSTEMATIC</a:t>
            </a:r>
            <a:endParaRPr lang="en-US" sz="750" dirty="0"/>
          </a:p>
        </p:txBody>
      </p:sp>
      <p:sp>
        <p:nvSpPr>
          <p:cNvPr id="5" name="Text 3"/>
          <p:cNvSpPr/>
          <p:nvPr/>
        </p:nvSpPr>
        <p:spPr>
          <a:xfrm>
            <a:off x="434132" y="621060"/>
            <a:ext cx="6358756" cy="387548"/>
          </a:xfrm>
          <a:prstGeom prst="rect">
            <a:avLst/>
          </a:prstGeom>
          <a:noFill/>
          <a:ln/>
        </p:spPr>
        <p:txBody>
          <a:bodyPr wrap="none" lIns="0" tIns="0" rIns="0" bIns="0" rtlCol="0" anchor="t"/>
          <a:lstStyle/>
          <a:p>
            <a:pPr algn="l" indent="0" marL="0">
              <a:lnSpc>
                <a:spcPct val="104000"/>
              </a:lnSpc>
              <a:buNone/>
            </a:pPr>
            <a:r>
              <a:rPr lang="en-US" sz="2400" b="1" dirty="0">
                <a:solidFill>
                  <a:srgbClr val="403C4E"/>
                </a:solidFill>
                <a:latin typeface="Merriweather Bold" pitchFamily="34" charset="0"/>
                <a:ea typeface="Merriweather Bold" pitchFamily="34" charset="-122"/>
                <a:cs typeface="Merriweather Bold" pitchFamily="34" charset="-120"/>
              </a:rPr>
              <a:t>Why User Feedback Can Be Misleading</a:t>
            </a:r>
            <a:endParaRPr lang="en-US" sz="2400" dirty="0"/>
          </a:p>
        </p:txBody>
      </p:sp>
      <p:sp>
        <p:nvSpPr>
          <p:cNvPr id="6" name="Text 4"/>
          <p:cNvSpPr/>
          <p:nvPr/>
        </p:nvSpPr>
        <p:spPr>
          <a:xfrm>
            <a:off x="434132" y="1279847"/>
            <a:ext cx="2954462" cy="193849"/>
          </a:xfrm>
          <a:prstGeom prst="rect">
            <a:avLst/>
          </a:prstGeom>
          <a:noFill/>
          <a:ln/>
        </p:spPr>
        <p:txBody>
          <a:bodyPr wrap="none" lIns="0" tIns="0" rIns="0" bIns="0" rtlCol="0" anchor="t"/>
          <a:lstStyle/>
          <a:p>
            <a:pPr algn="l" indent="0" marL="0">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Biased Sample: Rage &amp; Insomnia</a:t>
            </a:r>
            <a:endParaRPr lang="en-US" sz="1200" dirty="0"/>
          </a:p>
        </p:txBody>
      </p:sp>
      <p:sp>
        <p:nvSpPr>
          <p:cNvPr id="7" name="Text 5"/>
          <p:cNvSpPr/>
          <p:nvPr/>
        </p:nvSpPr>
        <p:spPr>
          <a:xfrm>
            <a:off x="434132" y="1582192"/>
            <a:ext cx="3986585" cy="930176"/>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403C4E"/>
                </a:solidFill>
                <a:latin typeface="Open Sans" pitchFamily="34" charset="0"/>
                <a:ea typeface="Open Sans" pitchFamily="34" charset="-122"/>
                <a:cs typeface="Open Sans" pitchFamily="34" charset="-120"/>
              </a:rPr>
              <a:t>Only two types of people leave feedback: the furious, driven by negative experiences, and the bored, with time to spare. Everyone else got what they needed and disappeared into the void—so your "data" is primarily derived from extremes, representing rage or idleness rather than typical user sentiment.</a:t>
            </a:r>
            <a:endParaRPr lang="en-US" sz="950" dirty="0"/>
          </a:p>
        </p:txBody>
      </p:sp>
      <p:sp>
        <p:nvSpPr>
          <p:cNvPr id="8" name="Text 6"/>
          <p:cNvSpPr/>
          <p:nvPr/>
        </p:nvSpPr>
        <p:spPr>
          <a:xfrm>
            <a:off x="4728046" y="1279847"/>
            <a:ext cx="3222054" cy="193849"/>
          </a:xfrm>
          <a:prstGeom prst="rect">
            <a:avLst/>
          </a:prstGeom>
          <a:noFill/>
          <a:ln/>
        </p:spPr>
        <p:txBody>
          <a:bodyPr wrap="none" lIns="0" tIns="0" rIns="0" bIns="0" rtlCol="0" anchor="t"/>
          <a:lstStyle/>
          <a:p>
            <a:pPr algn="l" indent="0" marL="0">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Noisy Signals: Emotion Over Insight</a:t>
            </a:r>
            <a:endParaRPr lang="en-US" sz="1200" dirty="0"/>
          </a:p>
        </p:txBody>
      </p:sp>
      <p:sp>
        <p:nvSpPr>
          <p:cNvPr id="9" name="Text 7"/>
          <p:cNvSpPr/>
          <p:nvPr/>
        </p:nvSpPr>
        <p:spPr>
          <a:xfrm>
            <a:off x="4728046" y="1582192"/>
            <a:ext cx="3986585" cy="934938"/>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403C4E"/>
                </a:solidFill>
                <a:latin typeface="Open Sans" pitchFamily="34" charset="0"/>
                <a:ea typeface="Open Sans" pitchFamily="34" charset="-122"/>
                <a:cs typeface="Open Sans" pitchFamily="34" charset="-120"/>
              </a:rPr>
              <a:t>Feedback often comes as emotional outbursts like "this sucks </a:t>
            </a:r>
            <a:pPr algn="l" indent="0" marL="0">
              <a:lnSpc>
                <a:spcPct val="125000"/>
              </a:lnSpc>
              <a:buNone/>
            </a:pPr>
            <a:r>
              <a:rPr lang="en-US" sz="950" dirty="0">
                <a:solidFill>
                  <a:srgbClr val="000000"/>
                </a:solidFill>
                <a:latin typeface="Open Sans" pitchFamily="34" charset="0"/>
                <a:ea typeface="Open Sans" pitchFamily="34" charset="-122"/>
                <a:cs typeface="Open Sans" pitchFamily="34" charset="-120"/>
              </a:rPr>
              <a:t>😡</a:t>
            </a:r>
            <a:pPr algn="l" indent="0" marL="0">
              <a:lnSpc>
                <a:spcPct val="125000"/>
              </a:lnSpc>
              <a:buNone/>
            </a:pPr>
            <a:r>
              <a:rPr lang="en-US" sz="950" dirty="0">
                <a:solidFill>
                  <a:srgbClr val="403C4E"/>
                </a:solidFill>
                <a:latin typeface="Open Sans" pitchFamily="34" charset="0"/>
                <a:ea typeface="Open Sans" pitchFamily="34" charset="-122"/>
                <a:cs typeface="Open Sans" pitchFamily="34" charset="-120"/>
              </a:rPr>
              <a:t>" with no context, or complaints about external factors like slow WiFi. This means you're often measuring emotional weather and external frustrations, not actual AI quality or actionable insights for improvement.</a:t>
            </a:r>
            <a:endParaRPr lang="en-US" sz="950" dirty="0"/>
          </a:p>
        </p:txBody>
      </p:sp>
      <p:pic>
        <p:nvPicPr>
          <p:cNvPr id="10" name="Image 0" descr="preencoded.png">    </p:cNvPr>
          <p:cNvPicPr>
            <a:picLocks noChangeAspect="1"/>
          </p:cNvPicPr>
          <p:nvPr/>
        </p:nvPicPr>
        <p:blipFill>
          <a:blip r:embed="rId1"/>
          <a:stretch>
            <a:fillRect/>
          </a:stretch>
        </p:blipFill>
        <p:spPr>
          <a:xfrm>
            <a:off x="434132" y="2736800"/>
            <a:ext cx="8275737" cy="20523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96119" y="1155353"/>
            <a:ext cx="754484" cy="266402"/>
          </a:xfrm>
          <a:prstGeom prst="roundRect">
            <a:avLst>
              <a:gd name="adj" fmla="val 17880"/>
            </a:avLst>
          </a:prstGeom>
          <a:solidFill>
            <a:srgbClr val="FFD8CC"/>
          </a:solidFill>
          <a:ln/>
        </p:spPr>
      </p:sp>
      <p:sp>
        <p:nvSpPr>
          <p:cNvPr id="3" name="Text 1"/>
          <p:cNvSpPr/>
          <p:nvPr/>
        </p:nvSpPr>
        <p:spPr>
          <a:xfrm>
            <a:off x="581174" y="1197843"/>
            <a:ext cx="1041574" cy="181421"/>
          </a:xfrm>
          <a:prstGeom prst="rect">
            <a:avLst/>
          </a:prstGeom>
          <a:noFill/>
          <a:ln/>
        </p:spPr>
        <p:txBody>
          <a:bodyPr wrap="none" lIns="0" tIns="0" rIns="0" bIns="0" rtlCol="0" anchor="t"/>
          <a:lstStyle/>
          <a:p>
            <a:pPr algn="l" indent="0" marL="0">
              <a:lnSpc>
                <a:spcPct val="133000"/>
              </a:lnSpc>
              <a:buNone/>
            </a:pPr>
            <a:r>
              <a:rPr lang="en-US" sz="850" dirty="0">
                <a:solidFill>
                  <a:srgbClr val="403C4E"/>
                </a:solidFill>
                <a:latin typeface="Open Sans" pitchFamily="34" charset="0"/>
                <a:ea typeface="Open Sans" pitchFamily="34" charset="-122"/>
                <a:cs typeface="Open Sans" pitchFamily="34" charset="-120"/>
              </a:rPr>
              <a:t>CHAPTER 5</a:t>
            </a:r>
            <a:endParaRPr lang="en-US" sz="850" dirty="0"/>
          </a:p>
        </p:txBody>
      </p:sp>
      <p:sp>
        <p:nvSpPr>
          <p:cNvPr id="4" name="Text 2"/>
          <p:cNvSpPr/>
          <p:nvPr/>
        </p:nvSpPr>
        <p:spPr>
          <a:xfrm>
            <a:off x="1321445" y="1197843"/>
            <a:ext cx="1679972" cy="181421"/>
          </a:xfrm>
          <a:prstGeom prst="rect">
            <a:avLst/>
          </a:prstGeom>
          <a:noFill/>
          <a:ln/>
        </p:spPr>
        <p:txBody>
          <a:bodyPr wrap="none" lIns="0" tIns="0" rIns="0" bIns="0" rtlCol="0" anchor="t"/>
          <a:lstStyle/>
          <a:p>
            <a:pPr algn="l" indent="0" marL="0">
              <a:lnSpc>
                <a:spcPct val="133000"/>
              </a:lnSpc>
              <a:buNone/>
            </a:pPr>
            <a:r>
              <a:rPr lang="en-US" sz="850" dirty="0">
                <a:solidFill>
                  <a:srgbClr val="FFAD94"/>
                </a:solidFill>
                <a:latin typeface="Open Sans" pitchFamily="34" charset="0"/>
                <a:ea typeface="Open Sans" pitchFamily="34" charset="-122"/>
                <a:cs typeface="Open Sans" pitchFamily="34" charset="-120"/>
              </a:rPr>
              <a:t>MODELING DISCOVERY</a:t>
            </a:r>
            <a:endParaRPr lang="en-US" sz="850" dirty="0"/>
          </a:p>
        </p:txBody>
      </p:sp>
      <p:sp>
        <p:nvSpPr>
          <p:cNvPr id="5" name="Text 3"/>
          <p:cNvSpPr/>
          <p:nvPr/>
        </p:nvSpPr>
        <p:spPr>
          <a:xfrm>
            <a:off x="496119" y="1478459"/>
            <a:ext cx="7001694"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Discovery Is a System, Not a Question</a:t>
            </a:r>
            <a:endParaRPr lang="en-US" sz="2750" dirty="0"/>
          </a:p>
        </p:txBody>
      </p:sp>
      <p:sp>
        <p:nvSpPr>
          <p:cNvPr id="6" name="Text 4"/>
          <p:cNvSpPr/>
          <p:nvPr/>
        </p:nvSpPr>
        <p:spPr>
          <a:xfrm>
            <a:off x="496119" y="2134046"/>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Great discovery isn't a checklist — it's a </a:t>
            </a:r>
            <a:pPr algn="l" indent="0" marL="0">
              <a:lnSpc>
                <a:spcPct val="133000"/>
              </a:lnSpc>
              <a:buNone/>
            </a:pPr>
            <a:r>
              <a:rPr lang="en-US" sz="1100" b="1" dirty="0">
                <a:solidFill>
                  <a:srgbClr val="403C4E"/>
                </a:solidFill>
                <a:latin typeface="Open Sans" pitchFamily="34" charset="0"/>
                <a:ea typeface="Open Sans" pitchFamily="34" charset="-122"/>
                <a:cs typeface="Open Sans" pitchFamily="34" charset="-120"/>
              </a:rPr>
              <a:t>structured system</a:t>
            </a:r>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 that unfolds based on what you learn. Each stage builds on the last, moving from problem identification to a clear definition of success.</a:t>
            </a:r>
            <a:endParaRPr lang="en-US" sz="1100" dirty="0"/>
          </a:p>
        </p:txBody>
      </p:sp>
      <p:sp>
        <p:nvSpPr>
          <p:cNvPr id="7" name="Shape 5"/>
          <p:cNvSpPr/>
          <p:nvPr/>
        </p:nvSpPr>
        <p:spPr>
          <a:xfrm>
            <a:off x="496119" y="2747144"/>
            <a:ext cx="8151763" cy="1240929"/>
          </a:xfrm>
          <a:prstGeom prst="roundRect">
            <a:avLst>
              <a:gd name="adj" fmla="val 4798"/>
            </a:avLst>
          </a:prstGeom>
          <a:solidFill>
            <a:srgbClr val="FFD8CC"/>
          </a:solidFill>
          <a:ln w="4763">
            <a:solidFill>
              <a:srgbClr val="E5BEB2"/>
            </a:solidFill>
            <a:prstDash val="solid"/>
          </a:ln>
        </p:spPr>
      </p:sp>
      <p:sp>
        <p:nvSpPr>
          <p:cNvPr id="8" name="Shape 6"/>
          <p:cNvSpPr/>
          <p:nvPr/>
        </p:nvSpPr>
        <p:spPr>
          <a:xfrm>
            <a:off x="500881" y="2751906"/>
            <a:ext cx="2714030" cy="726430"/>
          </a:xfrm>
          <a:prstGeom prst="roundRect">
            <a:avLst>
              <a:gd name="adj" fmla="val 8197"/>
            </a:avLst>
          </a:prstGeom>
          <a:solidFill>
            <a:srgbClr val="FFD8CC"/>
          </a:solidFill>
          <a:ln/>
        </p:spPr>
      </p:sp>
      <p:sp>
        <p:nvSpPr>
          <p:cNvPr id="9" name="Text 7"/>
          <p:cNvSpPr/>
          <p:nvPr/>
        </p:nvSpPr>
        <p:spPr>
          <a:xfrm>
            <a:off x="642640" y="2893665"/>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Identify Problem</a:t>
            </a:r>
            <a:endParaRPr lang="en-US" sz="1350" dirty="0"/>
          </a:p>
        </p:txBody>
      </p:sp>
      <p:sp>
        <p:nvSpPr>
          <p:cNvPr id="10" name="Shape 8"/>
          <p:cNvSpPr/>
          <p:nvPr/>
        </p:nvSpPr>
        <p:spPr>
          <a:xfrm>
            <a:off x="3214911" y="2751906"/>
            <a:ext cx="2714104" cy="726430"/>
          </a:xfrm>
          <a:prstGeom prst="rect">
            <a:avLst/>
          </a:prstGeom>
          <a:solidFill>
            <a:srgbClr val="FFD8CC"/>
          </a:solidFill>
          <a:ln/>
        </p:spPr>
      </p:sp>
      <p:sp>
        <p:nvSpPr>
          <p:cNvPr id="11" name="Shape 9"/>
          <p:cNvSpPr/>
          <p:nvPr/>
        </p:nvSpPr>
        <p:spPr>
          <a:xfrm>
            <a:off x="3214911" y="2751906"/>
            <a:ext cx="19050" cy="726430"/>
          </a:xfrm>
          <a:prstGeom prst="roundRect">
            <a:avLst>
              <a:gd name="adj" fmla="val 312558"/>
            </a:avLst>
          </a:prstGeom>
          <a:solidFill>
            <a:srgbClr val="E5BEB2"/>
          </a:solidFill>
          <a:ln/>
        </p:spPr>
      </p:sp>
      <p:sp>
        <p:nvSpPr>
          <p:cNvPr id="12" name="Text 10"/>
          <p:cNvSpPr/>
          <p:nvPr/>
        </p:nvSpPr>
        <p:spPr>
          <a:xfrm>
            <a:off x="3569271" y="2893665"/>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Quantify Impact</a:t>
            </a:r>
            <a:endParaRPr lang="en-US" sz="1350" dirty="0"/>
          </a:p>
        </p:txBody>
      </p:sp>
      <p:sp>
        <p:nvSpPr>
          <p:cNvPr id="13" name="Shape 11"/>
          <p:cNvSpPr/>
          <p:nvPr/>
        </p:nvSpPr>
        <p:spPr>
          <a:xfrm>
            <a:off x="3037731" y="2937942"/>
            <a:ext cx="354360" cy="354360"/>
          </a:xfrm>
          <a:prstGeom prst="roundRect">
            <a:avLst>
              <a:gd name="adj" fmla="val 16803"/>
            </a:avLst>
          </a:prstGeom>
          <a:solidFill>
            <a:srgbClr val="FFFFFF"/>
          </a:solidFill>
          <a:ln w="19050">
            <a:solidFill>
              <a:srgbClr val="E5BEB2"/>
            </a:solidFill>
            <a:prstDash val="solid"/>
          </a:ln>
        </p:spPr>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26284" y="3026494"/>
            <a:ext cx="177180" cy="177180"/>
          </a:xfrm>
          <a:prstGeom prst="rect">
            <a:avLst/>
          </a:prstGeom>
        </p:spPr>
      </p:pic>
      <p:sp>
        <p:nvSpPr>
          <p:cNvPr id="15" name="Shape 12"/>
          <p:cNvSpPr/>
          <p:nvPr/>
        </p:nvSpPr>
        <p:spPr>
          <a:xfrm>
            <a:off x="5929015" y="2751906"/>
            <a:ext cx="2714104" cy="726430"/>
          </a:xfrm>
          <a:prstGeom prst="rect">
            <a:avLst/>
          </a:prstGeom>
          <a:solidFill>
            <a:srgbClr val="FFD8CC"/>
          </a:solidFill>
          <a:ln/>
        </p:spPr>
      </p:sp>
      <p:sp>
        <p:nvSpPr>
          <p:cNvPr id="16" name="Shape 13"/>
          <p:cNvSpPr/>
          <p:nvPr/>
        </p:nvSpPr>
        <p:spPr>
          <a:xfrm>
            <a:off x="5929015" y="2751906"/>
            <a:ext cx="19050" cy="726430"/>
          </a:xfrm>
          <a:prstGeom prst="roundRect">
            <a:avLst>
              <a:gd name="adj" fmla="val 312558"/>
            </a:avLst>
          </a:prstGeom>
          <a:solidFill>
            <a:srgbClr val="E5BEB2"/>
          </a:solidFill>
          <a:ln/>
        </p:spPr>
      </p:sp>
      <p:sp>
        <p:nvSpPr>
          <p:cNvPr id="17" name="Text 14"/>
          <p:cNvSpPr/>
          <p:nvPr/>
        </p:nvSpPr>
        <p:spPr>
          <a:xfrm>
            <a:off x="6283375" y="2893665"/>
            <a:ext cx="2217986" cy="442913"/>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Understand Current Solution</a:t>
            </a:r>
            <a:endParaRPr lang="en-US" sz="1350" dirty="0"/>
          </a:p>
        </p:txBody>
      </p:sp>
      <p:sp>
        <p:nvSpPr>
          <p:cNvPr id="18" name="Shape 15"/>
          <p:cNvSpPr/>
          <p:nvPr/>
        </p:nvSpPr>
        <p:spPr>
          <a:xfrm>
            <a:off x="5751835" y="2937942"/>
            <a:ext cx="354360" cy="354360"/>
          </a:xfrm>
          <a:prstGeom prst="roundRect">
            <a:avLst>
              <a:gd name="adj" fmla="val 16803"/>
            </a:avLst>
          </a:prstGeom>
          <a:solidFill>
            <a:srgbClr val="FFFFFF"/>
          </a:solidFill>
          <a:ln w="19050">
            <a:solidFill>
              <a:srgbClr val="E5BEB2"/>
            </a:solidFill>
            <a:prstDash val="solid"/>
          </a:ln>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40388" y="3026494"/>
            <a:ext cx="177180" cy="177180"/>
          </a:xfrm>
          <a:prstGeom prst="rect">
            <a:avLst/>
          </a:prstGeom>
        </p:spPr>
      </p:pic>
      <p:sp>
        <p:nvSpPr>
          <p:cNvPr id="20" name="Shape 16"/>
          <p:cNvSpPr/>
          <p:nvPr/>
        </p:nvSpPr>
        <p:spPr>
          <a:xfrm>
            <a:off x="500881" y="3478337"/>
            <a:ext cx="4071119" cy="504974"/>
          </a:xfrm>
          <a:prstGeom prst="rect">
            <a:avLst/>
          </a:prstGeom>
          <a:solidFill>
            <a:srgbClr val="FFD8CC"/>
          </a:solidFill>
          <a:ln/>
        </p:spPr>
      </p:sp>
      <p:sp>
        <p:nvSpPr>
          <p:cNvPr id="21" name="Shape 17"/>
          <p:cNvSpPr/>
          <p:nvPr/>
        </p:nvSpPr>
        <p:spPr>
          <a:xfrm>
            <a:off x="500881" y="3478337"/>
            <a:ext cx="4071119" cy="19050"/>
          </a:xfrm>
          <a:prstGeom prst="roundRect">
            <a:avLst>
              <a:gd name="adj" fmla="val 312558"/>
            </a:avLst>
          </a:prstGeom>
          <a:solidFill>
            <a:srgbClr val="E5BEB2"/>
          </a:solidFill>
          <a:ln/>
        </p:spPr>
      </p:sp>
      <p:sp>
        <p:nvSpPr>
          <p:cNvPr id="22" name="Text 18"/>
          <p:cNvSpPr/>
          <p:nvPr/>
        </p:nvSpPr>
        <p:spPr>
          <a:xfrm>
            <a:off x="642640" y="3620095"/>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Surface Constraints</a:t>
            </a:r>
            <a:endParaRPr lang="en-US" sz="1350" dirty="0"/>
          </a:p>
        </p:txBody>
      </p:sp>
      <p:sp>
        <p:nvSpPr>
          <p:cNvPr id="23" name="Shape 19"/>
          <p:cNvSpPr/>
          <p:nvPr/>
        </p:nvSpPr>
        <p:spPr>
          <a:xfrm>
            <a:off x="4572000" y="3478337"/>
            <a:ext cx="4071119" cy="504974"/>
          </a:xfrm>
          <a:prstGeom prst="rect">
            <a:avLst/>
          </a:prstGeom>
          <a:solidFill>
            <a:srgbClr val="FFD8CC"/>
          </a:solidFill>
          <a:ln/>
        </p:spPr>
      </p:sp>
      <p:sp>
        <p:nvSpPr>
          <p:cNvPr id="24" name="Shape 20"/>
          <p:cNvSpPr/>
          <p:nvPr/>
        </p:nvSpPr>
        <p:spPr>
          <a:xfrm>
            <a:off x="4572000" y="3478337"/>
            <a:ext cx="19050" cy="504974"/>
          </a:xfrm>
          <a:prstGeom prst="roundRect">
            <a:avLst>
              <a:gd name="adj" fmla="val 312558"/>
            </a:avLst>
          </a:prstGeom>
          <a:solidFill>
            <a:srgbClr val="E5BEB2"/>
          </a:solidFill>
          <a:ln/>
        </p:spPr>
      </p:sp>
      <p:sp>
        <p:nvSpPr>
          <p:cNvPr id="25" name="Shape 21"/>
          <p:cNvSpPr/>
          <p:nvPr/>
        </p:nvSpPr>
        <p:spPr>
          <a:xfrm>
            <a:off x="4572000" y="3478337"/>
            <a:ext cx="4071119" cy="19050"/>
          </a:xfrm>
          <a:prstGeom prst="roundRect">
            <a:avLst>
              <a:gd name="adj" fmla="val 312558"/>
            </a:avLst>
          </a:prstGeom>
          <a:solidFill>
            <a:srgbClr val="E5BEB2"/>
          </a:solidFill>
          <a:ln/>
        </p:spPr>
      </p:sp>
      <p:sp>
        <p:nvSpPr>
          <p:cNvPr id="26" name="Text 22"/>
          <p:cNvSpPr/>
          <p:nvPr/>
        </p:nvSpPr>
        <p:spPr>
          <a:xfrm>
            <a:off x="4926360" y="3620095"/>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Define Success</a:t>
            </a:r>
            <a:endParaRPr lang="en-US" sz="1350" dirty="0"/>
          </a:p>
        </p:txBody>
      </p:sp>
      <p:sp>
        <p:nvSpPr>
          <p:cNvPr id="27" name="Shape 23"/>
          <p:cNvSpPr/>
          <p:nvPr/>
        </p:nvSpPr>
        <p:spPr>
          <a:xfrm>
            <a:off x="4394820" y="3553644"/>
            <a:ext cx="354360" cy="354360"/>
          </a:xfrm>
          <a:prstGeom prst="roundRect">
            <a:avLst>
              <a:gd name="adj" fmla="val 16803"/>
            </a:avLst>
          </a:prstGeom>
          <a:solidFill>
            <a:srgbClr val="FFFFFF"/>
          </a:solidFill>
          <a:ln w="19050">
            <a:solidFill>
              <a:srgbClr val="E5BEB2"/>
            </a:solidFill>
            <a:prstDash val="solid"/>
          </a:ln>
        </p:spPr>
      </p:sp>
      <p:pic>
        <p:nvPicPr>
          <p:cNvPr id="2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83373" y="3642196"/>
            <a:ext cx="177180" cy="1771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578248"/>
          </a:xfrm>
          <a:prstGeom prst="rect">
            <a:avLst/>
          </a:prstGeom>
        </p:spPr>
      </p:pic>
      <p:sp>
        <p:nvSpPr>
          <p:cNvPr id="3" name="Shape 0"/>
          <p:cNvSpPr/>
          <p:nvPr/>
        </p:nvSpPr>
        <p:spPr>
          <a:xfrm>
            <a:off x="441871" y="1954039"/>
            <a:ext cx="671810" cy="228451"/>
          </a:xfrm>
          <a:prstGeom prst="roundRect">
            <a:avLst>
              <a:gd name="adj" fmla="val 18570"/>
            </a:avLst>
          </a:prstGeom>
          <a:solidFill>
            <a:srgbClr val="FFD8CC"/>
          </a:solidFill>
          <a:ln/>
        </p:spPr>
      </p:sp>
      <p:sp>
        <p:nvSpPr>
          <p:cNvPr id="4" name="Text 1"/>
          <p:cNvSpPr/>
          <p:nvPr/>
        </p:nvSpPr>
        <p:spPr>
          <a:xfrm>
            <a:off x="517624" y="1991916"/>
            <a:ext cx="977503" cy="152698"/>
          </a:xfrm>
          <a:prstGeom prst="rect">
            <a:avLst/>
          </a:prstGeom>
          <a:noFill/>
          <a:ln/>
        </p:spPr>
        <p:txBody>
          <a:bodyPr wrap="none" lIns="0" tIns="0" rIns="0" bIns="0" rtlCol="0" anchor="t"/>
          <a:lstStyle/>
          <a:p>
            <a:pPr algn="l" indent="0" marL="0">
              <a:lnSpc>
                <a:spcPct val="126000"/>
              </a:lnSpc>
              <a:buNone/>
            </a:pPr>
            <a:r>
              <a:rPr lang="en-US" sz="750" dirty="0">
                <a:solidFill>
                  <a:srgbClr val="403C4E"/>
                </a:solidFill>
                <a:latin typeface="Open Sans" pitchFamily="34" charset="0"/>
                <a:ea typeface="Open Sans" pitchFamily="34" charset="-122"/>
                <a:cs typeface="Open Sans" pitchFamily="34" charset="-120"/>
              </a:rPr>
              <a:t>CHAPTER 5</a:t>
            </a:r>
            <a:endParaRPr lang="en-US" sz="750" dirty="0"/>
          </a:p>
        </p:txBody>
      </p:sp>
      <p:sp>
        <p:nvSpPr>
          <p:cNvPr id="5" name="Text 2"/>
          <p:cNvSpPr/>
          <p:nvPr/>
        </p:nvSpPr>
        <p:spPr>
          <a:xfrm>
            <a:off x="1176784" y="1991916"/>
            <a:ext cx="1545878" cy="152698"/>
          </a:xfrm>
          <a:prstGeom prst="rect">
            <a:avLst/>
          </a:prstGeom>
          <a:noFill/>
          <a:ln/>
        </p:spPr>
        <p:txBody>
          <a:bodyPr wrap="none" lIns="0" tIns="0" rIns="0" bIns="0" rtlCol="0" anchor="t"/>
          <a:lstStyle/>
          <a:p>
            <a:pPr algn="l" indent="0" marL="0">
              <a:lnSpc>
                <a:spcPct val="126000"/>
              </a:lnSpc>
              <a:buNone/>
            </a:pPr>
            <a:r>
              <a:rPr lang="en-US" sz="750" dirty="0">
                <a:solidFill>
                  <a:srgbClr val="FFAD94"/>
                </a:solidFill>
                <a:latin typeface="Open Sans" pitchFamily="34" charset="0"/>
                <a:ea typeface="Open Sans" pitchFamily="34" charset="-122"/>
                <a:cs typeface="Open Sans" pitchFamily="34" charset="-120"/>
              </a:rPr>
              <a:t>MODELING DISCOVERY</a:t>
            </a:r>
            <a:endParaRPr lang="en-US" sz="750" dirty="0"/>
          </a:p>
        </p:txBody>
      </p:sp>
      <p:sp>
        <p:nvSpPr>
          <p:cNvPr id="6" name="Text 3"/>
          <p:cNvSpPr/>
          <p:nvPr/>
        </p:nvSpPr>
        <p:spPr>
          <a:xfrm>
            <a:off x="441871" y="2227436"/>
            <a:ext cx="5071616" cy="394543"/>
          </a:xfrm>
          <a:prstGeom prst="rect">
            <a:avLst/>
          </a:prstGeom>
          <a:noFill/>
          <a:ln/>
        </p:spPr>
        <p:txBody>
          <a:bodyPr wrap="none" lIns="0" tIns="0" rIns="0" bIns="0" rtlCol="0" anchor="t"/>
          <a:lstStyle/>
          <a:p>
            <a:pPr algn="l" indent="0" marL="0">
              <a:lnSpc>
                <a:spcPct val="104000"/>
              </a:lnSpc>
              <a:buNone/>
            </a:pPr>
            <a:r>
              <a:rPr lang="en-US" sz="2450" b="1" dirty="0">
                <a:solidFill>
                  <a:srgbClr val="403C4E"/>
                </a:solidFill>
                <a:latin typeface="Merriweather Bold" pitchFamily="34" charset="0"/>
                <a:ea typeface="Merriweather Bold" pitchFamily="34" charset="-122"/>
                <a:cs typeface="Merriweather Bold" pitchFamily="34" charset="-120"/>
              </a:rPr>
              <a:t>What Is Discovery? (Sales 101)</a:t>
            </a:r>
            <a:endParaRPr lang="en-US" sz="2450" dirty="0"/>
          </a:p>
        </p:txBody>
      </p:sp>
      <p:sp>
        <p:nvSpPr>
          <p:cNvPr id="7" name="Text 4"/>
          <p:cNvSpPr/>
          <p:nvPr/>
        </p:nvSpPr>
        <p:spPr>
          <a:xfrm>
            <a:off x="441871" y="2790602"/>
            <a:ext cx="8260259" cy="508397"/>
          </a:xfrm>
          <a:prstGeom prst="rect">
            <a:avLst/>
          </a:prstGeom>
          <a:noFill/>
          <a:ln/>
        </p:spPr>
        <p:txBody>
          <a:bodyPr wrap="square" lIns="0" tIns="0" rIns="0" bIns="0" rtlCol="0" anchor="t"/>
          <a:lstStyle/>
          <a:p>
            <a:pPr algn="l" indent="0" marL="0">
              <a:lnSpc>
                <a:spcPct val="126000"/>
              </a:lnSpc>
              <a:buNone/>
            </a:pPr>
            <a:r>
              <a:rPr lang="en-US" sz="950" dirty="0">
                <a:solidFill>
                  <a:srgbClr val="403C4E"/>
                </a:solidFill>
                <a:latin typeface="Open Sans" pitchFamily="34" charset="0"/>
                <a:ea typeface="Open Sans" pitchFamily="34" charset="-122"/>
                <a:cs typeface="Open Sans" pitchFamily="34" charset="-120"/>
              </a:rPr>
              <a:t>Discovery is the process of </a:t>
            </a:r>
            <a:pPr algn="l" indent="0" marL="0">
              <a:lnSpc>
                <a:spcPct val="126000"/>
              </a:lnSpc>
              <a:buNone/>
            </a:pPr>
            <a:r>
              <a:rPr lang="en-US" sz="950" b="1" dirty="0">
                <a:solidFill>
                  <a:srgbClr val="403C4E"/>
                </a:solidFill>
                <a:latin typeface="Open Sans" pitchFamily="34" charset="0"/>
                <a:ea typeface="Open Sans" pitchFamily="34" charset="-122"/>
                <a:cs typeface="Open Sans" pitchFamily="34" charset="-120"/>
              </a:rPr>
              <a:t>diagnosing before prescribing</a:t>
            </a:r>
            <a:pPr algn="l" indent="0" marL="0">
              <a:lnSpc>
                <a:spcPct val="126000"/>
              </a:lnSpc>
              <a:spcAft>
                <a:spcPts val="950"/>
              </a:spcAft>
              <a:buNone/>
            </a:pPr>
            <a:r>
              <a:rPr lang="en-US" sz="950" dirty="0">
                <a:solidFill>
                  <a:srgbClr val="403C4E"/>
                </a:solidFill>
                <a:latin typeface="Open Sans" pitchFamily="34" charset="0"/>
                <a:ea typeface="Open Sans" pitchFamily="34" charset="-122"/>
                <a:cs typeface="Open Sans" pitchFamily="34" charset="-120"/>
              </a:rPr>
              <a:t>. A great sales rep does not start with a pitch. They start with understanding.</a:t>
            </a:r>
            <a:endParaRPr lang="en-US" sz="950" dirty="0"/>
          </a:p>
          <a:p>
            <a:pPr algn="l" indent="0" marL="0">
              <a:lnSpc>
                <a:spcPct val="126000"/>
              </a:lnSpc>
              <a:buNone/>
            </a:pPr>
            <a:r>
              <a:rPr lang="en-US" sz="950" dirty="0">
                <a:solidFill>
                  <a:srgbClr val="403C4E"/>
                </a:solidFill>
                <a:latin typeface="Open Sans" pitchFamily="34" charset="0"/>
                <a:ea typeface="Open Sans" pitchFamily="34" charset="-122"/>
                <a:cs typeface="Open Sans" pitchFamily="34" charset="-120"/>
              </a:rPr>
              <a:t>Discovery answers:</a:t>
            </a:r>
            <a:endParaRPr lang="en-US" sz="950" dirty="0"/>
          </a:p>
        </p:txBody>
      </p:sp>
      <p:sp>
        <p:nvSpPr>
          <p:cNvPr id="8" name="Text 5"/>
          <p:cNvSpPr/>
          <p:nvPr/>
        </p:nvSpPr>
        <p:spPr>
          <a:xfrm>
            <a:off x="441871" y="3425503"/>
            <a:ext cx="8260259" cy="1342132"/>
          </a:xfrm>
          <a:prstGeom prst="rect">
            <a:avLst/>
          </a:prstGeom>
          <a:noFill/>
          <a:ln/>
        </p:spPr>
        <p:txBody>
          <a:bodyPr wrap="square" lIns="0" tIns="0" rIns="0" bIns="0" rtlCol="0" anchor="t">
            <a:normAutofit/>
          </a:bodyPr>
          <a:lstStyle/>
          <a:p>
            <a:pPr algn="l" marL="342900" indent="-342900">
              <a:lnSpc>
                <a:spcPct val="126000"/>
              </a:lnSpc>
              <a:buSzPct val="100000"/>
              <a:buChar char="•"/>
            </a:pPr>
            <a:r>
              <a:rPr lang="en-US" sz="950" dirty="0">
                <a:solidFill>
                  <a:srgbClr val="403C4E"/>
                </a:solidFill>
                <a:latin typeface="Open Sans" pitchFamily="34" charset="0"/>
                <a:ea typeface="Open Sans" pitchFamily="34" charset="-122"/>
                <a:cs typeface="Open Sans" pitchFamily="34" charset="-120"/>
              </a:rPr>
              <a:t>What problem are they actually trying to solve?</a:t>
            </a:r>
            <a:endParaRPr lang="en-US" sz="950" dirty="0"/>
          </a:p>
          <a:p>
            <a:pPr algn="l" marL="342900" indent="-342900">
              <a:lnSpc>
                <a:spcPct val="126000"/>
              </a:lnSpc>
              <a:buSzPct val="100000"/>
              <a:buChar char="•"/>
            </a:pPr>
            <a:r>
              <a:rPr lang="en-US" sz="950" dirty="0">
                <a:solidFill>
                  <a:srgbClr val="403C4E"/>
                </a:solidFill>
                <a:latin typeface="Open Sans" pitchFamily="34" charset="0"/>
                <a:ea typeface="Open Sans" pitchFamily="34" charset="-122"/>
                <a:cs typeface="Open Sans" pitchFamily="34" charset="-120"/>
              </a:rPr>
              <a:t>How painful is it? (quantification of impact)</a:t>
            </a:r>
            <a:endParaRPr lang="en-US" sz="950" dirty="0"/>
          </a:p>
          <a:p>
            <a:pPr algn="l" marL="342900" indent="-342900">
              <a:lnSpc>
                <a:spcPct val="126000"/>
              </a:lnSpc>
              <a:buSzPct val="100000"/>
              <a:buChar char="•"/>
            </a:pPr>
            <a:r>
              <a:rPr lang="en-US" sz="950" dirty="0">
                <a:solidFill>
                  <a:srgbClr val="403C4E"/>
                </a:solidFill>
                <a:latin typeface="Open Sans" pitchFamily="34" charset="0"/>
                <a:ea typeface="Open Sans" pitchFamily="34" charset="-122"/>
                <a:cs typeface="Open Sans" pitchFamily="34" charset="-120"/>
              </a:rPr>
              <a:t>What happens if they do nothing? (cost of inaction)</a:t>
            </a:r>
            <a:endParaRPr lang="en-US" sz="950" dirty="0"/>
          </a:p>
          <a:p>
            <a:pPr algn="l" marL="342900" indent="-342900">
              <a:lnSpc>
                <a:spcPct val="126000"/>
              </a:lnSpc>
              <a:buSzPct val="100000"/>
              <a:buChar char="•"/>
            </a:pPr>
            <a:r>
              <a:rPr lang="en-US" sz="950" dirty="0">
                <a:solidFill>
                  <a:srgbClr val="403C4E"/>
                </a:solidFill>
                <a:latin typeface="Open Sans" pitchFamily="34" charset="0"/>
                <a:ea typeface="Open Sans" pitchFamily="34" charset="-122"/>
                <a:cs typeface="Open Sans" pitchFamily="34" charset="-120"/>
              </a:rPr>
              <a:t>How are they solving it today? (current state analysis)</a:t>
            </a:r>
            <a:endParaRPr lang="en-US" sz="950" dirty="0"/>
          </a:p>
          <a:p>
            <a:pPr algn="l" marL="342900" indent="-342900">
              <a:lnSpc>
                <a:spcPct val="126000"/>
              </a:lnSpc>
              <a:buSzPct val="100000"/>
              <a:buChar char="•"/>
            </a:pPr>
            <a:r>
              <a:rPr lang="en-US" sz="950" dirty="0">
                <a:solidFill>
                  <a:srgbClr val="403C4E"/>
                </a:solidFill>
                <a:latin typeface="Open Sans" pitchFamily="34" charset="0"/>
                <a:ea typeface="Open Sans" pitchFamily="34" charset="-122"/>
                <a:cs typeface="Open Sans" pitchFamily="34" charset="-120"/>
              </a:rPr>
              <a:t>Who is involved in the decision? (stakeholder mapping)</a:t>
            </a:r>
            <a:endParaRPr lang="en-US" sz="950" dirty="0"/>
          </a:p>
          <a:p>
            <a:pPr algn="l" marL="342900" indent="-342900">
              <a:lnSpc>
                <a:spcPct val="126000"/>
              </a:lnSpc>
              <a:buSzPct val="100000"/>
              <a:buChar char="•"/>
            </a:pPr>
            <a:r>
              <a:rPr lang="en-US" sz="950" dirty="0">
                <a:solidFill>
                  <a:srgbClr val="403C4E"/>
                </a:solidFill>
                <a:latin typeface="Open Sans" pitchFamily="34" charset="0"/>
                <a:ea typeface="Open Sans" pitchFamily="34" charset="-122"/>
                <a:cs typeface="Open Sans" pitchFamily="34" charset="-120"/>
              </a:rPr>
              <a:t>What does success look like? (desired future state)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80640" y="419249"/>
            <a:ext cx="5458197" cy="429146"/>
          </a:xfrm>
          <a:prstGeom prst="rect">
            <a:avLst/>
          </a:prstGeom>
          <a:noFill/>
          <a:ln/>
        </p:spPr>
        <p:txBody>
          <a:bodyPr wrap="none" lIns="0" tIns="0" rIns="0" bIns="0" rtlCol="0" anchor="t"/>
          <a:lstStyle/>
          <a:p>
            <a:pPr algn="l" indent="0" marL="0">
              <a:lnSpc>
                <a:spcPct val="104000"/>
              </a:lnSpc>
              <a:buNone/>
            </a:pPr>
            <a:r>
              <a:rPr lang="en-US" sz="2700" b="1" dirty="0">
                <a:solidFill>
                  <a:srgbClr val="403C4E"/>
                </a:solidFill>
                <a:latin typeface="Merriweather Bold" pitchFamily="34" charset="0"/>
                <a:ea typeface="Merriweather Bold" pitchFamily="34" charset="-122"/>
                <a:cs typeface="Merriweather Bold" pitchFamily="34" charset="-120"/>
              </a:rPr>
              <a:t>How to Model Discovery in AI</a:t>
            </a:r>
            <a:endParaRPr lang="en-US" sz="2700" dirty="0"/>
          </a:p>
        </p:txBody>
      </p:sp>
      <p:sp>
        <p:nvSpPr>
          <p:cNvPr id="3" name="Text 1"/>
          <p:cNvSpPr/>
          <p:nvPr/>
        </p:nvSpPr>
        <p:spPr>
          <a:xfrm>
            <a:off x="480640" y="1114425"/>
            <a:ext cx="8182719" cy="43264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Breaking discovery into composable layers gives the agent </a:t>
            </a:r>
            <a:pPr algn="l" indent="0" marL="0">
              <a:lnSpc>
                <a:spcPct val="131000"/>
              </a:lnSpc>
              <a:buNone/>
            </a:pPr>
            <a:r>
              <a:rPr lang="en-US" sz="1050" b="1" dirty="0">
                <a:solidFill>
                  <a:srgbClr val="403C4E"/>
                </a:solidFill>
                <a:latin typeface="Open Sans" pitchFamily="34" charset="0"/>
                <a:ea typeface="Open Sans" pitchFamily="34" charset="-122"/>
                <a:cs typeface="Open Sans" pitchFamily="34" charset="-120"/>
              </a:rPr>
              <a:t>structured reasoning</a:t>
            </a:r>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 at every turn — from assessing what's known to choosing the right question strategy.</a:t>
            </a:r>
            <a:endParaRPr lang="en-US" sz="1050" dirty="0"/>
          </a:p>
        </p:txBody>
      </p:sp>
      <p:sp>
        <p:nvSpPr>
          <p:cNvPr id="4" name="Shape 2"/>
          <p:cNvSpPr/>
          <p:nvPr/>
        </p:nvSpPr>
        <p:spPr>
          <a:xfrm>
            <a:off x="480640" y="1696715"/>
            <a:ext cx="4024833" cy="1447279"/>
          </a:xfrm>
          <a:prstGeom prst="roundRect">
            <a:avLst>
              <a:gd name="adj" fmla="val 3986"/>
            </a:avLst>
          </a:prstGeom>
          <a:solidFill>
            <a:srgbClr val="FFFFFF"/>
          </a:solidFill>
          <a:ln w="19050">
            <a:solidFill>
              <a:srgbClr val="E5BEB2"/>
            </a:solidFill>
            <a:prstDash val="solid"/>
          </a:ln>
        </p:spPr>
      </p:sp>
      <p:sp>
        <p:nvSpPr>
          <p:cNvPr id="5" name="Shape 3"/>
          <p:cNvSpPr/>
          <p:nvPr/>
        </p:nvSpPr>
        <p:spPr>
          <a:xfrm>
            <a:off x="499690" y="1715765"/>
            <a:ext cx="3986733" cy="411956"/>
          </a:xfrm>
          <a:prstGeom prst="roundRect">
            <a:avLst>
              <a:gd name="adj" fmla="val 8453"/>
            </a:avLst>
          </a:prstGeom>
          <a:solidFill>
            <a:srgbClr val="FFD8CC"/>
          </a:solidFill>
          <a:ln/>
        </p:spPr>
      </p:sp>
      <p:sp>
        <p:nvSpPr>
          <p:cNvPr id="6" name="Text 4"/>
          <p:cNvSpPr/>
          <p:nvPr/>
        </p:nvSpPr>
        <p:spPr>
          <a:xfrm>
            <a:off x="2390031" y="1790626"/>
            <a:ext cx="205978" cy="257473"/>
          </a:xfrm>
          <a:prstGeom prst="rect">
            <a:avLst/>
          </a:prstGeom>
          <a:noFill/>
          <a:ln/>
        </p:spPr>
        <p:txBody>
          <a:bodyPr wrap="none" lIns="0" tIns="0" rIns="0" bIns="0" rtlCol="0" anchor="ctr"/>
          <a:lstStyle/>
          <a:p>
            <a:pPr algn="ctr" indent="0" marL="0">
              <a:lnSpc>
                <a:spcPct val="100000"/>
              </a:lnSpc>
              <a:buNone/>
            </a:pPr>
            <a:r>
              <a:rPr lang="en-US" sz="1600" b="1" dirty="0">
                <a:solidFill>
                  <a:srgbClr val="403C4E"/>
                </a:solidFill>
                <a:latin typeface="Merriweather Bold" pitchFamily="34" charset="0"/>
                <a:ea typeface="Merriweather Bold" pitchFamily="34" charset="-122"/>
                <a:cs typeface="Merriweather Bold" pitchFamily="34" charset="-120"/>
              </a:rPr>
              <a:t>1</a:t>
            </a:r>
            <a:endParaRPr lang="en-US" sz="1600" dirty="0"/>
          </a:p>
        </p:txBody>
      </p:sp>
      <p:sp>
        <p:nvSpPr>
          <p:cNvPr id="7" name="Text 5"/>
          <p:cNvSpPr/>
          <p:nvPr/>
        </p:nvSpPr>
        <p:spPr>
          <a:xfrm>
            <a:off x="636984" y="2260699"/>
            <a:ext cx="1716658"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Conversation State</a:t>
            </a:r>
            <a:endParaRPr lang="en-US" sz="1350" dirty="0"/>
          </a:p>
        </p:txBody>
      </p:sp>
      <p:sp>
        <p:nvSpPr>
          <p:cNvPr id="8" name="Text 6"/>
          <p:cNvSpPr/>
          <p:nvPr/>
        </p:nvSpPr>
        <p:spPr>
          <a:xfrm>
            <a:off x="636984" y="2555007"/>
            <a:ext cx="3712146" cy="43264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What do we know? What's missing? Map the gaps in real time.</a:t>
            </a:r>
            <a:endParaRPr lang="en-US" sz="1050" dirty="0"/>
          </a:p>
        </p:txBody>
      </p:sp>
      <p:sp>
        <p:nvSpPr>
          <p:cNvPr id="9" name="Shape 7"/>
          <p:cNvSpPr/>
          <p:nvPr/>
        </p:nvSpPr>
        <p:spPr>
          <a:xfrm>
            <a:off x="4638452" y="1696715"/>
            <a:ext cx="4024908" cy="1447279"/>
          </a:xfrm>
          <a:prstGeom prst="roundRect">
            <a:avLst>
              <a:gd name="adj" fmla="val 3986"/>
            </a:avLst>
          </a:prstGeom>
          <a:solidFill>
            <a:srgbClr val="FFFFFF"/>
          </a:solidFill>
          <a:ln w="19050">
            <a:solidFill>
              <a:srgbClr val="E5BEB2"/>
            </a:solidFill>
            <a:prstDash val="solid"/>
          </a:ln>
        </p:spPr>
      </p:sp>
      <p:sp>
        <p:nvSpPr>
          <p:cNvPr id="10" name="Shape 8"/>
          <p:cNvSpPr/>
          <p:nvPr/>
        </p:nvSpPr>
        <p:spPr>
          <a:xfrm>
            <a:off x="4657502" y="1715765"/>
            <a:ext cx="3986808" cy="411956"/>
          </a:xfrm>
          <a:prstGeom prst="roundRect">
            <a:avLst>
              <a:gd name="adj" fmla="val 8453"/>
            </a:avLst>
          </a:prstGeom>
          <a:solidFill>
            <a:srgbClr val="FFD8CC"/>
          </a:solidFill>
          <a:ln/>
        </p:spPr>
      </p:sp>
      <p:sp>
        <p:nvSpPr>
          <p:cNvPr id="11" name="Text 9"/>
          <p:cNvSpPr/>
          <p:nvPr/>
        </p:nvSpPr>
        <p:spPr>
          <a:xfrm>
            <a:off x="6547917" y="1790626"/>
            <a:ext cx="205978" cy="257473"/>
          </a:xfrm>
          <a:prstGeom prst="rect">
            <a:avLst/>
          </a:prstGeom>
          <a:noFill/>
          <a:ln/>
        </p:spPr>
        <p:txBody>
          <a:bodyPr wrap="none" lIns="0" tIns="0" rIns="0" bIns="0" rtlCol="0" anchor="ctr"/>
          <a:lstStyle/>
          <a:p>
            <a:pPr algn="ctr" indent="0" marL="0">
              <a:lnSpc>
                <a:spcPct val="100000"/>
              </a:lnSpc>
              <a:buNone/>
            </a:pPr>
            <a:r>
              <a:rPr lang="en-US" sz="1600" b="1" dirty="0">
                <a:solidFill>
                  <a:srgbClr val="403C4E"/>
                </a:solidFill>
                <a:latin typeface="Merriweather Bold" pitchFamily="34" charset="0"/>
                <a:ea typeface="Merriweather Bold" pitchFamily="34" charset="-122"/>
                <a:cs typeface="Merriweather Bold" pitchFamily="34" charset="-120"/>
              </a:rPr>
              <a:t>2</a:t>
            </a:r>
            <a:endParaRPr lang="en-US" sz="1600" dirty="0"/>
          </a:p>
        </p:txBody>
      </p:sp>
      <p:sp>
        <p:nvSpPr>
          <p:cNvPr id="12" name="Text 10"/>
          <p:cNvSpPr/>
          <p:nvPr/>
        </p:nvSpPr>
        <p:spPr>
          <a:xfrm>
            <a:off x="4794796" y="2260699"/>
            <a:ext cx="1716658"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Hypothesis Layer</a:t>
            </a:r>
            <a:endParaRPr lang="en-US" sz="1350" dirty="0"/>
          </a:p>
        </p:txBody>
      </p:sp>
      <p:sp>
        <p:nvSpPr>
          <p:cNvPr id="13" name="Text 11"/>
          <p:cNvSpPr/>
          <p:nvPr/>
        </p:nvSpPr>
        <p:spPr>
          <a:xfrm>
            <a:off x="4794796" y="2555007"/>
            <a:ext cx="3712220" cy="43264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What problem might they have? What signals suggest urgency?</a:t>
            </a:r>
            <a:endParaRPr lang="en-US" sz="1050" dirty="0"/>
          </a:p>
        </p:txBody>
      </p:sp>
      <p:sp>
        <p:nvSpPr>
          <p:cNvPr id="14" name="Shape 12"/>
          <p:cNvSpPr/>
          <p:nvPr/>
        </p:nvSpPr>
        <p:spPr>
          <a:xfrm>
            <a:off x="480640" y="3276972"/>
            <a:ext cx="4024833" cy="1447279"/>
          </a:xfrm>
          <a:prstGeom prst="roundRect">
            <a:avLst>
              <a:gd name="adj" fmla="val 3986"/>
            </a:avLst>
          </a:prstGeom>
          <a:solidFill>
            <a:srgbClr val="FFFFFF"/>
          </a:solidFill>
          <a:ln w="19050">
            <a:solidFill>
              <a:srgbClr val="E5BEB2"/>
            </a:solidFill>
            <a:prstDash val="solid"/>
          </a:ln>
        </p:spPr>
      </p:sp>
      <p:sp>
        <p:nvSpPr>
          <p:cNvPr id="15" name="Shape 13"/>
          <p:cNvSpPr/>
          <p:nvPr/>
        </p:nvSpPr>
        <p:spPr>
          <a:xfrm>
            <a:off x="499690" y="3296022"/>
            <a:ext cx="3986733" cy="411956"/>
          </a:xfrm>
          <a:prstGeom prst="roundRect">
            <a:avLst>
              <a:gd name="adj" fmla="val 8453"/>
            </a:avLst>
          </a:prstGeom>
          <a:solidFill>
            <a:srgbClr val="FFD8CC"/>
          </a:solidFill>
          <a:ln/>
        </p:spPr>
      </p:sp>
      <p:sp>
        <p:nvSpPr>
          <p:cNvPr id="16" name="Text 14"/>
          <p:cNvSpPr/>
          <p:nvPr/>
        </p:nvSpPr>
        <p:spPr>
          <a:xfrm>
            <a:off x="2390031" y="3370883"/>
            <a:ext cx="205978" cy="257473"/>
          </a:xfrm>
          <a:prstGeom prst="rect">
            <a:avLst/>
          </a:prstGeom>
          <a:noFill/>
          <a:ln/>
        </p:spPr>
        <p:txBody>
          <a:bodyPr wrap="none" lIns="0" tIns="0" rIns="0" bIns="0" rtlCol="0" anchor="ctr"/>
          <a:lstStyle/>
          <a:p>
            <a:pPr algn="ctr" indent="0" marL="0">
              <a:lnSpc>
                <a:spcPct val="100000"/>
              </a:lnSpc>
              <a:buNone/>
            </a:pPr>
            <a:r>
              <a:rPr lang="en-US" sz="1600" b="1" dirty="0">
                <a:solidFill>
                  <a:srgbClr val="403C4E"/>
                </a:solidFill>
                <a:latin typeface="Merriweather Bold" pitchFamily="34" charset="0"/>
                <a:ea typeface="Merriweather Bold" pitchFamily="34" charset="-122"/>
                <a:cs typeface="Merriweather Bold" pitchFamily="34" charset="-120"/>
              </a:rPr>
              <a:t>3</a:t>
            </a:r>
            <a:endParaRPr lang="en-US" sz="1600" dirty="0"/>
          </a:p>
        </p:txBody>
      </p:sp>
      <p:sp>
        <p:nvSpPr>
          <p:cNvPr id="17" name="Text 15"/>
          <p:cNvSpPr/>
          <p:nvPr/>
        </p:nvSpPr>
        <p:spPr>
          <a:xfrm>
            <a:off x="636984" y="3840956"/>
            <a:ext cx="1716658"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Goal per Turn</a:t>
            </a:r>
            <a:endParaRPr lang="en-US" sz="1350" dirty="0"/>
          </a:p>
        </p:txBody>
      </p:sp>
      <p:sp>
        <p:nvSpPr>
          <p:cNvPr id="18" name="Text 16"/>
          <p:cNvSpPr/>
          <p:nvPr/>
        </p:nvSpPr>
        <p:spPr>
          <a:xfrm>
            <a:off x="636984" y="4135264"/>
            <a:ext cx="3712146" cy="43264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Clarify → Expand → Validate → Quantify. Each turn has a purpose.</a:t>
            </a:r>
            <a:endParaRPr lang="en-US" sz="1050" dirty="0"/>
          </a:p>
        </p:txBody>
      </p:sp>
      <p:sp>
        <p:nvSpPr>
          <p:cNvPr id="19" name="Shape 17"/>
          <p:cNvSpPr/>
          <p:nvPr/>
        </p:nvSpPr>
        <p:spPr>
          <a:xfrm>
            <a:off x="4638452" y="3276972"/>
            <a:ext cx="4024908" cy="1447279"/>
          </a:xfrm>
          <a:prstGeom prst="roundRect">
            <a:avLst>
              <a:gd name="adj" fmla="val 3986"/>
            </a:avLst>
          </a:prstGeom>
          <a:solidFill>
            <a:srgbClr val="FFFFFF"/>
          </a:solidFill>
          <a:ln w="19050">
            <a:solidFill>
              <a:srgbClr val="E5BEB2"/>
            </a:solidFill>
            <a:prstDash val="solid"/>
          </a:ln>
        </p:spPr>
      </p:sp>
      <p:sp>
        <p:nvSpPr>
          <p:cNvPr id="20" name="Shape 18"/>
          <p:cNvSpPr/>
          <p:nvPr/>
        </p:nvSpPr>
        <p:spPr>
          <a:xfrm>
            <a:off x="4657502" y="3296022"/>
            <a:ext cx="3986808" cy="411956"/>
          </a:xfrm>
          <a:prstGeom prst="roundRect">
            <a:avLst>
              <a:gd name="adj" fmla="val 8453"/>
            </a:avLst>
          </a:prstGeom>
          <a:solidFill>
            <a:srgbClr val="FFD8CC"/>
          </a:solidFill>
          <a:ln/>
        </p:spPr>
      </p:sp>
      <p:sp>
        <p:nvSpPr>
          <p:cNvPr id="21" name="Text 19"/>
          <p:cNvSpPr/>
          <p:nvPr/>
        </p:nvSpPr>
        <p:spPr>
          <a:xfrm>
            <a:off x="6547917" y="3370883"/>
            <a:ext cx="205978" cy="257473"/>
          </a:xfrm>
          <a:prstGeom prst="rect">
            <a:avLst/>
          </a:prstGeom>
          <a:noFill/>
          <a:ln/>
        </p:spPr>
        <p:txBody>
          <a:bodyPr wrap="none" lIns="0" tIns="0" rIns="0" bIns="0" rtlCol="0" anchor="ctr"/>
          <a:lstStyle/>
          <a:p>
            <a:pPr algn="ctr" indent="0" marL="0">
              <a:lnSpc>
                <a:spcPct val="100000"/>
              </a:lnSpc>
              <a:buNone/>
            </a:pPr>
            <a:r>
              <a:rPr lang="en-US" sz="1600" b="1" dirty="0">
                <a:solidFill>
                  <a:srgbClr val="403C4E"/>
                </a:solidFill>
                <a:latin typeface="Merriweather Bold" pitchFamily="34" charset="0"/>
                <a:ea typeface="Merriweather Bold" pitchFamily="34" charset="-122"/>
                <a:cs typeface="Merriweather Bold" pitchFamily="34" charset="-120"/>
              </a:rPr>
              <a:t>4</a:t>
            </a:r>
            <a:endParaRPr lang="en-US" sz="1600" dirty="0"/>
          </a:p>
        </p:txBody>
      </p:sp>
      <p:sp>
        <p:nvSpPr>
          <p:cNvPr id="22" name="Text 20"/>
          <p:cNvSpPr/>
          <p:nvPr/>
        </p:nvSpPr>
        <p:spPr>
          <a:xfrm>
            <a:off x="4794796" y="3840956"/>
            <a:ext cx="1716658"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Question Strategy</a:t>
            </a:r>
            <a:endParaRPr lang="en-US" sz="1350" dirty="0"/>
          </a:p>
        </p:txBody>
      </p:sp>
      <p:sp>
        <p:nvSpPr>
          <p:cNvPr id="23" name="Text 21"/>
          <p:cNvSpPr/>
          <p:nvPr/>
        </p:nvSpPr>
        <p:spPr>
          <a:xfrm>
            <a:off x="4794796" y="4135264"/>
            <a:ext cx="3712220" cy="43264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Open-ended → Narrowing → Confirmatory. Guide without interrogating.</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80640" y="401538"/>
            <a:ext cx="4330005" cy="429146"/>
          </a:xfrm>
          <a:prstGeom prst="rect">
            <a:avLst/>
          </a:prstGeom>
          <a:noFill/>
          <a:ln/>
        </p:spPr>
        <p:txBody>
          <a:bodyPr wrap="none" lIns="0" tIns="0" rIns="0" bIns="0" rtlCol="0" anchor="t"/>
          <a:lstStyle/>
          <a:p>
            <a:pPr algn="l" indent="0" marL="0">
              <a:lnSpc>
                <a:spcPct val="104000"/>
              </a:lnSpc>
              <a:buNone/>
            </a:pPr>
            <a:r>
              <a:rPr lang="en-US" sz="2700" b="1" dirty="0">
                <a:solidFill>
                  <a:srgbClr val="403C4E"/>
                </a:solidFill>
                <a:latin typeface="Merriweather Bold" pitchFamily="34" charset="0"/>
                <a:ea typeface="Merriweather Bold" pitchFamily="34" charset="-122"/>
                <a:cs typeface="Merriweather Bold" pitchFamily="34" charset="-120"/>
              </a:rPr>
              <a:t>Discovery Architecture</a:t>
            </a:r>
            <a:endParaRPr lang="en-US" sz="2700" dirty="0"/>
          </a:p>
        </p:txBody>
      </p:sp>
      <p:pic>
        <p:nvPicPr>
          <p:cNvPr id="3" name="Image 0" descr="preencoded.png">    </p:cNvPr>
          <p:cNvPicPr>
            <a:picLocks noChangeAspect="1"/>
          </p:cNvPicPr>
          <p:nvPr/>
        </p:nvPicPr>
        <p:blipFill>
          <a:blip r:embed="rId1"/>
          <a:stretch>
            <a:fillRect/>
          </a:stretch>
        </p:blipFill>
        <p:spPr>
          <a:xfrm>
            <a:off x="480640" y="1179835"/>
            <a:ext cx="5201469" cy="2132484"/>
          </a:xfrm>
          <a:prstGeom prst="rect">
            <a:avLst/>
          </a:prstGeom>
        </p:spPr>
      </p:pic>
      <p:sp>
        <p:nvSpPr>
          <p:cNvPr id="4" name="Text 1"/>
          <p:cNvSpPr/>
          <p:nvPr/>
        </p:nvSpPr>
        <p:spPr>
          <a:xfrm>
            <a:off x="2737115" y="1460943"/>
            <a:ext cx="1696531" cy="154916"/>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Select Next Move</a:t>
            </a:r>
            <a:endParaRPr lang="en-US" sz="950" dirty="0"/>
          </a:p>
        </p:txBody>
      </p:sp>
      <p:sp>
        <p:nvSpPr>
          <p:cNvPr id="5" name="Text 2"/>
          <p:cNvSpPr/>
          <p:nvPr/>
        </p:nvSpPr>
        <p:spPr>
          <a:xfrm>
            <a:off x="2737115" y="1659924"/>
            <a:ext cx="2963403" cy="121954"/>
          </a:xfrm>
          <a:prstGeom prst="rect">
            <a:avLst/>
          </a:prstGeom>
          <a:noFill/>
          <a:ln/>
        </p:spPr>
        <p:txBody>
          <a:bodyPr wrap="none" lIns="0" tIns="0" rIns="0" bIns="0" rtlCol="0" anchor="t"/>
          <a:lstStyle/>
          <a:p>
            <a:pPr algn="l" indent="0" marL="0">
              <a:lnSpc>
                <a:spcPct val="103000"/>
              </a:lnSpc>
              <a:buNone/>
            </a:pPr>
            <a:r>
              <a:rPr lang="en-US" sz="750" dirty="0">
                <a:solidFill>
                  <a:srgbClr val="403C4E"/>
                </a:solidFill>
                <a:latin typeface="Open Sans" pitchFamily="34" charset="0"/>
                <a:ea typeface="Open Sans" pitchFamily="34" charset="-122"/>
                <a:cs typeface="Open Sans" pitchFamily="34" charset="-120"/>
              </a:rPr>
              <a:t>Choose action that avoids interrogation tone</a:t>
            </a:r>
            <a:endParaRPr lang="en-US" sz="750" dirty="0"/>
          </a:p>
        </p:txBody>
      </p:sp>
      <p:sp>
        <p:nvSpPr>
          <p:cNvPr id="6" name="Text 3"/>
          <p:cNvSpPr/>
          <p:nvPr/>
        </p:nvSpPr>
        <p:spPr>
          <a:xfrm>
            <a:off x="2737115" y="2077854"/>
            <a:ext cx="1696531" cy="154916"/>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Assess Gaps</a:t>
            </a:r>
            <a:endParaRPr lang="en-US" sz="950" dirty="0"/>
          </a:p>
        </p:txBody>
      </p:sp>
      <p:sp>
        <p:nvSpPr>
          <p:cNvPr id="7" name="Text 4"/>
          <p:cNvSpPr/>
          <p:nvPr/>
        </p:nvSpPr>
        <p:spPr>
          <a:xfrm>
            <a:off x="2737115" y="2276836"/>
            <a:ext cx="2963403" cy="121954"/>
          </a:xfrm>
          <a:prstGeom prst="rect">
            <a:avLst/>
          </a:prstGeom>
          <a:noFill/>
          <a:ln/>
        </p:spPr>
        <p:txBody>
          <a:bodyPr wrap="none" lIns="0" tIns="0" rIns="0" bIns="0" rtlCol="0" anchor="t"/>
          <a:lstStyle/>
          <a:p>
            <a:pPr algn="l" indent="0" marL="0">
              <a:lnSpc>
                <a:spcPct val="103000"/>
              </a:lnSpc>
              <a:buNone/>
            </a:pPr>
            <a:r>
              <a:rPr lang="en-US" sz="750" dirty="0">
                <a:solidFill>
                  <a:srgbClr val="403C4E"/>
                </a:solidFill>
                <a:latin typeface="Open Sans" pitchFamily="34" charset="0"/>
                <a:ea typeface="Open Sans" pitchFamily="34" charset="-122"/>
                <a:cs typeface="Open Sans" pitchFamily="34" charset="-120"/>
              </a:rPr>
              <a:t>Identify and prioritize missing fields by relevance</a:t>
            </a:r>
            <a:endParaRPr lang="en-US" sz="750" dirty="0"/>
          </a:p>
        </p:txBody>
      </p:sp>
      <p:sp>
        <p:nvSpPr>
          <p:cNvPr id="8" name="Text 5"/>
          <p:cNvSpPr/>
          <p:nvPr/>
        </p:nvSpPr>
        <p:spPr>
          <a:xfrm>
            <a:off x="2737115" y="2639254"/>
            <a:ext cx="1696531" cy="154917"/>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Capture Context</a:t>
            </a:r>
            <a:endParaRPr lang="en-US" sz="950" dirty="0"/>
          </a:p>
        </p:txBody>
      </p:sp>
      <p:sp>
        <p:nvSpPr>
          <p:cNvPr id="9" name="Text 6"/>
          <p:cNvSpPr/>
          <p:nvPr/>
        </p:nvSpPr>
        <p:spPr>
          <a:xfrm>
            <a:off x="2737115" y="2838236"/>
            <a:ext cx="2506203" cy="243907"/>
          </a:xfrm>
          <a:prstGeom prst="rect">
            <a:avLst/>
          </a:prstGeom>
          <a:noFill/>
          <a:ln/>
        </p:spPr>
        <p:txBody>
          <a:bodyPr wrap="square" lIns="0" tIns="0" rIns="0" bIns="0" rtlCol="0" anchor="t">
            <a:normAutofit/>
          </a:bodyPr>
          <a:lstStyle/>
          <a:p>
            <a:pPr algn="l" indent="0" marL="0">
              <a:lnSpc>
                <a:spcPct val="103000"/>
              </a:lnSpc>
              <a:buNone/>
            </a:pPr>
            <a:r>
              <a:rPr lang="en-US" sz="750" dirty="0">
                <a:solidFill>
                  <a:srgbClr val="403C4E"/>
                </a:solidFill>
                <a:latin typeface="Open Sans" pitchFamily="34" charset="0"/>
                <a:ea typeface="Open Sans" pitchFamily="34" charset="-122"/>
                <a:cs typeface="Open Sans" pitchFamily="34" charset="-120"/>
              </a:rPr>
              <a:t>Store pain points, budget, timeline, authority, use case</a:t>
            </a:r>
            <a:endParaRPr lang="en-US" sz="750" dirty="0"/>
          </a:p>
        </p:txBody>
      </p:sp>
      <p:sp>
        <p:nvSpPr>
          <p:cNvPr id="10" name="Text 7"/>
          <p:cNvSpPr/>
          <p:nvPr/>
        </p:nvSpPr>
        <p:spPr>
          <a:xfrm>
            <a:off x="6021884" y="1212726"/>
            <a:ext cx="2646164" cy="2066627"/>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The agent maintains </a:t>
            </a:r>
            <a:pPr algn="l" indent="0" marL="0">
              <a:lnSpc>
                <a:spcPct val="131000"/>
              </a:lnSpc>
              <a:buNone/>
            </a:pPr>
            <a:r>
              <a:rPr lang="en-US" sz="1050" b="1" dirty="0">
                <a:solidFill>
                  <a:srgbClr val="403C4E"/>
                </a:solidFill>
                <a:latin typeface="Open Sans" pitchFamily="34" charset="0"/>
                <a:ea typeface="Open Sans" pitchFamily="34" charset="-122"/>
                <a:cs typeface="Open Sans" pitchFamily="34" charset="-120"/>
              </a:rPr>
              <a:t>structured memory objects</a:t>
            </a:r>
            <a:pPr algn="l" indent="0" marL="0">
              <a:lnSpc>
                <a:spcPct val="131000"/>
              </a:lnSpc>
              <a:spcAft>
                <a:spcPts val="900"/>
              </a:spcAft>
              <a:buNone/>
            </a:pPr>
            <a:r>
              <a:rPr lang="en-US" sz="1050" dirty="0">
                <a:solidFill>
                  <a:srgbClr val="403C4E"/>
                </a:solidFill>
                <a:latin typeface="Open Sans" pitchFamily="34" charset="0"/>
                <a:ea typeface="Open Sans" pitchFamily="34" charset="-122"/>
                <a:cs typeface="Open Sans" pitchFamily="34" charset="-120"/>
              </a:rPr>
              <a:t> — pain points, budget signals, timeline, authority, and use case — and selects its next move based on which fields are still missing.</a:t>
            </a:r>
            <a:endParaRPr lang="en-US" sz="1050" dirty="0"/>
          </a:p>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By prioritizing </a:t>
            </a:r>
            <a:pPr algn="l" indent="0" marL="0">
              <a:lnSpc>
                <a:spcPct val="131000"/>
              </a:lnSpc>
              <a:buNone/>
            </a:pPr>
            <a:r>
              <a:rPr lang="en-US" sz="1050" b="1" dirty="0">
                <a:solidFill>
                  <a:srgbClr val="403C4E"/>
                </a:solidFill>
                <a:latin typeface="Open Sans" pitchFamily="34" charset="0"/>
                <a:ea typeface="Open Sans" pitchFamily="34" charset="-122"/>
                <a:cs typeface="Open Sans" pitchFamily="34" charset="-120"/>
              </a:rPr>
              <a:t>relevance over completeness</a:t>
            </a:r>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 the agent avoids the interrogation feel — every question earns its place in the conversation.</a:t>
            </a:r>
            <a:endParaRPr lang="en-US" sz="1050" dirty="0"/>
          </a:p>
        </p:txBody>
      </p:sp>
      <p:sp>
        <p:nvSpPr>
          <p:cNvPr id="11" name="Shape 8"/>
          <p:cNvSpPr/>
          <p:nvPr/>
        </p:nvSpPr>
        <p:spPr>
          <a:xfrm>
            <a:off x="480640" y="3611612"/>
            <a:ext cx="1945928" cy="498649"/>
          </a:xfrm>
          <a:prstGeom prst="roundRect">
            <a:avLst>
              <a:gd name="adj" fmla="val 66100"/>
            </a:avLst>
          </a:prstGeom>
          <a:solidFill>
            <a:srgbClr val="FFD8CC"/>
          </a:solidFill>
          <a:ln w="4763">
            <a:solidFill>
              <a:srgbClr val="E5BEB2"/>
            </a:solidFill>
            <a:prstDash val="solid"/>
          </a:ln>
        </p:spPr>
      </p:sp>
      <p:sp>
        <p:nvSpPr>
          <p:cNvPr id="12" name="Text 9"/>
          <p:cNvSpPr/>
          <p:nvPr/>
        </p:nvSpPr>
        <p:spPr>
          <a:xfrm>
            <a:off x="622697" y="3753669"/>
            <a:ext cx="1661815"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Pain Points</a:t>
            </a:r>
            <a:endParaRPr lang="en-US" sz="1350" dirty="0"/>
          </a:p>
        </p:txBody>
      </p:sp>
      <p:sp>
        <p:nvSpPr>
          <p:cNvPr id="13" name="Shape 10"/>
          <p:cNvSpPr/>
          <p:nvPr/>
        </p:nvSpPr>
        <p:spPr>
          <a:xfrm>
            <a:off x="2559546" y="3611612"/>
            <a:ext cx="1945928" cy="498649"/>
          </a:xfrm>
          <a:prstGeom prst="roundRect">
            <a:avLst>
              <a:gd name="adj" fmla="val 66100"/>
            </a:avLst>
          </a:prstGeom>
          <a:solidFill>
            <a:srgbClr val="FFD8CC"/>
          </a:solidFill>
          <a:ln w="4763">
            <a:solidFill>
              <a:srgbClr val="E5BEB2"/>
            </a:solidFill>
            <a:prstDash val="solid"/>
          </a:ln>
        </p:spPr>
      </p:sp>
      <p:sp>
        <p:nvSpPr>
          <p:cNvPr id="14" name="Text 11"/>
          <p:cNvSpPr/>
          <p:nvPr/>
        </p:nvSpPr>
        <p:spPr>
          <a:xfrm>
            <a:off x="2701603" y="3753669"/>
            <a:ext cx="1661815"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Budget Signals</a:t>
            </a:r>
            <a:endParaRPr lang="en-US" sz="1350" dirty="0"/>
          </a:p>
        </p:txBody>
      </p:sp>
      <p:sp>
        <p:nvSpPr>
          <p:cNvPr id="15" name="Shape 12"/>
          <p:cNvSpPr/>
          <p:nvPr/>
        </p:nvSpPr>
        <p:spPr>
          <a:xfrm>
            <a:off x="4638452" y="3611612"/>
            <a:ext cx="1945928" cy="498649"/>
          </a:xfrm>
          <a:prstGeom prst="roundRect">
            <a:avLst>
              <a:gd name="adj" fmla="val 66100"/>
            </a:avLst>
          </a:prstGeom>
          <a:solidFill>
            <a:srgbClr val="FFD8CC"/>
          </a:solidFill>
          <a:ln w="4763">
            <a:solidFill>
              <a:srgbClr val="E5BEB2"/>
            </a:solidFill>
            <a:prstDash val="solid"/>
          </a:ln>
        </p:spPr>
      </p:sp>
      <p:sp>
        <p:nvSpPr>
          <p:cNvPr id="16" name="Text 13"/>
          <p:cNvSpPr/>
          <p:nvPr/>
        </p:nvSpPr>
        <p:spPr>
          <a:xfrm>
            <a:off x="4780508" y="3753669"/>
            <a:ext cx="1661815"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Timeline</a:t>
            </a:r>
            <a:endParaRPr lang="en-US" sz="1350" dirty="0"/>
          </a:p>
        </p:txBody>
      </p:sp>
      <p:sp>
        <p:nvSpPr>
          <p:cNvPr id="17" name="Shape 14"/>
          <p:cNvSpPr/>
          <p:nvPr/>
        </p:nvSpPr>
        <p:spPr>
          <a:xfrm>
            <a:off x="6717357" y="3611612"/>
            <a:ext cx="1946002" cy="498649"/>
          </a:xfrm>
          <a:prstGeom prst="roundRect">
            <a:avLst>
              <a:gd name="adj" fmla="val 66100"/>
            </a:avLst>
          </a:prstGeom>
          <a:solidFill>
            <a:srgbClr val="FFD8CC"/>
          </a:solidFill>
          <a:ln w="4763">
            <a:solidFill>
              <a:srgbClr val="E5BEB2"/>
            </a:solidFill>
            <a:prstDash val="solid"/>
          </a:ln>
        </p:spPr>
      </p:sp>
      <p:sp>
        <p:nvSpPr>
          <p:cNvPr id="18" name="Text 15"/>
          <p:cNvSpPr/>
          <p:nvPr/>
        </p:nvSpPr>
        <p:spPr>
          <a:xfrm>
            <a:off x="6859414" y="3753669"/>
            <a:ext cx="1661889"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Authority</a:t>
            </a:r>
            <a:endParaRPr lang="en-US" sz="1350" dirty="0"/>
          </a:p>
        </p:txBody>
      </p:sp>
      <p:sp>
        <p:nvSpPr>
          <p:cNvPr id="19" name="Shape 16"/>
          <p:cNvSpPr/>
          <p:nvPr/>
        </p:nvSpPr>
        <p:spPr>
          <a:xfrm>
            <a:off x="480640" y="4243239"/>
            <a:ext cx="8182719" cy="498649"/>
          </a:xfrm>
          <a:prstGeom prst="roundRect">
            <a:avLst>
              <a:gd name="adj" fmla="val 66100"/>
            </a:avLst>
          </a:prstGeom>
          <a:solidFill>
            <a:srgbClr val="FFD8CC"/>
          </a:solidFill>
          <a:ln w="4763">
            <a:solidFill>
              <a:srgbClr val="E5BEB2"/>
            </a:solidFill>
            <a:prstDash val="solid"/>
          </a:ln>
        </p:spPr>
      </p:sp>
      <p:sp>
        <p:nvSpPr>
          <p:cNvPr id="20" name="Text 17"/>
          <p:cNvSpPr/>
          <p:nvPr/>
        </p:nvSpPr>
        <p:spPr>
          <a:xfrm>
            <a:off x="622697" y="4385295"/>
            <a:ext cx="1716658"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Use Case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26393" y="356667"/>
            <a:ext cx="8132564" cy="380702"/>
          </a:xfrm>
          <a:prstGeom prst="rect">
            <a:avLst/>
          </a:prstGeom>
          <a:noFill/>
          <a:ln/>
        </p:spPr>
        <p:txBody>
          <a:bodyPr wrap="none" lIns="0" tIns="0" rIns="0" bIns="0" rtlCol="0" anchor="t"/>
          <a:lstStyle/>
          <a:p>
            <a:pPr algn="l" indent="0" marL="0">
              <a:lnSpc>
                <a:spcPct val="104000"/>
              </a:lnSpc>
              <a:buNone/>
            </a:pPr>
            <a:r>
              <a:rPr lang="en-US" sz="2350" b="1" dirty="0">
                <a:solidFill>
                  <a:srgbClr val="403C4E"/>
                </a:solidFill>
                <a:latin typeface="Merriweather Bold" pitchFamily="34" charset="0"/>
                <a:ea typeface="Merriweather Bold" pitchFamily="34" charset="-122"/>
                <a:cs typeface="Merriweather Bold" pitchFamily="34" charset="-120"/>
              </a:rPr>
              <a:t>From Agent Architecture to Production Intelligence</a:t>
            </a:r>
            <a:endParaRPr lang="en-US" sz="2350" dirty="0"/>
          </a:p>
        </p:txBody>
      </p:sp>
      <p:sp>
        <p:nvSpPr>
          <p:cNvPr id="3" name="Text 1"/>
          <p:cNvSpPr/>
          <p:nvPr/>
        </p:nvSpPr>
        <p:spPr>
          <a:xfrm>
            <a:off x="426393" y="946696"/>
            <a:ext cx="8291215"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Building AI sales agents capable of dynamic, human-like discovery requires moving beyond theoretical architecture to a robust production system. This involves a continuous loop of building, observing, and improving, powered by specialized tooling.</a:t>
            </a:r>
            <a:endParaRPr lang="en-US" sz="950" dirty="0"/>
          </a:p>
        </p:txBody>
      </p:sp>
      <p:sp>
        <p:nvSpPr>
          <p:cNvPr id="4" name="Shape 2"/>
          <p:cNvSpPr/>
          <p:nvPr/>
        </p:nvSpPr>
        <p:spPr>
          <a:xfrm>
            <a:off x="426393" y="1426815"/>
            <a:ext cx="2693938" cy="2644378"/>
          </a:xfrm>
          <a:prstGeom prst="roundRect">
            <a:avLst>
              <a:gd name="adj" fmla="val 1935"/>
            </a:avLst>
          </a:prstGeom>
          <a:solidFill>
            <a:srgbClr val="FFD8CC"/>
          </a:solidFill>
          <a:ln w="4763">
            <a:solidFill>
              <a:srgbClr val="E5BEB2"/>
            </a:solidFill>
            <a:prstDash val="solid"/>
          </a:ln>
        </p:spPr>
      </p:sp>
      <p:sp>
        <p:nvSpPr>
          <p:cNvPr id="5" name="Shape 3"/>
          <p:cNvSpPr/>
          <p:nvPr/>
        </p:nvSpPr>
        <p:spPr>
          <a:xfrm>
            <a:off x="552971" y="1553394"/>
            <a:ext cx="365447" cy="365447"/>
          </a:xfrm>
          <a:prstGeom prst="roundRect">
            <a:avLst>
              <a:gd name="adj" fmla="val 15636819"/>
            </a:avLst>
          </a:prstGeom>
          <a:solidFill>
            <a:srgbClr val="FFAD94"/>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3430" y="1653853"/>
            <a:ext cx="164455" cy="164455"/>
          </a:xfrm>
          <a:prstGeom prst="rect">
            <a:avLst/>
          </a:prstGeom>
        </p:spPr>
      </p:pic>
      <p:sp>
        <p:nvSpPr>
          <p:cNvPr id="7" name="Text 4"/>
          <p:cNvSpPr/>
          <p:nvPr/>
        </p:nvSpPr>
        <p:spPr>
          <a:xfrm>
            <a:off x="552971" y="2023467"/>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Build (LangGraph)</a:t>
            </a:r>
            <a:endParaRPr lang="en-US" sz="1150" dirty="0"/>
          </a:p>
        </p:txBody>
      </p:sp>
      <p:sp>
        <p:nvSpPr>
          <p:cNvPr id="8" name="Text 5"/>
          <p:cNvSpPr/>
          <p:nvPr/>
        </p:nvSpPr>
        <p:spPr>
          <a:xfrm>
            <a:off x="552971" y="2276624"/>
            <a:ext cx="2440781" cy="1378223"/>
          </a:xfrm>
          <a:prstGeom prst="rect">
            <a:avLst/>
          </a:prstGeom>
          <a:noFill/>
          <a:ln/>
        </p:spPr>
        <p:txBody>
          <a:bodyPr wrap="square" lIns="0" tIns="0" rIns="0" bIns="0" rtlCol="0" anchor="t">
            <a:normAutofit/>
          </a:bodyPr>
          <a:lstStyle/>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Model the agent as a state machine</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Nodes: LLM calls, tools, retrieval, validators</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Edges: conditional routing, retries, escalation</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Persistent state: memory, extracted fields, deal stage</a:t>
            </a:r>
            <a:endParaRPr lang="en-US" sz="950" dirty="0"/>
          </a:p>
        </p:txBody>
      </p:sp>
      <p:sp>
        <p:nvSpPr>
          <p:cNvPr id="9" name="Text 6"/>
          <p:cNvSpPr/>
          <p:nvPr/>
        </p:nvSpPr>
        <p:spPr>
          <a:xfrm>
            <a:off x="552971" y="3717652"/>
            <a:ext cx="2440781" cy="181198"/>
          </a:xfrm>
          <a:prstGeom prst="rect">
            <a:avLst/>
          </a:prstGeom>
          <a:noFill/>
          <a:ln/>
        </p:spPr>
        <p:txBody>
          <a:bodyPr wrap="none" lIns="0" tIns="0" rIns="0" bIns="0" rtlCol="0" anchor="t"/>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 Structured, predictable decision-making</a:t>
            </a:r>
            <a:endParaRPr lang="en-US" sz="950" dirty="0"/>
          </a:p>
        </p:txBody>
      </p:sp>
      <p:sp>
        <p:nvSpPr>
          <p:cNvPr id="10" name="Shape 7"/>
          <p:cNvSpPr/>
          <p:nvPr/>
        </p:nvSpPr>
        <p:spPr>
          <a:xfrm>
            <a:off x="3224957" y="1426815"/>
            <a:ext cx="2694012" cy="2644378"/>
          </a:xfrm>
          <a:prstGeom prst="roundRect">
            <a:avLst>
              <a:gd name="adj" fmla="val 1935"/>
            </a:avLst>
          </a:prstGeom>
          <a:solidFill>
            <a:srgbClr val="FFD8CC"/>
          </a:solidFill>
          <a:ln w="4763">
            <a:solidFill>
              <a:srgbClr val="E5BEB2"/>
            </a:solidFill>
            <a:prstDash val="solid"/>
          </a:ln>
        </p:spPr>
      </p:sp>
      <p:sp>
        <p:nvSpPr>
          <p:cNvPr id="11" name="Shape 8"/>
          <p:cNvSpPr/>
          <p:nvPr/>
        </p:nvSpPr>
        <p:spPr>
          <a:xfrm>
            <a:off x="3351535" y="1553394"/>
            <a:ext cx="365447" cy="365447"/>
          </a:xfrm>
          <a:prstGeom prst="roundRect">
            <a:avLst>
              <a:gd name="adj" fmla="val 15636819"/>
            </a:avLst>
          </a:prstGeom>
          <a:solidFill>
            <a:srgbClr val="FFAD94"/>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1994" y="1653853"/>
            <a:ext cx="164455" cy="164455"/>
          </a:xfrm>
          <a:prstGeom prst="rect">
            <a:avLst/>
          </a:prstGeom>
        </p:spPr>
      </p:pic>
      <p:sp>
        <p:nvSpPr>
          <p:cNvPr id="13" name="Text 9"/>
          <p:cNvSpPr/>
          <p:nvPr/>
        </p:nvSpPr>
        <p:spPr>
          <a:xfrm>
            <a:off x="3351535" y="2023467"/>
            <a:ext cx="1595214" cy="190351"/>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Observe (LangSmith)</a:t>
            </a:r>
            <a:endParaRPr lang="en-US" sz="1150" dirty="0"/>
          </a:p>
        </p:txBody>
      </p:sp>
      <p:sp>
        <p:nvSpPr>
          <p:cNvPr id="14" name="Text 10"/>
          <p:cNvSpPr/>
          <p:nvPr/>
        </p:nvSpPr>
        <p:spPr>
          <a:xfrm>
            <a:off x="3351535" y="2276624"/>
            <a:ext cx="2440856" cy="1015826"/>
          </a:xfrm>
          <a:prstGeom prst="rect">
            <a:avLst/>
          </a:prstGeom>
          <a:noFill/>
          <a:ln/>
        </p:spPr>
        <p:txBody>
          <a:bodyPr wrap="square" lIns="0" tIns="0" rIns="0" bIns="0" rtlCol="0" anchor="t">
            <a:normAutofit/>
          </a:bodyPr>
          <a:lstStyle/>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Full execution traces (every step, every tool call)</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Prompt + model version tracking</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Latency, cost, error visibility</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Side-by-side experiment comparison</a:t>
            </a:r>
            <a:endParaRPr lang="en-US" sz="950" dirty="0"/>
          </a:p>
        </p:txBody>
      </p:sp>
      <p:sp>
        <p:nvSpPr>
          <p:cNvPr id="15" name="Text 11"/>
          <p:cNvSpPr/>
          <p:nvPr/>
        </p:nvSpPr>
        <p:spPr>
          <a:xfrm>
            <a:off x="3351535" y="3355256"/>
            <a:ext cx="2440856" cy="181198"/>
          </a:xfrm>
          <a:prstGeom prst="rect">
            <a:avLst/>
          </a:prstGeom>
          <a:noFill/>
          <a:ln/>
        </p:spPr>
        <p:txBody>
          <a:bodyPr wrap="none" lIns="0" tIns="0" rIns="0" bIns="0" rtlCol="0" anchor="t"/>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 No black boxes</a:t>
            </a:r>
            <a:endParaRPr lang="en-US" sz="950" dirty="0"/>
          </a:p>
        </p:txBody>
      </p:sp>
      <p:sp>
        <p:nvSpPr>
          <p:cNvPr id="16" name="Shape 12"/>
          <p:cNvSpPr/>
          <p:nvPr/>
        </p:nvSpPr>
        <p:spPr>
          <a:xfrm>
            <a:off x="6023595" y="1426815"/>
            <a:ext cx="2694012" cy="2644378"/>
          </a:xfrm>
          <a:prstGeom prst="roundRect">
            <a:avLst>
              <a:gd name="adj" fmla="val 1935"/>
            </a:avLst>
          </a:prstGeom>
          <a:solidFill>
            <a:srgbClr val="FFD8CC"/>
          </a:solidFill>
          <a:ln w="4763">
            <a:solidFill>
              <a:srgbClr val="E5BEB2"/>
            </a:solidFill>
            <a:prstDash val="solid"/>
          </a:ln>
        </p:spPr>
      </p:sp>
      <p:sp>
        <p:nvSpPr>
          <p:cNvPr id="17" name="Shape 13"/>
          <p:cNvSpPr/>
          <p:nvPr/>
        </p:nvSpPr>
        <p:spPr>
          <a:xfrm>
            <a:off x="6150173" y="1553394"/>
            <a:ext cx="365447" cy="365447"/>
          </a:xfrm>
          <a:prstGeom prst="roundRect">
            <a:avLst>
              <a:gd name="adj" fmla="val 15636819"/>
            </a:avLst>
          </a:prstGeom>
          <a:solidFill>
            <a:srgbClr val="FFAD94"/>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50632" y="1653853"/>
            <a:ext cx="164455" cy="164455"/>
          </a:xfrm>
          <a:prstGeom prst="rect">
            <a:avLst/>
          </a:prstGeom>
        </p:spPr>
      </p:pic>
      <p:sp>
        <p:nvSpPr>
          <p:cNvPr id="19" name="Text 14"/>
          <p:cNvSpPr/>
          <p:nvPr/>
        </p:nvSpPr>
        <p:spPr>
          <a:xfrm>
            <a:off x="6150173" y="2023467"/>
            <a:ext cx="2440856" cy="380702"/>
          </a:xfrm>
          <a:prstGeom prst="rect">
            <a:avLst/>
          </a:prstGeom>
          <a:noFill/>
          <a:ln/>
        </p:spPr>
        <p:txBody>
          <a:bodyPr wrap="square" lIns="0" tIns="0" rIns="0" bIns="0" rtlCol="0" anchor="t">
            <a:normAutofit/>
          </a:bodyPr>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Evaluate &amp; Improve (Production Loop)</a:t>
            </a:r>
            <a:endParaRPr lang="en-US" sz="1150" dirty="0"/>
          </a:p>
        </p:txBody>
      </p:sp>
      <p:sp>
        <p:nvSpPr>
          <p:cNvPr id="20" name="Text 15"/>
          <p:cNvSpPr/>
          <p:nvPr/>
        </p:nvSpPr>
        <p:spPr>
          <a:xfrm>
            <a:off x="6150173" y="2466975"/>
            <a:ext cx="2440856" cy="1052438"/>
          </a:xfrm>
          <a:prstGeom prst="rect">
            <a:avLst/>
          </a:prstGeom>
          <a:noFill/>
          <a:ln/>
        </p:spPr>
        <p:txBody>
          <a:bodyPr wrap="square" lIns="0" tIns="0" rIns="0" bIns="0" rtlCol="0" anchor="t">
            <a:normAutofit/>
          </a:bodyPr>
          <a:lstStyle/>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Auto-score every conversation</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Slack alerts for low scores</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Human review on flagged chats</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Prompt/model updates</a:t>
            </a:r>
            <a:endParaRPr lang="en-US" sz="950" dirty="0"/>
          </a:p>
          <a:p>
            <a:pPr algn="l" marL="342900" indent="-342900">
              <a:lnSpc>
                <a:spcPct val="124000"/>
              </a:lnSpc>
              <a:buSzPct val="100000"/>
              <a:buChar char="•"/>
            </a:pPr>
            <a:r>
              <a:rPr lang="en-US" sz="950" dirty="0">
                <a:solidFill>
                  <a:srgbClr val="403C4E"/>
                </a:solidFill>
                <a:latin typeface="Open Sans" pitchFamily="34" charset="0"/>
                <a:ea typeface="Open Sans" pitchFamily="34" charset="-122"/>
                <a:cs typeface="Open Sans" pitchFamily="34" charset="-120"/>
              </a:rPr>
              <a:t>Retry &amp; compare before redeploy</a:t>
            </a:r>
            <a:endParaRPr lang="en-US" sz="950" dirty="0"/>
          </a:p>
        </p:txBody>
      </p:sp>
      <p:sp>
        <p:nvSpPr>
          <p:cNvPr id="21" name="Text 16"/>
          <p:cNvSpPr/>
          <p:nvPr/>
        </p:nvSpPr>
        <p:spPr>
          <a:xfrm>
            <a:off x="6150173" y="3582219"/>
            <a:ext cx="2440856"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 Continuous improvement, not prompt guessing</a:t>
            </a:r>
            <a:endParaRPr lang="en-US" sz="950" dirty="0"/>
          </a:p>
        </p:txBody>
      </p:sp>
      <p:sp>
        <p:nvSpPr>
          <p:cNvPr id="22" name="Text 17"/>
          <p:cNvSpPr/>
          <p:nvPr/>
        </p:nvSpPr>
        <p:spPr>
          <a:xfrm>
            <a:off x="609079" y="4306639"/>
            <a:ext cx="8108528" cy="362396"/>
          </a:xfrm>
          <a:prstGeom prst="rect">
            <a:avLst/>
          </a:prstGeom>
          <a:noFill/>
          <a:ln/>
        </p:spPr>
        <p:txBody>
          <a:bodyPr wrap="square" lIns="0" tIns="0" rIns="0" bIns="0" rtlCol="0" anchor="t">
            <a:normAutofit/>
          </a:bodyPr>
          <a:lstStyle/>
          <a:p>
            <a:pPr algn="l" indent="0" marL="0">
              <a:lnSpc>
                <a:spcPct val="124000"/>
              </a:lnSpc>
              <a:buNone/>
            </a:pPr>
            <a:r>
              <a:rPr lang="en-US" sz="950" b="1" dirty="0">
                <a:solidFill>
                  <a:srgbClr val="403C4E"/>
                </a:solidFill>
                <a:latin typeface="Open Sans" pitchFamily="34" charset="0"/>
                <a:ea typeface="Open Sans" pitchFamily="34" charset="-122"/>
                <a:cs typeface="Open Sans" pitchFamily="34" charset="-120"/>
              </a:rPr>
              <a:t>Bottom Line:</a:t>
            </a:r>
            <a:endParaRPr lang="en-US" sz="950" dirty="0"/>
          </a:p>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LangGraph gives you </a:t>
            </a:r>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control</a:t>
            </a:r>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 LangSmith gives you </a:t>
            </a:r>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visibility</a:t>
            </a:r>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 Together → production-grade AI sales agents.</a:t>
            </a:r>
            <a:endParaRPr lang="en-US" sz="950" dirty="0"/>
          </a:p>
        </p:txBody>
      </p:sp>
      <p:sp>
        <p:nvSpPr>
          <p:cNvPr id="23" name="Shape 18"/>
          <p:cNvSpPr/>
          <p:nvPr/>
        </p:nvSpPr>
        <p:spPr>
          <a:xfrm>
            <a:off x="426393" y="4188916"/>
            <a:ext cx="14288" cy="597843"/>
          </a:xfrm>
          <a:prstGeom prst="rect">
            <a:avLst/>
          </a:prstGeom>
          <a:solidFill>
            <a:srgbClr val="FFAD94"/>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96119" y="521345"/>
            <a:ext cx="754484" cy="266402"/>
          </a:xfrm>
          <a:prstGeom prst="roundRect">
            <a:avLst>
              <a:gd name="adj" fmla="val 17880"/>
            </a:avLst>
          </a:prstGeom>
          <a:solidFill>
            <a:srgbClr val="FFD8CC"/>
          </a:solidFill>
          <a:ln/>
        </p:spPr>
      </p:sp>
      <p:sp>
        <p:nvSpPr>
          <p:cNvPr id="3" name="Text 1"/>
          <p:cNvSpPr/>
          <p:nvPr/>
        </p:nvSpPr>
        <p:spPr>
          <a:xfrm>
            <a:off x="581174" y="563835"/>
            <a:ext cx="1041574" cy="181421"/>
          </a:xfrm>
          <a:prstGeom prst="rect">
            <a:avLst/>
          </a:prstGeom>
          <a:noFill/>
          <a:ln/>
        </p:spPr>
        <p:txBody>
          <a:bodyPr wrap="none" lIns="0" tIns="0" rIns="0" bIns="0" rtlCol="0" anchor="t"/>
          <a:lstStyle/>
          <a:p>
            <a:pPr algn="l" indent="0" marL="0">
              <a:lnSpc>
                <a:spcPct val="133000"/>
              </a:lnSpc>
              <a:buNone/>
            </a:pPr>
            <a:r>
              <a:rPr lang="en-US" sz="850" dirty="0">
                <a:solidFill>
                  <a:srgbClr val="403C4E"/>
                </a:solidFill>
                <a:latin typeface="Open Sans" pitchFamily="34" charset="0"/>
                <a:ea typeface="Open Sans" pitchFamily="34" charset="-122"/>
                <a:cs typeface="Open Sans" pitchFamily="34" charset="-120"/>
              </a:rPr>
              <a:t>CHAPTER 5</a:t>
            </a:r>
            <a:endParaRPr lang="en-US" sz="850" dirty="0"/>
          </a:p>
        </p:txBody>
      </p:sp>
      <p:sp>
        <p:nvSpPr>
          <p:cNvPr id="4" name="Text 2"/>
          <p:cNvSpPr/>
          <p:nvPr/>
        </p:nvSpPr>
        <p:spPr>
          <a:xfrm>
            <a:off x="1321445" y="563835"/>
            <a:ext cx="1679972" cy="181421"/>
          </a:xfrm>
          <a:prstGeom prst="rect">
            <a:avLst/>
          </a:prstGeom>
          <a:noFill/>
          <a:ln/>
        </p:spPr>
        <p:txBody>
          <a:bodyPr wrap="none" lIns="0" tIns="0" rIns="0" bIns="0" rtlCol="0" anchor="t"/>
          <a:lstStyle/>
          <a:p>
            <a:pPr algn="l" indent="0" marL="0">
              <a:lnSpc>
                <a:spcPct val="133000"/>
              </a:lnSpc>
              <a:buNone/>
            </a:pPr>
            <a:r>
              <a:rPr lang="en-US" sz="850" dirty="0">
                <a:solidFill>
                  <a:srgbClr val="FFAD94"/>
                </a:solidFill>
                <a:latin typeface="Open Sans" pitchFamily="34" charset="0"/>
                <a:ea typeface="Open Sans" pitchFamily="34" charset="-122"/>
                <a:cs typeface="Open Sans" pitchFamily="34" charset="-120"/>
              </a:rPr>
              <a:t>MODELING DISCOVERY</a:t>
            </a:r>
            <a:endParaRPr lang="en-US" sz="850" dirty="0"/>
          </a:p>
        </p:txBody>
      </p:sp>
      <p:sp>
        <p:nvSpPr>
          <p:cNvPr id="5" name="Text 3"/>
          <p:cNvSpPr/>
          <p:nvPr/>
        </p:nvSpPr>
        <p:spPr>
          <a:xfrm>
            <a:off x="496119" y="844451"/>
            <a:ext cx="5045497"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Model Selection Tradeoffs</a:t>
            </a:r>
            <a:endParaRPr lang="en-US" sz="2750" dirty="0"/>
          </a:p>
        </p:txBody>
      </p:sp>
      <p:sp>
        <p:nvSpPr>
          <p:cNvPr id="6" name="Text 4"/>
          <p:cNvSpPr/>
          <p:nvPr/>
        </p:nvSpPr>
        <p:spPr>
          <a:xfrm>
            <a:off x="496119" y="1500039"/>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Choosing the right AI model for your discovery agent involves balancing several critical performance and resource factors.</a:t>
            </a:r>
            <a:endParaRPr lang="en-US" sz="1100" dirty="0"/>
          </a:p>
        </p:txBody>
      </p:sp>
      <p:sp>
        <p:nvSpPr>
          <p:cNvPr id="7" name="Shape 5"/>
          <p:cNvSpPr/>
          <p:nvPr/>
        </p:nvSpPr>
        <p:spPr>
          <a:xfrm>
            <a:off x="477069" y="1867272"/>
            <a:ext cx="38100" cy="1025054"/>
          </a:xfrm>
          <a:prstGeom prst="rect">
            <a:avLst/>
          </a:prstGeom>
          <a:solidFill>
            <a:srgbClr val="FFAD94"/>
          </a:solidFill>
          <a:ln/>
        </p:spPr>
      </p:sp>
      <p:sp>
        <p:nvSpPr>
          <p:cNvPr id="8" name="Text 6"/>
          <p:cNvSpPr/>
          <p:nvPr/>
        </p:nvSpPr>
        <p:spPr>
          <a:xfrm>
            <a:off x="675977" y="1886322"/>
            <a:ext cx="1725141"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Latency</a:t>
            </a:r>
            <a:endParaRPr lang="en-US" sz="1350" dirty="0"/>
          </a:p>
        </p:txBody>
      </p:sp>
      <p:sp>
        <p:nvSpPr>
          <p:cNvPr id="9" name="Text 7"/>
          <p:cNvSpPr/>
          <p:nvPr/>
        </p:nvSpPr>
        <p:spPr>
          <a:xfrm>
            <a:off x="675977" y="2192834"/>
            <a:ext cx="1725141"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The speed at which the agent processes and responds.</a:t>
            </a:r>
            <a:endParaRPr lang="en-US" sz="1100" dirty="0"/>
          </a:p>
        </p:txBody>
      </p:sp>
      <p:sp>
        <p:nvSpPr>
          <p:cNvPr id="10" name="Shape 8"/>
          <p:cNvSpPr/>
          <p:nvPr/>
        </p:nvSpPr>
        <p:spPr>
          <a:xfrm>
            <a:off x="2559248" y="1867272"/>
            <a:ext cx="38100" cy="1025054"/>
          </a:xfrm>
          <a:prstGeom prst="rect">
            <a:avLst/>
          </a:prstGeom>
          <a:solidFill>
            <a:srgbClr val="FFAD94"/>
          </a:solidFill>
          <a:ln/>
        </p:spPr>
      </p:sp>
      <p:sp>
        <p:nvSpPr>
          <p:cNvPr id="11" name="Text 9"/>
          <p:cNvSpPr/>
          <p:nvPr/>
        </p:nvSpPr>
        <p:spPr>
          <a:xfrm>
            <a:off x="2758157" y="1886322"/>
            <a:ext cx="1725216"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Cost</a:t>
            </a:r>
            <a:endParaRPr lang="en-US" sz="1350" dirty="0"/>
          </a:p>
        </p:txBody>
      </p:sp>
      <p:sp>
        <p:nvSpPr>
          <p:cNvPr id="12" name="Text 10"/>
          <p:cNvSpPr/>
          <p:nvPr/>
        </p:nvSpPr>
        <p:spPr>
          <a:xfrm>
            <a:off x="2758157" y="2192834"/>
            <a:ext cx="1725216"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Operational expenses associated with model usage.</a:t>
            </a:r>
            <a:endParaRPr lang="en-US" sz="1100" dirty="0"/>
          </a:p>
        </p:txBody>
      </p:sp>
      <p:sp>
        <p:nvSpPr>
          <p:cNvPr id="13" name="Shape 11"/>
          <p:cNvSpPr/>
          <p:nvPr/>
        </p:nvSpPr>
        <p:spPr>
          <a:xfrm>
            <a:off x="4641503" y="1867272"/>
            <a:ext cx="38100" cy="1025054"/>
          </a:xfrm>
          <a:prstGeom prst="rect">
            <a:avLst/>
          </a:prstGeom>
          <a:solidFill>
            <a:srgbClr val="FFAD94"/>
          </a:solidFill>
          <a:ln/>
        </p:spPr>
      </p:sp>
      <p:sp>
        <p:nvSpPr>
          <p:cNvPr id="14" name="Text 12"/>
          <p:cNvSpPr/>
          <p:nvPr/>
        </p:nvSpPr>
        <p:spPr>
          <a:xfrm>
            <a:off x="4840412" y="1886322"/>
            <a:ext cx="1725216"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Context Window</a:t>
            </a:r>
            <a:endParaRPr lang="en-US" sz="1350" dirty="0"/>
          </a:p>
        </p:txBody>
      </p:sp>
      <p:sp>
        <p:nvSpPr>
          <p:cNvPr id="15" name="Text 13"/>
          <p:cNvSpPr/>
          <p:nvPr/>
        </p:nvSpPr>
        <p:spPr>
          <a:xfrm>
            <a:off x="4840412" y="2192834"/>
            <a:ext cx="1725216"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The agent's ability to maintain and recall conversation history.</a:t>
            </a:r>
            <a:endParaRPr lang="en-US" sz="1100" dirty="0"/>
          </a:p>
        </p:txBody>
      </p:sp>
      <p:sp>
        <p:nvSpPr>
          <p:cNvPr id="16" name="Shape 14"/>
          <p:cNvSpPr/>
          <p:nvPr/>
        </p:nvSpPr>
        <p:spPr>
          <a:xfrm>
            <a:off x="6723757" y="1867272"/>
            <a:ext cx="38100" cy="1025054"/>
          </a:xfrm>
          <a:prstGeom prst="rect">
            <a:avLst/>
          </a:prstGeom>
          <a:solidFill>
            <a:srgbClr val="FFAD94"/>
          </a:solidFill>
          <a:ln/>
        </p:spPr>
      </p:sp>
      <p:sp>
        <p:nvSpPr>
          <p:cNvPr id="17" name="Text 15"/>
          <p:cNvSpPr/>
          <p:nvPr/>
        </p:nvSpPr>
        <p:spPr>
          <a:xfrm>
            <a:off x="6922666" y="1886322"/>
            <a:ext cx="1725216"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Tool Reliability</a:t>
            </a:r>
            <a:endParaRPr lang="en-US" sz="1350" dirty="0"/>
          </a:p>
        </p:txBody>
      </p:sp>
      <p:sp>
        <p:nvSpPr>
          <p:cNvPr id="18" name="Text 16"/>
          <p:cNvSpPr/>
          <p:nvPr/>
        </p:nvSpPr>
        <p:spPr>
          <a:xfrm>
            <a:off x="6922666" y="2192834"/>
            <a:ext cx="1725216"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Accuracy in using external tools and functions.</a:t>
            </a:r>
            <a:endParaRPr lang="en-US" sz="1100" dirty="0"/>
          </a:p>
        </p:txBody>
      </p:sp>
      <p:sp>
        <p:nvSpPr>
          <p:cNvPr id="19" name="Shape 17"/>
          <p:cNvSpPr/>
          <p:nvPr/>
        </p:nvSpPr>
        <p:spPr>
          <a:xfrm>
            <a:off x="477069" y="3137743"/>
            <a:ext cx="38100" cy="798240"/>
          </a:xfrm>
          <a:prstGeom prst="rect">
            <a:avLst/>
          </a:prstGeom>
          <a:solidFill>
            <a:srgbClr val="FFAD94"/>
          </a:solidFill>
          <a:ln/>
        </p:spPr>
      </p:sp>
      <p:sp>
        <p:nvSpPr>
          <p:cNvPr id="20" name="Text 18"/>
          <p:cNvSpPr/>
          <p:nvPr/>
        </p:nvSpPr>
        <p:spPr>
          <a:xfrm>
            <a:off x="675977" y="3156793"/>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Extraction Accuracy</a:t>
            </a:r>
            <a:endParaRPr lang="en-US" sz="1350" dirty="0"/>
          </a:p>
        </p:txBody>
      </p:sp>
      <p:sp>
        <p:nvSpPr>
          <p:cNvPr id="21" name="Text 19"/>
          <p:cNvSpPr/>
          <p:nvPr/>
        </p:nvSpPr>
        <p:spPr>
          <a:xfrm>
            <a:off x="675977" y="3463305"/>
            <a:ext cx="3807396"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Precision in identifying and extracting key information.</a:t>
            </a:r>
            <a:endParaRPr lang="en-US" sz="1100" dirty="0"/>
          </a:p>
        </p:txBody>
      </p:sp>
      <p:sp>
        <p:nvSpPr>
          <p:cNvPr id="22" name="Shape 20"/>
          <p:cNvSpPr/>
          <p:nvPr/>
        </p:nvSpPr>
        <p:spPr>
          <a:xfrm>
            <a:off x="4641503" y="3137743"/>
            <a:ext cx="38100" cy="798240"/>
          </a:xfrm>
          <a:prstGeom prst="rect">
            <a:avLst/>
          </a:prstGeom>
          <a:solidFill>
            <a:srgbClr val="FFAD94"/>
          </a:solidFill>
          <a:ln/>
        </p:spPr>
      </p:sp>
      <p:sp>
        <p:nvSpPr>
          <p:cNvPr id="23" name="Text 21"/>
          <p:cNvSpPr/>
          <p:nvPr/>
        </p:nvSpPr>
        <p:spPr>
          <a:xfrm>
            <a:off x="4840412" y="3156793"/>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Hallucination Rate</a:t>
            </a:r>
            <a:endParaRPr lang="en-US" sz="1350" dirty="0"/>
          </a:p>
        </p:txBody>
      </p:sp>
      <p:sp>
        <p:nvSpPr>
          <p:cNvPr id="24" name="Text 22"/>
          <p:cNvSpPr/>
          <p:nvPr/>
        </p:nvSpPr>
        <p:spPr>
          <a:xfrm>
            <a:off x="4840412" y="3463305"/>
            <a:ext cx="3807470"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Frequency of generating inaccurate or nonsensical information.</a:t>
            </a:r>
            <a:endParaRPr lang="en-US" sz="1100" dirty="0"/>
          </a:p>
        </p:txBody>
      </p:sp>
      <p:sp>
        <p:nvSpPr>
          <p:cNvPr id="25" name="Text 23"/>
          <p:cNvSpPr/>
          <p:nvPr/>
        </p:nvSpPr>
        <p:spPr>
          <a:xfrm>
            <a:off x="708720" y="4235872"/>
            <a:ext cx="8396362"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For discovery agents, </a:t>
            </a:r>
            <a:pPr algn="l" indent="0" marL="0">
              <a:lnSpc>
                <a:spcPct val="133000"/>
              </a:lnSpc>
              <a:buNone/>
            </a:pPr>
            <a:r>
              <a:rPr lang="en-US" sz="1100" b="1" dirty="0">
                <a:solidFill>
                  <a:srgbClr val="403C4E"/>
                </a:solidFill>
                <a:latin typeface="Open Sans" pitchFamily="34" charset="0"/>
                <a:ea typeface="Open Sans" pitchFamily="34" charset="-122"/>
                <a:cs typeface="Open Sans" pitchFamily="34" charset="-120"/>
              </a:rPr>
              <a:t>reasoning quality consistently outweighs creative writing ability</a:t>
            </a:r>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a:t>
            </a:r>
            <a:endParaRPr lang="en-US" sz="1100" dirty="0"/>
          </a:p>
        </p:txBody>
      </p:sp>
      <p:sp>
        <p:nvSpPr>
          <p:cNvPr id="26" name="Shape 24"/>
          <p:cNvSpPr/>
          <p:nvPr/>
        </p:nvSpPr>
        <p:spPr>
          <a:xfrm>
            <a:off x="496119" y="4076402"/>
            <a:ext cx="19050" cy="545753"/>
          </a:xfrm>
          <a:prstGeom prst="rect">
            <a:avLst/>
          </a:prstGeom>
          <a:solidFill>
            <a:srgbClr val="FFAD94"/>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80640" y="401985"/>
            <a:ext cx="5164559" cy="429146"/>
          </a:xfrm>
          <a:prstGeom prst="rect">
            <a:avLst/>
          </a:prstGeom>
          <a:noFill/>
          <a:ln/>
        </p:spPr>
        <p:txBody>
          <a:bodyPr wrap="none" lIns="0" tIns="0" rIns="0" bIns="0" rtlCol="0" anchor="t"/>
          <a:lstStyle/>
          <a:p>
            <a:pPr algn="l" indent="0" marL="0">
              <a:lnSpc>
                <a:spcPct val="104000"/>
              </a:lnSpc>
              <a:buNone/>
            </a:pPr>
            <a:r>
              <a:rPr lang="en-US" sz="2700" b="1" dirty="0">
                <a:solidFill>
                  <a:srgbClr val="403C4E"/>
                </a:solidFill>
                <a:latin typeface="Merriweather Bold" pitchFamily="34" charset="0"/>
                <a:ea typeface="Merriweather Bold" pitchFamily="34" charset="-122"/>
                <a:cs typeface="Merriweather Bold" pitchFamily="34" charset="-120"/>
              </a:rPr>
              <a:t>Latency vs. Thinking Depth</a:t>
            </a:r>
            <a:endParaRPr lang="en-US" sz="2700" dirty="0"/>
          </a:p>
        </p:txBody>
      </p:sp>
      <p:sp>
        <p:nvSpPr>
          <p:cNvPr id="3" name="Text 1"/>
          <p:cNvSpPr/>
          <p:nvPr/>
        </p:nvSpPr>
        <p:spPr>
          <a:xfrm>
            <a:off x="480640" y="1097161"/>
            <a:ext cx="8182719" cy="43264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AI agents face a fundamental tradeoff: the more complex the reasoning, the higher the latency and cost. Understanding this spectrum is critical for optimizing agent performance in real-world scenarios.</a:t>
            </a:r>
            <a:endParaRPr lang="en-US" sz="1050" dirty="0"/>
          </a:p>
        </p:txBody>
      </p:sp>
      <p:sp>
        <p:nvSpPr>
          <p:cNvPr id="4" name="Shape 2"/>
          <p:cNvSpPr/>
          <p:nvPr/>
        </p:nvSpPr>
        <p:spPr>
          <a:xfrm>
            <a:off x="480640" y="1679451"/>
            <a:ext cx="4024833" cy="1756618"/>
          </a:xfrm>
          <a:prstGeom prst="roundRect">
            <a:avLst>
              <a:gd name="adj" fmla="val 3284"/>
            </a:avLst>
          </a:prstGeom>
          <a:solidFill>
            <a:srgbClr val="FFFFFF"/>
          </a:solidFill>
          <a:ln w="19050">
            <a:solidFill>
              <a:srgbClr val="E5BEB2"/>
            </a:solidFill>
            <a:prstDash val="solid"/>
          </a:ln>
        </p:spPr>
      </p:sp>
      <p:sp>
        <p:nvSpPr>
          <p:cNvPr id="5" name="Shape 3"/>
          <p:cNvSpPr/>
          <p:nvPr/>
        </p:nvSpPr>
        <p:spPr>
          <a:xfrm>
            <a:off x="499690" y="1698501"/>
            <a:ext cx="3986733" cy="411956"/>
          </a:xfrm>
          <a:prstGeom prst="roundRect">
            <a:avLst>
              <a:gd name="adj" fmla="val 8453"/>
            </a:avLst>
          </a:prstGeom>
          <a:solidFill>
            <a:srgbClr val="FFD8CC"/>
          </a:solidFill>
          <a:ln/>
        </p:spPr>
      </p:sp>
      <p:sp>
        <p:nvSpPr>
          <p:cNvPr id="6" name="Text 4"/>
          <p:cNvSpPr/>
          <p:nvPr/>
        </p:nvSpPr>
        <p:spPr>
          <a:xfrm>
            <a:off x="2390031" y="1773362"/>
            <a:ext cx="205978" cy="257473"/>
          </a:xfrm>
          <a:prstGeom prst="rect">
            <a:avLst/>
          </a:prstGeom>
          <a:noFill/>
          <a:ln/>
        </p:spPr>
        <p:txBody>
          <a:bodyPr wrap="none" lIns="0" tIns="0" rIns="0" bIns="0" rtlCol="0" anchor="ctr"/>
          <a:lstStyle/>
          <a:p>
            <a:pPr algn="ctr" indent="0" marL="0">
              <a:lnSpc>
                <a:spcPct val="100000"/>
              </a:lnSpc>
              <a:buNone/>
            </a:pPr>
            <a:r>
              <a:rPr lang="en-US" sz="1600" b="1" dirty="0">
                <a:solidFill>
                  <a:srgbClr val="403C4E"/>
                </a:solidFill>
                <a:latin typeface="Merriweather Bold" pitchFamily="34" charset="0"/>
                <a:ea typeface="Merriweather Bold" pitchFamily="34" charset="-122"/>
                <a:cs typeface="Merriweather Bold" pitchFamily="34" charset="-120"/>
              </a:rPr>
              <a:t>1</a:t>
            </a:r>
            <a:endParaRPr lang="en-US" sz="1600" dirty="0"/>
          </a:p>
        </p:txBody>
      </p:sp>
      <p:sp>
        <p:nvSpPr>
          <p:cNvPr id="7" name="Text 5"/>
          <p:cNvSpPr/>
          <p:nvPr/>
        </p:nvSpPr>
        <p:spPr>
          <a:xfrm>
            <a:off x="636984" y="2243435"/>
            <a:ext cx="1716658"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Fast Agent</a:t>
            </a:r>
            <a:endParaRPr lang="en-US" sz="1350" dirty="0"/>
          </a:p>
        </p:txBody>
      </p:sp>
      <p:sp>
        <p:nvSpPr>
          <p:cNvPr id="8" name="Text 6"/>
          <p:cNvSpPr/>
          <p:nvPr/>
        </p:nvSpPr>
        <p:spPr>
          <a:xfrm>
            <a:off x="636984" y="2537743"/>
            <a:ext cx="3712146" cy="741983"/>
          </a:xfrm>
          <a:prstGeom prst="rect">
            <a:avLst/>
          </a:prstGeom>
          <a:noFill/>
          <a:ln/>
        </p:spPr>
        <p:txBody>
          <a:bodyPr wrap="square" lIns="0" tIns="0" rIns="0" bIns="0" rtlCol="0" anchor="t">
            <a:normAutofit/>
          </a:bodyPr>
          <a:lstStyle/>
          <a:p>
            <a:pPr algn="l" marL="342900" indent="-342900">
              <a:lnSpc>
                <a:spcPct val="131000"/>
              </a:lnSpc>
              <a:buSzPct val="100000"/>
              <a:buChar char="•"/>
            </a:pPr>
            <a:r>
              <a:rPr lang="en-US" sz="1050" dirty="0">
                <a:solidFill>
                  <a:srgbClr val="403C4E"/>
                </a:solidFill>
                <a:latin typeface="Open Sans" pitchFamily="34" charset="0"/>
                <a:ea typeface="Open Sans" pitchFamily="34" charset="-122"/>
                <a:cs typeface="Open Sans" pitchFamily="34" charset="-120"/>
              </a:rPr>
              <a:t>Single LLM call</a:t>
            </a:r>
            <a:endParaRPr lang="en-US" sz="1050" dirty="0"/>
          </a:p>
          <a:p>
            <a:pPr algn="l" marL="342900" indent="-342900">
              <a:lnSpc>
                <a:spcPct val="131000"/>
              </a:lnSpc>
              <a:buSzPct val="100000"/>
              <a:buChar char="•"/>
            </a:pPr>
            <a:r>
              <a:rPr lang="en-US" sz="1050" dirty="0">
                <a:solidFill>
                  <a:srgbClr val="403C4E"/>
                </a:solidFill>
                <a:latin typeface="Open Sans" pitchFamily="34" charset="0"/>
                <a:ea typeface="Open Sans" pitchFamily="34" charset="-122"/>
                <a:cs typeface="Open Sans" pitchFamily="34" charset="-120"/>
              </a:rPr>
              <a:t>Minimal reasoning steps</a:t>
            </a:r>
            <a:endParaRPr lang="en-US" sz="1050" dirty="0"/>
          </a:p>
          <a:p>
            <a:pPr algn="l" marL="342900" indent="-342900">
              <a:lnSpc>
                <a:spcPct val="131000"/>
              </a:lnSpc>
              <a:buSzPct val="100000"/>
              <a:buChar char="•"/>
            </a:pPr>
            <a:r>
              <a:rPr lang="en-US" sz="1050" dirty="0">
                <a:solidFill>
                  <a:srgbClr val="403C4E"/>
                </a:solidFill>
                <a:latin typeface="Open Sans" pitchFamily="34" charset="0"/>
                <a:ea typeface="Open Sans" pitchFamily="34" charset="-122"/>
                <a:cs typeface="Open Sans" pitchFamily="34" charset="-120"/>
              </a:rPr>
              <a:t>Lower operational cost</a:t>
            </a:r>
            <a:endParaRPr lang="en-US" sz="1050" dirty="0"/>
          </a:p>
        </p:txBody>
      </p:sp>
      <p:sp>
        <p:nvSpPr>
          <p:cNvPr id="9" name="Shape 7"/>
          <p:cNvSpPr/>
          <p:nvPr/>
        </p:nvSpPr>
        <p:spPr>
          <a:xfrm>
            <a:off x="4638452" y="1679451"/>
            <a:ext cx="4024908" cy="1756618"/>
          </a:xfrm>
          <a:prstGeom prst="roundRect">
            <a:avLst>
              <a:gd name="adj" fmla="val 3284"/>
            </a:avLst>
          </a:prstGeom>
          <a:solidFill>
            <a:srgbClr val="FFFFFF"/>
          </a:solidFill>
          <a:ln w="19050">
            <a:solidFill>
              <a:srgbClr val="E5BEB2"/>
            </a:solidFill>
            <a:prstDash val="solid"/>
          </a:ln>
        </p:spPr>
      </p:sp>
      <p:sp>
        <p:nvSpPr>
          <p:cNvPr id="10" name="Shape 8"/>
          <p:cNvSpPr/>
          <p:nvPr/>
        </p:nvSpPr>
        <p:spPr>
          <a:xfrm>
            <a:off x="4657502" y="1698501"/>
            <a:ext cx="3986808" cy="411956"/>
          </a:xfrm>
          <a:prstGeom prst="roundRect">
            <a:avLst>
              <a:gd name="adj" fmla="val 8453"/>
            </a:avLst>
          </a:prstGeom>
          <a:solidFill>
            <a:srgbClr val="FFD8CC"/>
          </a:solidFill>
          <a:ln/>
        </p:spPr>
      </p:sp>
      <p:sp>
        <p:nvSpPr>
          <p:cNvPr id="11" name="Text 9"/>
          <p:cNvSpPr/>
          <p:nvPr/>
        </p:nvSpPr>
        <p:spPr>
          <a:xfrm>
            <a:off x="6547917" y="1773362"/>
            <a:ext cx="205978" cy="257473"/>
          </a:xfrm>
          <a:prstGeom prst="rect">
            <a:avLst/>
          </a:prstGeom>
          <a:noFill/>
          <a:ln/>
        </p:spPr>
        <p:txBody>
          <a:bodyPr wrap="none" lIns="0" tIns="0" rIns="0" bIns="0" rtlCol="0" anchor="ctr"/>
          <a:lstStyle/>
          <a:p>
            <a:pPr algn="ctr" indent="0" marL="0">
              <a:lnSpc>
                <a:spcPct val="100000"/>
              </a:lnSpc>
              <a:buNone/>
            </a:pPr>
            <a:r>
              <a:rPr lang="en-US" sz="1600" b="1" dirty="0">
                <a:solidFill>
                  <a:srgbClr val="403C4E"/>
                </a:solidFill>
                <a:latin typeface="Merriweather Bold" pitchFamily="34" charset="0"/>
                <a:ea typeface="Merriweather Bold" pitchFamily="34" charset="-122"/>
                <a:cs typeface="Merriweather Bold" pitchFamily="34" charset="-120"/>
              </a:rPr>
              <a:t>2</a:t>
            </a:r>
            <a:endParaRPr lang="en-US" sz="1600" dirty="0"/>
          </a:p>
        </p:txBody>
      </p:sp>
      <p:sp>
        <p:nvSpPr>
          <p:cNvPr id="12" name="Text 10"/>
          <p:cNvSpPr/>
          <p:nvPr/>
        </p:nvSpPr>
        <p:spPr>
          <a:xfrm>
            <a:off x="4794796" y="2243435"/>
            <a:ext cx="1716658" cy="21453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Deep Agent</a:t>
            </a:r>
            <a:endParaRPr lang="en-US" sz="1350" dirty="0"/>
          </a:p>
        </p:txBody>
      </p:sp>
      <p:sp>
        <p:nvSpPr>
          <p:cNvPr id="13" name="Text 11"/>
          <p:cNvSpPr/>
          <p:nvPr/>
        </p:nvSpPr>
        <p:spPr>
          <a:xfrm>
            <a:off x="4794796" y="2537743"/>
            <a:ext cx="3712220" cy="741983"/>
          </a:xfrm>
          <a:prstGeom prst="rect">
            <a:avLst/>
          </a:prstGeom>
          <a:noFill/>
          <a:ln/>
        </p:spPr>
        <p:txBody>
          <a:bodyPr wrap="square" lIns="0" tIns="0" rIns="0" bIns="0" rtlCol="0" anchor="t">
            <a:normAutofit/>
          </a:bodyPr>
          <a:lstStyle/>
          <a:p>
            <a:pPr algn="l" marL="342900" indent="-342900">
              <a:lnSpc>
                <a:spcPct val="131000"/>
              </a:lnSpc>
              <a:buSzPct val="100000"/>
              <a:buChar char="•"/>
            </a:pPr>
            <a:r>
              <a:rPr lang="en-US" sz="1050" dirty="0">
                <a:solidFill>
                  <a:srgbClr val="403C4E"/>
                </a:solidFill>
                <a:latin typeface="Open Sans" pitchFamily="34" charset="0"/>
                <a:ea typeface="Open Sans" pitchFamily="34" charset="-122"/>
                <a:cs typeface="Open Sans" pitchFamily="34" charset="-120"/>
              </a:rPr>
              <a:t>Multi-step reasoning chains</a:t>
            </a:r>
            <a:endParaRPr lang="en-US" sz="1050" dirty="0"/>
          </a:p>
          <a:p>
            <a:pPr algn="l" marL="342900" indent="-342900">
              <a:lnSpc>
                <a:spcPct val="131000"/>
              </a:lnSpc>
              <a:buSzPct val="100000"/>
              <a:buChar char="•"/>
            </a:pPr>
            <a:r>
              <a:rPr lang="en-US" sz="1050" dirty="0">
                <a:solidFill>
                  <a:srgbClr val="403C4E"/>
                </a:solidFill>
                <a:latin typeface="Open Sans" pitchFamily="34" charset="0"/>
                <a:ea typeface="Open Sans" pitchFamily="34" charset="-122"/>
                <a:cs typeface="Open Sans" pitchFamily="34" charset="-120"/>
              </a:rPr>
              <a:t>Tool use &amp; self-reflection</a:t>
            </a:r>
            <a:endParaRPr lang="en-US" sz="1050" dirty="0"/>
          </a:p>
          <a:p>
            <a:pPr algn="l" marL="342900" indent="-342900">
              <a:lnSpc>
                <a:spcPct val="131000"/>
              </a:lnSpc>
              <a:buSzPct val="100000"/>
              <a:buChar char="•"/>
            </a:pPr>
            <a:r>
              <a:rPr lang="en-US" sz="1050" dirty="0">
                <a:solidFill>
                  <a:srgbClr val="403C4E"/>
                </a:solidFill>
                <a:latin typeface="Open Sans" pitchFamily="34" charset="0"/>
                <a:ea typeface="Open Sans" pitchFamily="34" charset="-122"/>
                <a:cs typeface="Open Sans" pitchFamily="34" charset="-120"/>
              </a:rPr>
              <a:t>Higher quality outcomes</a:t>
            </a:r>
            <a:endParaRPr lang="en-US" sz="1050" dirty="0"/>
          </a:p>
        </p:txBody>
      </p:sp>
      <p:sp>
        <p:nvSpPr>
          <p:cNvPr id="14" name="Text 12"/>
          <p:cNvSpPr/>
          <p:nvPr/>
        </p:nvSpPr>
        <p:spPr>
          <a:xfrm>
            <a:off x="480640" y="3635573"/>
            <a:ext cx="3998416" cy="257473"/>
          </a:xfrm>
          <a:prstGeom prst="rect">
            <a:avLst/>
          </a:prstGeom>
          <a:noFill/>
          <a:ln/>
        </p:spPr>
        <p:txBody>
          <a:bodyPr wrap="none" lIns="0" tIns="0" rIns="0" bIns="0" rtlCol="0" anchor="t"/>
          <a:lstStyle/>
          <a:p>
            <a:pPr algn="l" indent="0" marL="0">
              <a:lnSpc>
                <a:spcPct val="104000"/>
              </a:lnSpc>
              <a:buNone/>
            </a:pPr>
            <a:r>
              <a:rPr lang="en-US" sz="1600" b="1" dirty="0">
                <a:solidFill>
                  <a:srgbClr val="403C4E"/>
                </a:solidFill>
                <a:latin typeface="Merriweather Bold" pitchFamily="34" charset="0"/>
                <a:ea typeface="Merriweather Bold" pitchFamily="34" charset="-122"/>
                <a:cs typeface="Merriweather Bold" pitchFamily="34" charset="-120"/>
              </a:rPr>
              <a:t>Where does quality justify latency?</a:t>
            </a:r>
            <a:endParaRPr lang="en-US" sz="1600" dirty="0"/>
          </a:p>
        </p:txBody>
      </p:sp>
      <p:sp>
        <p:nvSpPr>
          <p:cNvPr id="15" name="Text 13"/>
          <p:cNvSpPr/>
          <p:nvPr/>
        </p:nvSpPr>
        <p:spPr>
          <a:xfrm>
            <a:off x="480640" y="4092550"/>
            <a:ext cx="8182719" cy="648965"/>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In sales conversations, speed is paramount. While deep reasoning yields better outcomes, delays are detrimental. A </a:t>
            </a:r>
            <a:pPr algn="l" indent="0" marL="0">
              <a:lnSpc>
                <a:spcPct val="131000"/>
              </a:lnSpc>
              <a:buNone/>
            </a:pPr>
            <a:r>
              <a:rPr lang="en-US" sz="1050" b="1" dirty="0">
                <a:solidFill>
                  <a:srgbClr val="403C4E"/>
                </a:solidFill>
                <a:latin typeface="Open Sans" pitchFamily="34" charset="0"/>
                <a:ea typeface="Open Sans" pitchFamily="34" charset="-122"/>
                <a:cs typeface="Open Sans" pitchFamily="34" charset="-120"/>
              </a:rPr>
              <a:t>1-2 second response time</a:t>
            </a:r>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 is generally acceptable, but anything over </a:t>
            </a:r>
            <a:pPr algn="l" indent="0" marL="0">
              <a:lnSpc>
                <a:spcPct val="131000"/>
              </a:lnSpc>
              <a:buNone/>
            </a:pPr>
            <a:r>
              <a:rPr lang="en-US" sz="1050" b="1" dirty="0">
                <a:solidFill>
                  <a:srgbClr val="403C4E"/>
                </a:solidFill>
                <a:latin typeface="Open Sans" pitchFamily="34" charset="0"/>
                <a:ea typeface="Open Sans" pitchFamily="34" charset="-122"/>
                <a:cs typeface="Open Sans" pitchFamily="34" charset="-120"/>
              </a:rPr>
              <a:t>10 seconds</a:t>
            </a:r>
            <a:pPr algn="l" indent="0" marL="0">
              <a:lnSpc>
                <a:spcPct val="131000"/>
              </a:lnSpc>
              <a:buNone/>
            </a:pPr>
            <a:r>
              <a:rPr lang="en-US" sz="1050" dirty="0">
                <a:solidFill>
                  <a:srgbClr val="403C4E"/>
                </a:solidFill>
                <a:latin typeface="Open Sans" pitchFamily="34" charset="0"/>
                <a:ea typeface="Open Sans" pitchFamily="34" charset="-122"/>
                <a:cs typeface="Open Sans" pitchFamily="34" charset="-120"/>
              </a:rPr>
              <a:t> will significantly degrade the buyer experience and kill the conversation flow.</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98066" y="340221"/>
            <a:ext cx="612800" cy="202629"/>
          </a:xfrm>
          <a:prstGeom prst="roundRect">
            <a:avLst>
              <a:gd name="adj" fmla="val 19100"/>
            </a:avLst>
          </a:prstGeom>
          <a:solidFill>
            <a:srgbClr val="FFD8CC"/>
          </a:solidFill>
          <a:ln/>
        </p:spPr>
      </p:sp>
      <p:sp>
        <p:nvSpPr>
          <p:cNvPr id="3" name="Text 1"/>
          <p:cNvSpPr/>
          <p:nvPr/>
        </p:nvSpPr>
        <p:spPr>
          <a:xfrm>
            <a:off x="667122" y="374749"/>
            <a:ext cx="931887" cy="133573"/>
          </a:xfrm>
          <a:prstGeom prst="rect">
            <a:avLst/>
          </a:prstGeom>
          <a:noFill/>
          <a:ln/>
        </p:spPr>
        <p:txBody>
          <a:bodyPr wrap="none" lIns="0" tIns="0" rIns="0" bIns="0" rtlCol="0" anchor="t"/>
          <a:lstStyle/>
          <a:p>
            <a:pPr algn="l" indent="0" marL="0">
              <a:lnSpc>
                <a:spcPct val="121000"/>
              </a:lnSpc>
              <a:buNone/>
            </a:pPr>
            <a:r>
              <a:rPr lang="en-US" sz="700" dirty="0">
                <a:solidFill>
                  <a:srgbClr val="403C4E"/>
                </a:solidFill>
                <a:latin typeface="Open Sans" pitchFamily="34" charset="0"/>
                <a:ea typeface="Open Sans" pitchFamily="34" charset="-122"/>
                <a:cs typeface="Open Sans" pitchFamily="34" charset="-120"/>
              </a:rPr>
              <a:t>CHAPTER 5</a:t>
            </a:r>
            <a:endParaRPr lang="en-US" sz="700" dirty="0"/>
          </a:p>
        </p:txBody>
      </p:sp>
      <p:sp>
        <p:nvSpPr>
          <p:cNvPr id="4" name="Text 2"/>
          <p:cNvSpPr/>
          <p:nvPr/>
        </p:nvSpPr>
        <p:spPr>
          <a:xfrm>
            <a:off x="1268388" y="374749"/>
            <a:ext cx="2234357" cy="133573"/>
          </a:xfrm>
          <a:prstGeom prst="rect">
            <a:avLst/>
          </a:prstGeom>
          <a:noFill/>
          <a:ln/>
        </p:spPr>
        <p:txBody>
          <a:bodyPr wrap="none" lIns="0" tIns="0" rIns="0" bIns="0" rtlCol="0" anchor="t"/>
          <a:lstStyle/>
          <a:p>
            <a:pPr algn="l" indent="0" marL="0">
              <a:lnSpc>
                <a:spcPct val="121000"/>
              </a:lnSpc>
              <a:buNone/>
            </a:pPr>
            <a:r>
              <a:rPr lang="en-US" sz="700" dirty="0">
                <a:solidFill>
                  <a:srgbClr val="FFAD94"/>
                </a:solidFill>
                <a:latin typeface="Open Sans" pitchFamily="34" charset="0"/>
                <a:ea typeface="Open Sans" pitchFamily="34" charset="-122"/>
                <a:cs typeface="Open Sans" pitchFamily="34" charset="-120"/>
              </a:rPr>
              <a:t>OBSERVABILITY &amp; EVALS IN PRODUCTION</a:t>
            </a:r>
            <a:endParaRPr lang="en-US" sz="700" dirty="0"/>
          </a:p>
        </p:txBody>
      </p:sp>
      <p:sp>
        <p:nvSpPr>
          <p:cNvPr id="5" name="Text 3"/>
          <p:cNvSpPr/>
          <p:nvPr/>
        </p:nvSpPr>
        <p:spPr>
          <a:xfrm>
            <a:off x="598066" y="580281"/>
            <a:ext cx="5722218" cy="359941"/>
          </a:xfrm>
          <a:prstGeom prst="rect">
            <a:avLst/>
          </a:prstGeom>
          <a:noFill/>
          <a:ln/>
        </p:spPr>
        <p:txBody>
          <a:bodyPr wrap="none" lIns="0" tIns="0" rIns="0" bIns="0" rtlCol="0" anchor="t"/>
          <a:lstStyle/>
          <a:p>
            <a:pPr algn="l" indent="0" marL="0">
              <a:lnSpc>
                <a:spcPct val="104000"/>
              </a:lnSpc>
              <a:buNone/>
            </a:pPr>
            <a:r>
              <a:rPr lang="en-US" sz="2250" b="1" dirty="0">
                <a:solidFill>
                  <a:srgbClr val="403C4E"/>
                </a:solidFill>
                <a:latin typeface="Merriweather Bold" pitchFamily="34" charset="0"/>
                <a:ea typeface="Merriweather Bold" pitchFamily="34" charset="-122"/>
                <a:cs typeface="Merriweather Bold" pitchFamily="34" charset="-120"/>
              </a:rPr>
              <a:t>Why Observability Is Non-Negotiable</a:t>
            </a:r>
            <a:endParaRPr lang="en-US" sz="2250" dirty="0"/>
          </a:p>
        </p:txBody>
      </p:sp>
      <p:sp>
        <p:nvSpPr>
          <p:cNvPr id="6" name="Text 4"/>
          <p:cNvSpPr/>
          <p:nvPr/>
        </p:nvSpPr>
        <p:spPr>
          <a:xfrm>
            <a:off x="598066" y="1080567"/>
            <a:ext cx="8404994"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In production, AI agents fail in subtle ways — often silently and destructively:</a:t>
            </a:r>
            <a:endParaRPr lang="en-US" sz="900" dirty="0"/>
          </a:p>
        </p:txBody>
      </p:sp>
      <p:sp>
        <p:nvSpPr>
          <p:cNvPr id="7" name="Shape 5"/>
          <p:cNvSpPr/>
          <p:nvPr/>
        </p:nvSpPr>
        <p:spPr>
          <a:xfrm>
            <a:off x="598066" y="1352773"/>
            <a:ext cx="3927128" cy="661839"/>
          </a:xfrm>
          <a:prstGeom prst="roundRect">
            <a:avLst>
              <a:gd name="adj" fmla="val 10362"/>
            </a:avLst>
          </a:prstGeom>
          <a:solidFill>
            <a:srgbClr val="FFFFFF"/>
          </a:solidFill>
          <a:ln w="14288">
            <a:solidFill>
              <a:srgbClr val="E5BEB2"/>
            </a:solidFill>
            <a:prstDash val="solid"/>
          </a:ln>
        </p:spPr>
      </p:sp>
      <p:sp>
        <p:nvSpPr>
          <p:cNvPr id="8" name="Shape 6"/>
          <p:cNvSpPr/>
          <p:nvPr/>
        </p:nvSpPr>
        <p:spPr>
          <a:xfrm>
            <a:off x="583778" y="1352773"/>
            <a:ext cx="57150" cy="661839"/>
          </a:xfrm>
          <a:prstGeom prst="roundRect">
            <a:avLst>
              <a:gd name="adj" fmla="val 84651"/>
            </a:avLst>
          </a:prstGeom>
          <a:solidFill>
            <a:srgbClr val="FFAD94"/>
          </a:solidFill>
          <a:ln/>
        </p:spPr>
      </p:sp>
      <p:sp>
        <p:nvSpPr>
          <p:cNvPr id="9" name="Text 7"/>
          <p:cNvSpPr/>
          <p:nvPr/>
        </p:nvSpPr>
        <p:spPr>
          <a:xfrm>
            <a:off x="770334" y="1482179"/>
            <a:ext cx="1471166"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Silent hallucinations</a:t>
            </a:r>
            <a:endParaRPr lang="en-US" sz="1100" dirty="0"/>
          </a:p>
        </p:txBody>
      </p:sp>
      <p:sp>
        <p:nvSpPr>
          <p:cNvPr id="10" name="Text 8"/>
          <p:cNvSpPr/>
          <p:nvPr/>
        </p:nvSpPr>
        <p:spPr>
          <a:xfrm>
            <a:off x="770334" y="1718221"/>
            <a:ext cx="3625453"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Agents fabricating information without detection.</a:t>
            </a:r>
            <a:endParaRPr lang="en-US" sz="900" dirty="0"/>
          </a:p>
        </p:txBody>
      </p:sp>
      <p:sp>
        <p:nvSpPr>
          <p:cNvPr id="11" name="Shape 9"/>
          <p:cNvSpPr/>
          <p:nvPr/>
        </p:nvSpPr>
        <p:spPr>
          <a:xfrm>
            <a:off x="4618732" y="1352773"/>
            <a:ext cx="3927128" cy="661839"/>
          </a:xfrm>
          <a:prstGeom prst="roundRect">
            <a:avLst>
              <a:gd name="adj" fmla="val 10362"/>
            </a:avLst>
          </a:prstGeom>
          <a:solidFill>
            <a:srgbClr val="FFFFFF"/>
          </a:solidFill>
          <a:ln w="14288">
            <a:solidFill>
              <a:srgbClr val="E5BEB2"/>
            </a:solidFill>
            <a:prstDash val="solid"/>
          </a:ln>
        </p:spPr>
      </p:sp>
      <p:sp>
        <p:nvSpPr>
          <p:cNvPr id="12" name="Shape 10"/>
          <p:cNvSpPr/>
          <p:nvPr/>
        </p:nvSpPr>
        <p:spPr>
          <a:xfrm>
            <a:off x="4604445" y="1352773"/>
            <a:ext cx="57150" cy="661839"/>
          </a:xfrm>
          <a:prstGeom prst="roundRect">
            <a:avLst>
              <a:gd name="adj" fmla="val 84651"/>
            </a:avLst>
          </a:prstGeom>
          <a:solidFill>
            <a:srgbClr val="FFAD94"/>
          </a:solidFill>
          <a:ln/>
        </p:spPr>
      </p:sp>
      <p:sp>
        <p:nvSpPr>
          <p:cNvPr id="13" name="Text 11"/>
          <p:cNvSpPr/>
          <p:nvPr/>
        </p:nvSpPr>
        <p:spPr>
          <a:xfrm>
            <a:off x="4791001" y="1482179"/>
            <a:ext cx="1713533"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Partial extraction errors</a:t>
            </a:r>
            <a:endParaRPr lang="en-US" sz="1100" dirty="0"/>
          </a:p>
        </p:txBody>
      </p:sp>
      <p:sp>
        <p:nvSpPr>
          <p:cNvPr id="14" name="Text 12"/>
          <p:cNvSpPr/>
          <p:nvPr/>
        </p:nvSpPr>
        <p:spPr>
          <a:xfrm>
            <a:off x="4791001" y="1718221"/>
            <a:ext cx="3625453"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Key data points are missed or misidentified from conversations.</a:t>
            </a:r>
            <a:endParaRPr lang="en-US" sz="900" dirty="0"/>
          </a:p>
        </p:txBody>
      </p:sp>
      <p:sp>
        <p:nvSpPr>
          <p:cNvPr id="15" name="Shape 13"/>
          <p:cNvSpPr/>
          <p:nvPr/>
        </p:nvSpPr>
        <p:spPr>
          <a:xfrm>
            <a:off x="598066" y="2108150"/>
            <a:ext cx="3927128" cy="828824"/>
          </a:xfrm>
          <a:prstGeom prst="roundRect">
            <a:avLst>
              <a:gd name="adj" fmla="val 8274"/>
            </a:avLst>
          </a:prstGeom>
          <a:solidFill>
            <a:srgbClr val="FFFFFF"/>
          </a:solidFill>
          <a:ln w="14288">
            <a:solidFill>
              <a:srgbClr val="E5BEB2"/>
            </a:solidFill>
            <a:prstDash val="solid"/>
          </a:ln>
        </p:spPr>
      </p:sp>
      <p:sp>
        <p:nvSpPr>
          <p:cNvPr id="16" name="Shape 14"/>
          <p:cNvSpPr/>
          <p:nvPr/>
        </p:nvSpPr>
        <p:spPr>
          <a:xfrm>
            <a:off x="583778" y="2108150"/>
            <a:ext cx="57150" cy="828824"/>
          </a:xfrm>
          <a:prstGeom prst="roundRect">
            <a:avLst>
              <a:gd name="adj" fmla="val 84651"/>
            </a:avLst>
          </a:prstGeom>
          <a:solidFill>
            <a:srgbClr val="FFAD94"/>
          </a:solidFill>
          <a:ln/>
        </p:spPr>
      </p:sp>
      <p:sp>
        <p:nvSpPr>
          <p:cNvPr id="17" name="Text 15"/>
          <p:cNvSpPr/>
          <p:nvPr/>
        </p:nvSpPr>
        <p:spPr>
          <a:xfrm>
            <a:off x="770334" y="2237556"/>
            <a:ext cx="1987079"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Goal drift mid-conversation</a:t>
            </a:r>
            <a:endParaRPr lang="en-US" sz="1100" dirty="0"/>
          </a:p>
        </p:txBody>
      </p:sp>
      <p:sp>
        <p:nvSpPr>
          <p:cNvPr id="18" name="Text 16"/>
          <p:cNvSpPr/>
          <p:nvPr/>
        </p:nvSpPr>
        <p:spPr>
          <a:xfrm>
            <a:off x="770334" y="2473598"/>
            <a:ext cx="3625453"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The agent deviates from its primary objective, losing focus.</a:t>
            </a:r>
            <a:endParaRPr lang="en-US" sz="900" dirty="0"/>
          </a:p>
        </p:txBody>
      </p:sp>
      <p:sp>
        <p:nvSpPr>
          <p:cNvPr id="19" name="Shape 17"/>
          <p:cNvSpPr/>
          <p:nvPr/>
        </p:nvSpPr>
        <p:spPr>
          <a:xfrm>
            <a:off x="4618732" y="2108150"/>
            <a:ext cx="3927128" cy="828824"/>
          </a:xfrm>
          <a:prstGeom prst="roundRect">
            <a:avLst>
              <a:gd name="adj" fmla="val 8274"/>
            </a:avLst>
          </a:prstGeom>
          <a:solidFill>
            <a:srgbClr val="FFFFFF"/>
          </a:solidFill>
          <a:ln w="14288">
            <a:solidFill>
              <a:srgbClr val="E5BEB2"/>
            </a:solidFill>
            <a:prstDash val="solid"/>
          </a:ln>
        </p:spPr>
      </p:sp>
      <p:sp>
        <p:nvSpPr>
          <p:cNvPr id="20" name="Shape 18"/>
          <p:cNvSpPr/>
          <p:nvPr/>
        </p:nvSpPr>
        <p:spPr>
          <a:xfrm>
            <a:off x="4604445" y="2108150"/>
            <a:ext cx="57150" cy="828824"/>
          </a:xfrm>
          <a:prstGeom prst="roundRect">
            <a:avLst>
              <a:gd name="adj" fmla="val 84651"/>
            </a:avLst>
          </a:prstGeom>
          <a:solidFill>
            <a:srgbClr val="FFAD94"/>
          </a:solidFill>
          <a:ln/>
        </p:spPr>
      </p:sp>
      <p:sp>
        <p:nvSpPr>
          <p:cNvPr id="21" name="Text 19"/>
          <p:cNvSpPr/>
          <p:nvPr/>
        </p:nvSpPr>
        <p:spPr>
          <a:xfrm>
            <a:off x="4791001" y="2237556"/>
            <a:ext cx="1875830"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Context loss after 8+ turns</a:t>
            </a:r>
            <a:endParaRPr lang="en-US" sz="1100" dirty="0"/>
          </a:p>
        </p:txBody>
      </p:sp>
      <p:sp>
        <p:nvSpPr>
          <p:cNvPr id="22" name="Text 20"/>
          <p:cNvSpPr/>
          <p:nvPr/>
        </p:nvSpPr>
        <p:spPr>
          <a:xfrm>
            <a:off x="4791001" y="2473598"/>
            <a:ext cx="3625453" cy="333970"/>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Forgetting earlier conversation details, leading to repetition or irrelevant responses.</a:t>
            </a:r>
            <a:endParaRPr lang="en-US" sz="900" dirty="0"/>
          </a:p>
        </p:txBody>
      </p:sp>
      <p:sp>
        <p:nvSpPr>
          <p:cNvPr id="23" name="Shape 21"/>
          <p:cNvSpPr/>
          <p:nvPr/>
        </p:nvSpPr>
        <p:spPr>
          <a:xfrm>
            <a:off x="598066" y="3030513"/>
            <a:ext cx="3927128" cy="828824"/>
          </a:xfrm>
          <a:prstGeom prst="roundRect">
            <a:avLst>
              <a:gd name="adj" fmla="val 8274"/>
            </a:avLst>
          </a:prstGeom>
          <a:solidFill>
            <a:srgbClr val="FFFFFF"/>
          </a:solidFill>
          <a:ln w="14288">
            <a:solidFill>
              <a:srgbClr val="E5BEB2"/>
            </a:solidFill>
            <a:prstDash val="solid"/>
          </a:ln>
        </p:spPr>
      </p:sp>
      <p:sp>
        <p:nvSpPr>
          <p:cNvPr id="24" name="Shape 22"/>
          <p:cNvSpPr/>
          <p:nvPr/>
        </p:nvSpPr>
        <p:spPr>
          <a:xfrm>
            <a:off x="583778" y="3030513"/>
            <a:ext cx="57150" cy="828824"/>
          </a:xfrm>
          <a:prstGeom prst="roundRect">
            <a:avLst>
              <a:gd name="adj" fmla="val 84651"/>
            </a:avLst>
          </a:prstGeom>
          <a:solidFill>
            <a:srgbClr val="FFAD94"/>
          </a:solidFill>
          <a:ln/>
        </p:spPr>
      </p:sp>
      <p:sp>
        <p:nvSpPr>
          <p:cNvPr id="25" name="Text 23"/>
          <p:cNvSpPr/>
          <p:nvPr/>
        </p:nvSpPr>
        <p:spPr>
          <a:xfrm>
            <a:off x="770334" y="3159919"/>
            <a:ext cx="1439763"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Latency spikes</a:t>
            </a:r>
            <a:endParaRPr lang="en-US" sz="1100" dirty="0"/>
          </a:p>
        </p:txBody>
      </p:sp>
      <p:sp>
        <p:nvSpPr>
          <p:cNvPr id="26" name="Text 24"/>
          <p:cNvSpPr/>
          <p:nvPr/>
        </p:nvSpPr>
        <p:spPr>
          <a:xfrm>
            <a:off x="770334" y="3395960"/>
            <a:ext cx="3625453"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Slow response times, degrading the user experience.</a:t>
            </a:r>
            <a:endParaRPr lang="en-US" sz="900" dirty="0"/>
          </a:p>
        </p:txBody>
      </p:sp>
      <p:sp>
        <p:nvSpPr>
          <p:cNvPr id="27" name="Shape 25"/>
          <p:cNvSpPr/>
          <p:nvPr/>
        </p:nvSpPr>
        <p:spPr>
          <a:xfrm>
            <a:off x="4618732" y="3030513"/>
            <a:ext cx="3927128" cy="828824"/>
          </a:xfrm>
          <a:prstGeom prst="roundRect">
            <a:avLst>
              <a:gd name="adj" fmla="val 8274"/>
            </a:avLst>
          </a:prstGeom>
          <a:solidFill>
            <a:srgbClr val="FFFFFF"/>
          </a:solidFill>
          <a:ln w="14288">
            <a:solidFill>
              <a:srgbClr val="E5BEB2"/>
            </a:solidFill>
            <a:prstDash val="solid"/>
          </a:ln>
        </p:spPr>
      </p:sp>
      <p:sp>
        <p:nvSpPr>
          <p:cNvPr id="28" name="Shape 26"/>
          <p:cNvSpPr/>
          <p:nvPr/>
        </p:nvSpPr>
        <p:spPr>
          <a:xfrm>
            <a:off x="4604445" y="3030513"/>
            <a:ext cx="57150" cy="828824"/>
          </a:xfrm>
          <a:prstGeom prst="roundRect">
            <a:avLst>
              <a:gd name="adj" fmla="val 84651"/>
            </a:avLst>
          </a:prstGeom>
          <a:solidFill>
            <a:srgbClr val="FFAD94"/>
          </a:solidFill>
          <a:ln/>
        </p:spPr>
      </p:sp>
      <p:sp>
        <p:nvSpPr>
          <p:cNvPr id="29" name="Text 27"/>
          <p:cNvSpPr/>
          <p:nvPr/>
        </p:nvSpPr>
        <p:spPr>
          <a:xfrm>
            <a:off x="4791001" y="3159919"/>
            <a:ext cx="1439763" cy="179933"/>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Tool misuse</a:t>
            </a:r>
            <a:endParaRPr lang="en-US" sz="1100" dirty="0"/>
          </a:p>
        </p:txBody>
      </p:sp>
      <p:sp>
        <p:nvSpPr>
          <p:cNvPr id="30" name="Text 28"/>
          <p:cNvSpPr/>
          <p:nvPr/>
        </p:nvSpPr>
        <p:spPr>
          <a:xfrm>
            <a:off x="4791001" y="3395960"/>
            <a:ext cx="3625453" cy="333970"/>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Agents incorrectly calling external tools or misinterpreting their outputs.</a:t>
            </a:r>
            <a:endParaRPr lang="en-US" sz="900" dirty="0"/>
          </a:p>
        </p:txBody>
      </p:sp>
      <p:sp>
        <p:nvSpPr>
          <p:cNvPr id="31" name="Text 29"/>
          <p:cNvSpPr/>
          <p:nvPr/>
        </p:nvSpPr>
        <p:spPr>
          <a:xfrm>
            <a:off x="598066" y="3964558"/>
            <a:ext cx="8404994"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Without robust observability into these nuanced behaviors, you're left in the dark:</a:t>
            </a:r>
            <a:endParaRPr lang="en-US" sz="900" dirty="0"/>
          </a:p>
        </p:txBody>
      </p:sp>
      <p:sp>
        <p:nvSpPr>
          <p:cNvPr id="32" name="Text 30"/>
          <p:cNvSpPr/>
          <p:nvPr/>
        </p:nvSpPr>
        <p:spPr>
          <a:xfrm>
            <a:off x="598066" y="4236765"/>
            <a:ext cx="7947794" cy="566440"/>
          </a:xfrm>
          <a:prstGeom prst="rect">
            <a:avLst/>
          </a:prstGeom>
          <a:noFill/>
          <a:ln/>
        </p:spPr>
        <p:txBody>
          <a:bodyPr wrap="square" lIns="0" tIns="0" rIns="0" bIns="0" rtlCol="0" anchor="t">
            <a:normAutofit/>
          </a:bodyPr>
          <a:lstStyle/>
          <a:p>
            <a:pPr algn="l" marL="342900" indent="-342900">
              <a:lnSpc>
                <a:spcPct val="121000"/>
              </a:lnSpc>
              <a:buSzPct val="100000"/>
              <a:buChar char="•"/>
            </a:pPr>
            <a:r>
              <a:rPr lang="en-US" sz="900" dirty="0">
                <a:solidFill>
                  <a:srgbClr val="403C4E"/>
                </a:solidFill>
                <a:latin typeface="Open Sans" pitchFamily="34" charset="0"/>
                <a:ea typeface="Open Sans" pitchFamily="34" charset="-122"/>
                <a:cs typeface="Open Sans" pitchFamily="34" charset="-120"/>
              </a:rPr>
              <a:t>You’re debugging vibes instead of data, leading to guesswork and frustration.</a:t>
            </a:r>
            <a:endParaRPr lang="en-US" sz="900" dirty="0"/>
          </a:p>
          <a:p>
            <a:pPr algn="l" marL="342900" indent="-342900">
              <a:lnSpc>
                <a:spcPct val="121000"/>
              </a:lnSpc>
              <a:buSzPct val="100000"/>
              <a:buChar char="•"/>
            </a:pPr>
            <a:r>
              <a:rPr lang="en-US" sz="900" dirty="0">
                <a:solidFill>
                  <a:srgbClr val="403C4E"/>
                </a:solidFill>
                <a:latin typeface="Open Sans" pitchFamily="34" charset="0"/>
                <a:ea typeface="Open Sans" pitchFamily="34" charset="-122"/>
                <a:cs typeface="Open Sans" pitchFamily="34" charset="-120"/>
              </a:rPr>
              <a:t>You can’t scale safely, as undetected issues multiply with increased agent usage.</a:t>
            </a:r>
            <a:endParaRPr lang="en-US" sz="900" dirty="0"/>
          </a:p>
          <a:p>
            <a:pPr algn="l" marL="342900" indent="-342900">
              <a:lnSpc>
                <a:spcPct val="121000"/>
              </a:lnSpc>
              <a:buSzPct val="100000"/>
              <a:buChar char="•"/>
            </a:pPr>
            <a:r>
              <a:rPr lang="en-US" sz="900" dirty="0">
                <a:solidFill>
                  <a:srgbClr val="403C4E"/>
                </a:solidFill>
                <a:latin typeface="Open Sans" pitchFamily="34" charset="0"/>
                <a:ea typeface="Open Sans" pitchFamily="34" charset="-122"/>
                <a:cs typeface="Open Sans" pitchFamily="34" charset="-120"/>
              </a:rPr>
              <a:t>You can’t improve systematically, hindering your ability to iterate and optimize agent performance effectively.</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96119" y="1708770"/>
            <a:ext cx="5453360"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Observability's New Frontier</a:t>
            </a:r>
            <a:endParaRPr lang="en-US" sz="2750" dirty="0"/>
          </a:p>
        </p:txBody>
      </p:sp>
      <p:sp>
        <p:nvSpPr>
          <p:cNvPr id="3" name="Text 1"/>
          <p:cNvSpPr/>
          <p:nvPr/>
        </p:nvSpPr>
        <p:spPr>
          <a:xfrm>
            <a:off x="496119" y="2435275"/>
            <a:ext cx="8151763" cy="999381"/>
          </a:xfrm>
          <a:prstGeom prst="rect">
            <a:avLst/>
          </a:prstGeom>
          <a:noFill/>
          <a:ln/>
        </p:spPr>
        <p:txBody>
          <a:bodyPr wrap="squar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Is ensuring AI </a:t>
            </a:r>
            <a:pPr algn="l" indent="0" marL="0">
              <a:lnSpc>
                <a:spcPct val="133000"/>
              </a:lnSpc>
              <a:buNone/>
            </a:pPr>
            <a:r>
              <a:rPr lang="en-US" sz="1100" b="1" dirty="0">
                <a:solidFill>
                  <a:srgbClr val="403C4E"/>
                </a:solidFill>
                <a:latin typeface="Open Sans" pitchFamily="34" charset="0"/>
                <a:ea typeface="Open Sans" pitchFamily="34" charset="-122"/>
                <a:cs typeface="Open Sans" pitchFamily="34" charset="-120"/>
              </a:rPr>
              <a:t>helpfulness</a:t>
            </a:r>
            <a:pPr algn="l" indent="0" marL="0">
              <a:lnSpc>
                <a:spcPct val="133000"/>
              </a:lnSpc>
              <a:spcAft>
                <a:spcPts val="1250"/>
              </a:spcAft>
              <a:buNone/>
            </a:pPr>
            <a:r>
              <a:rPr lang="en-US" sz="1100" dirty="0">
                <a:solidFill>
                  <a:srgbClr val="403C4E"/>
                </a:solidFill>
                <a:latin typeface="Open Sans" pitchFamily="34" charset="0"/>
                <a:ea typeface="Open Sans" pitchFamily="34" charset="-122"/>
                <a:cs typeface="Open Sans" pitchFamily="34" charset="-120"/>
              </a:rPr>
              <a:t> still "classic" observability?</a:t>
            </a:r>
            <a:endParaRPr lang="en-US" sz="1100" dirty="0"/>
          </a:p>
          <a:p>
            <a:pPr algn="l" indent="0" marL="0">
              <a:lnSpc>
                <a:spcPct val="133000"/>
              </a:lnSpc>
              <a:spcAft>
                <a:spcPts val="1250"/>
              </a:spcAft>
              <a:buNone/>
            </a:pPr>
            <a:r>
              <a:rPr lang="en-US" sz="1100" dirty="0">
                <a:solidFill>
                  <a:srgbClr val="403C4E"/>
                </a:solidFill>
                <a:latin typeface="Open Sans" pitchFamily="34" charset="0"/>
                <a:ea typeface="Open Sans" pitchFamily="34" charset="-122"/>
                <a:cs typeface="Open Sans" pitchFamily="34" charset="-120"/>
              </a:rPr>
              <a:t>Does this responsibility extend to Site Reliability Engineering?</a:t>
            </a:r>
            <a:endParaRPr lang="en-US" sz="1100" dirty="0"/>
          </a:p>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How do we define and measure "helpfulness" within an SRE framework?</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1209452" y="294754"/>
            <a:ext cx="518592" cy="163562"/>
          </a:xfrm>
          <a:prstGeom prst="roundRect">
            <a:avLst>
              <a:gd name="adj" fmla="val 20022"/>
            </a:avLst>
          </a:prstGeom>
          <a:solidFill>
            <a:srgbClr val="FFD8CC"/>
          </a:solidFill>
          <a:ln/>
        </p:spPr>
      </p:sp>
      <p:sp>
        <p:nvSpPr>
          <p:cNvPr id="3" name="Text 1"/>
          <p:cNvSpPr/>
          <p:nvPr/>
        </p:nvSpPr>
        <p:spPr>
          <a:xfrm>
            <a:off x="1267867" y="323924"/>
            <a:ext cx="858962" cy="105221"/>
          </a:xfrm>
          <a:prstGeom prst="rect">
            <a:avLst/>
          </a:prstGeom>
          <a:noFill/>
          <a:ln/>
        </p:spPr>
        <p:txBody>
          <a:bodyPr wrap="none" lIns="0" tIns="0" rIns="0" bIns="0" rtlCol="0" anchor="t"/>
          <a:lstStyle/>
          <a:p>
            <a:pPr algn="l" indent="0" marL="0">
              <a:lnSpc>
                <a:spcPct val="112000"/>
              </a:lnSpc>
              <a:buNone/>
            </a:pPr>
            <a:r>
              <a:rPr lang="en-US" sz="600" dirty="0">
                <a:solidFill>
                  <a:srgbClr val="403C4E"/>
                </a:solidFill>
                <a:latin typeface="Open Sans" pitchFamily="34" charset="0"/>
                <a:ea typeface="Open Sans" pitchFamily="34" charset="-122"/>
                <a:cs typeface="Open Sans" pitchFamily="34" charset="-120"/>
              </a:rPr>
              <a:t>CHAPTER 5</a:t>
            </a:r>
            <a:endParaRPr lang="en-US" sz="600" dirty="0"/>
          </a:p>
        </p:txBody>
      </p:sp>
      <p:sp>
        <p:nvSpPr>
          <p:cNvPr id="4" name="Text 2"/>
          <p:cNvSpPr/>
          <p:nvPr/>
        </p:nvSpPr>
        <p:spPr>
          <a:xfrm>
            <a:off x="1776710" y="323924"/>
            <a:ext cx="1538139" cy="105221"/>
          </a:xfrm>
          <a:prstGeom prst="rect">
            <a:avLst/>
          </a:prstGeom>
          <a:noFill/>
          <a:ln/>
        </p:spPr>
        <p:txBody>
          <a:bodyPr wrap="none" lIns="0" tIns="0" rIns="0" bIns="0" rtlCol="0" anchor="t"/>
          <a:lstStyle/>
          <a:p>
            <a:pPr algn="l" indent="0" marL="0">
              <a:lnSpc>
                <a:spcPct val="112000"/>
              </a:lnSpc>
              <a:buNone/>
            </a:pPr>
            <a:r>
              <a:rPr lang="en-US" sz="600" dirty="0">
                <a:solidFill>
                  <a:srgbClr val="FFAD94"/>
                </a:solidFill>
                <a:latin typeface="Open Sans" pitchFamily="34" charset="0"/>
                <a:ea typeface="Open Sans" pitchFamily="34" charset="-122"/>
                <a:cs typeface="Open Sans" pitchFamily="34" charset="-120"/>
              </a:rPr>
              <a:t>CONTINUOUS IMPROVEMENT</a:t>
            </a:r>
            <a:endParaRPr lang="en-US" sz="600" dirty="0"/>
          </a:p>
        </p:txBody>
      </p:sp>
      <p:sp>
        <p:nvSpPr>
          <p:cNvPr id="5" name="Text 3"/>
          <p:cNvSpPr/>
          <p:nvPr/>
        </p:nvSpPr>
        <p:spPr>
          <a:xfrm>
            <a:off x="1209452" y="485105"/>
            <a:ext cx="4749254" cy="304502"/>
          </a:xfrm>
          <a:prstGeom prst="rect">
            <a:avLst/>
          </a:prstGeom>
          <a:noFill/>
          <a:ln/>
        </p:spPr>
        <p:txBody>
          <a:bodyPr wrap="none" lIns="0" tIns="0" rIns="0" bIns="0" rtlCol="0" anchor="t"/>
          <a:lstStyle/>
          <a:p>
            <a:pPr algn="l" indent="0" marL="0">
              <a:lnSpc>
                <a:spcPct val="104000"/>
              </a:lnSpc>
              <a:buNone/>
            </a:pPr>
            <a:r>
              <a:rPr lang="en-US" sz="1900" b="1" dirty="0">
                <a:solidFill>
                  <a:srgbClr val="403C4E"/>
                </a:solidFill>
                <a:latin typeface="Merriweather Bold" pitchFamily="34" charset="0"/>
                <a:ea typeface="Merriweather Bold" pitchFamily="34" charset="-122"/>
                <a:cs typeface="Merriweather Bold" pitchFamily="34" charset="-120"/>
              </a:rPr>
              <a:t>The Continuous Improvement Loop</a:t>
            </a:r>
            <a:endParaRPr lang="en-US" sz="1900" dirty="0"/>
          </a:p>
        </p:txBody>
      </p:sp>
      <p:sp>
        <p:nvSpPr>
          <p:cNvPr id="6" name="Text 4"/>
          <p:cNvSpPr/>
          <p:nvPr/>
        </p:nvSpPr>
        <p:spPr>
          <a:xfrm>
            <a:off x="1209452" y="890067"/>
            <a:ext cx="6725022"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For AI agents in production, continuous improvement is critical. This systematic loop ensures agents evolve, learn from interactions, and consistently hit performance targets.</a:t>
            </a:r>
            <a:endParaRPr lang="en-US" sz="750" dirty="0"/>
          </a:p>
        </p:txBody>
      </p:sp>
      <p:sp>
        <p:nvSpPr>
          <p:cNvPr id="7" name="Text 5"/>
          <p:cNvSpPr/>
          <p:nvPr/>
        </p:nvSpPr>
        <p:spPr>
          <a:xfrm>
            <a:off x="1996976" y="1496020"/>
            <a:ext cx="1300683" cy="152251"/>
          </a:xfrm>
          <a:prstGeom prst="rect">
            <a:avLst/>
          </a:prstGeom>
          <a:noFill/>
          <a:ln/>
        </p:spPr>
        <p:txBody>
          <a:bodyPr wrap="none" lIns="0" tIns="0" rIns="0" bIns="0" rtlCol="0" anchor="t"/>
          <a:lstStyle/>
          <a:p>
            <a:pPr algn="r"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Collect Conversations</a:t>
            </a:r>
            <a:endParaRPr lang="en-US" sz="950" dirty="0"/>
          </a:p>
        </p:txBody>
      </p:sp>
      <p:pic>
        <p:nvPicPr>
          <p:cNvPr id="8" name="Image 0" descr="preencoded.png">    </p:cNvPr>
          <p:cNvPicPr>
            <a:picLocks noChangeAspect="1"/>
          </p:cNvPicPr>
          <p:nvPr/>
        </p:nvPicPr>
        <p:blipFill>
          <a:blip r:embed="rId1"/>
          <a:stretch>
            <a:fillRect/>
          </a:stretch>
        </p:blipFill>
        <p:spPr>
          <a:xfrm>
            <a:off x="3395067" y="1228576"/>
            <a:ext cx="2353717" cy="2353717"/>
          </a:xfrm>
          <a:prstGeom prst="rect">
            <a:avLst/>
          </a:prstGeom>
        </p:spPr>
      </p:pic>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15854" y="1558826"/>
            <a:ext cx="145777" cy="145777"/>
          </a:xfrm>
          <a:prstGeom prst="rect">
            <a:avLst/>
          </a:prstGeom>
        </p:spPr>
      </p:pic>
      <p:sp>
        <p:nvSpPr>
          <p:cNvPr id="10" name="Text 6"/>
          <p:cNvSpPr/>
          <p:nvPr/>
        </p:nvSpPr>
        <p:spPr>
          <a:xfrm>
            <a:off x="5846192" y="1496020"/>
            <a:ext cx="1218307"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Label Failures</a:t>
            </a:r>
            <a:endParaRPr lang="en-US" sz="950" dirty="0"/>
          </a:p>
        </p:txBody>
      </p:sp>
      <p:pic>
        <p:nvPicPr>
          <p:cNvPr id="11" name="Image 2" descr="preencoded.png">    </p:cNvPr>
          <p:cNvPicPr>
            <a:picLocks noChangeAspect="1"/>
          </p:cNvPicPr>
          <p:nvPr/>
        </p:nvPicPr>
        <p:blipFill>
          <a:blip r:embed="rId4"/>
          <a:stretch>
            <a:fillRect/>
          </a:stretch>
        </p:blipFill>
        <p:spPr>
          <a:xfrm>
            <a:off x="3395067" y="1228576"/>
            <a:ext cx="2353717" cy="2353717"/>
          </a:xfrm>
          <a:prstGeom prst="rect">
            <a:avLst/>
          </a:prstGeom>
        </p:spPr>
      </p:pic>
      <p:pic>
        <p:nvPicPr>
          <p:cNvPr id="12"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27414" y="1700510"/>
            <a:ext cx="145777" cy="145777"/>
          </a:xfrm>
          <a:prstGeom prst="rect">
            <a:avLst/>
          </a:prstGeom>
        </p:spPr>
      </p:pic>
      <p:sp>
        <p:nvSpPr>
          <p:cNvPr id="13" name="Text 7"/>
          <p:cNvSpPr/>
          <p:nvPr/>
        </p:nvSpPr>
        <p:spPr>
          <a:xfrm>
            <a:off x="5943674" y="2329309"/>
            <a:ext cx="1218307"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Add to Eval Dataset</a:t>
            </a:r>
            <a:endParaRPr lang="en-US" sz="950" dirty="0"/>
          </a:p>
        </p:txBody>
      </p:sp>
      <p:pic>
        <p:nvPicPr>
          <p:cNvPr id="14" name="Image 4" descr="preencoded.png">    </p:cNvPr>
          <p:cNvPicPr>
            <a:picLocks noChangeAspect="1"/>
          </p:cNvPicPr>
          <p:nvPr/>
        </p:nvPicPr>
        <p:blipFill>
          <a:blip r:embed="rId7"/>
          <a:stretch>
            <a:fillRect/>
          </a:stretch>
        </p:blipFill>
        <p:spPr>
          <a:xfrm>
            <a:off x="3395067" y="1228576"/>
            <a:ext cx="2353717" cy="2353717"/>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10485" y="2474119"/>
            <a:ext cx="145777" cy="145777"/>
          </a:xfrm>
          <a:prstGeom prst="rect">
            <a:avLst/>
          </a:prstGeom>
        </p:spPr>
      </p:pic>
      <p:sp>
        <p:nvSpPr>
          <p:cNvPr id="16" name="Text 8"/>
          <p:cNvSpPr/>
          <p:nvPr/>
        </p:nvSpPr>
        <p:spPr>
          <a:xfrm>
            <a:off x="5846192" y="3162598"/>
            <a:ext cx="1299344"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Run Regression Tests</a:t>
            </a:r>
            <a:endParaRPr lang="en-US" sz="950" dirty="0"/>
          </a:p>
        </p:txBody>
      </p:sp>
      <p:pic>
        <p:nvPicPr>
          <p:cNvPr id="17" name="Image 6" descr="preencoded.png">    </p:cNvPr>
          <p:cNvPicPr>
            <a:picLocks noChangeAspect="1"/>
          </p:cNvPicPr>
          <p:nvPr/>
        </p:nvPicPr>
        <p:blipFill>
          <a:blip r:embed="rId10"/>
          <a:stretch>
            <a:fillRect/>
          </a:stretch>
        </p:blipFill>
        <p:spPr>
          <a:xfrm>
            <a:off x="3395067" y="1228576"/>
            <a:ext cx="2353717" cy="2353717"/>
          </a:xfrm>
          <a:prstGeom prst="rect">
            <a:avLst/>
          </a:prstGeom>
        </p:spPr>
      </p:pic>
      <p:pic>
        <p:nvPicPr>
          <p:cNvPr id="18"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82071" y="3106117"/>
            <a:ext cx="145777" cy="145777"/>
          </a:xfrm>
          <a:prstGeom prst="rect">
            <a:avLst/>
          </a:prstGeom>
        </p:spPr>
      </p:pic>
      <p:sp>
        <p:nvSpPr>
          <p:cNvPr id="19" name="Text 9"/>
          <p:cNvSpPr/>
          <p:nvPr/>
        </p:nvSpPr>
        <p:spPr>
          <a:xfrm>
            <a:off x="1616348" y="3162598"/>
            <a:ext cx="1681311" cy="152251"/>
          </a:xfrm>
          <a:prstGeom prst="rect">
            <a:avLst/>
          </a:prstGeom>
          <a:noFill/>
          <a:ln/>
        </p:spPr>
        <p:txBody>
          <a:bodyPr wrap="none" lIns="0" tIns="0" rIns="0" bIns="0" rtlCol="0" anchor="t"/>
          <a:lstStyle/>
          <a:p>
            <a:pPr algn="r"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Deploy New Prompt Version</a:t>
            </a:r>
            <a:endParaRPr lang="en-US" sz="950" dirty="0"/>
          </a:p>
        </p:txBody>
      </p:sp>
      <p:pic>
        <p:nvPicPr>
          <p:cNvPr id="20" name="Image 8" descr="preencoded.png">    </p:cNvPr>
          <p:cNvPicPr>
            <a:picLocks noChangeAspect="1"/>
          </p:cNvPicPr>
          <p:nvPr/>
        </p:nvPicPr>
        <p:blipFill>
          <a:blip r:embed="rId13"/>
          <a:stretch>
            <a:fillRect/>
          </a:stretch>
        </p:blipFill>
        <p:spPr>
          <a:xfrm>
            <a:off x="3395067" y="1228576"/>
            <a:ext cx="2353717" cy="2353717"/>
          </a:xfrm>
          <a:prstGeom prst="rect">
            <a:avLst/>
          </a:prstGeom>
        </p:spPr>
      </p:pic>
      <p:pic>
        <p:nvPicPr>
          <p:cNvPr id="21"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970511" y="2964433"/>
            <a:ext cx="145777" cy="145777"/>
          </a:xfrm>
          <a:prstGeom prst="rect">
            <a:avLst/>
          </a:prstGeom>
        </p:spPr>
      </p:pic>
      <p:sp>
        <p:nvSpPr>
          <p:cNvPr id="22" name="Text 10"/>
          <p:cNvSpPr/>
          <p:nvPr/>
        </p:nvSpPr>
        <p:spPr>
          <a:xfrm>
            <a:off x="1981870" y="2329309"/>
            <a:ext cx="1218307" cy="152251"/>
          </a:xfrm>
          <a:prstGeom prst="rect">
            <a:avLst/>
          </a:prstGeom>
          <a:noFill/>
          <a:ln/>
        </p:spPr>
        <p:txBody>
          <a:bodyPr wrap="none" lIns="0" tIns="0" rIns="0" bIns="0" rtlCol="0" anchor="t"/>
          <a:lstStyle/>
          <a:p>
            <a:pPr algn="r"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Monitor Metrics</a:t>
            </a:r>
            <a:endParaRPr lang="en-US" sz="950" dirty="0"/>
          </a:p>
        </p:txBody>
      </p:sp>
      <p:pic>
        <p:nvPicPr>
          <p:cNvPr id="23" name="Image 10" descr="preencoded.png">    </p:cNvPr>
          <p:cNvPicPr>
            <a:picLocks noChangeAspect="1"/>
          </p:cNvPicPr>
          <p:nvPr/>
        </p:nvPicPr>
        <p:blipFill>
          <a:blip r:embed="rId16"/>
          <a:stretch>
            <a:fillRect/>
          </a:stretch>
        </p:blipFill>
        <p:spPr>
          <a:xfrm>
            <a:off x="3395067" y="1228576"/>
            <a:ext cx="2353717" cy="2353717"/>
          </a:xfrm>
          <a:prstGeom prst="rect">
            <a:avLst/>
          </a:prstGeom>
        </p:spPr>
      </p:pic>
      <p:pic>
        <p:nvPicPr>
          <p:cNvPr id="24" name="Image 11"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687440" y="2190824"/>
            <a:ext cx="145777" cy="145777"/>
          </a:xfrm>
          <a:prstGeom prst="rect">
            <a:avLst/>
          </a:prstGeom>
        </p:spPr>
      </p:pic>
      <p:sp>
        <p:nvSpPr>
          <p:cNvPr id="25" name="Text 11"/>
          <p:cNvSpPr/>
          <p:nvPr/>
        </p:nvSpPr>
        <p:spPr>
          <a:xfrm>
            <a:off x="1209452" y="3657674"/>
            <a:ext cx="7182222" cy="131564"/>
          </a:xfrm>
          <a:prstGeom prst="rect">
            <a:avLst/>
          </a:prstGeom>
          <a:noFill/>
          <a:ln/>
        </p:spPr>
        <p:txBody>
          <a:bodyPr wrap="none" lIns="0" tIns="0" rIns="0" bIns="0" rtlCol="0" anchor="t"/>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This iterative cycle, run weekly, drives agent precision and effectiveness, adapting to new challenges and optimizing performance in real-time.</a:t>
            </a:r>
            <a:endParaRPr lang="en-US" sz="750" dirty="0"/>
          </a:p>
        </p:txBody>
      </p:sp>
      <p:pic>
        <p:nvPicPr>
          <p:cNvPr id="26" name="Image 12" descr="preencoded.png">
            <a:hlinkClick r:id="rId20" tooltip=""/>
          </p:cNvPr>
          <p:cNvPicPr>
            <a:picLocks noChangeAspect="1"/>
          </p:cNvPicPr>
          <p:nvPr/>
        </p:nvPicPr>
        <p:blipFill>
          <a:blip r:embed="rId19"/>
          <a:stretch>
            <a:fillRect/>
          </a:stretch>
        </p:blipFill>
        <p:spPr>
          <a:xfrm>
            <a:off x="1209452" y="3864620"/>
            <a:ext cx="6725022" cy="98412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98066" y="341784"/>
            <a:ext cx="850329" cy="212154"/>
          </a:xfrm>
          <a:prstGeom prst="roundRect">
            <a:avLst>
              <a:gd name="adj" fmla="val 18243"/>
            </a:avLst>
          </a:prstGeom>
          <a:noFill/>
          <a:ln w="4763">
            <a:solidFill>
              <a:srgbClr val="FFAD94"/>
            </a:solidFill>
            <a:prstDash val="solid"/>
          </a:ln>
        </p:spPr>
      </p:sp>
      <p:sp>
        <p:nvSpPr>
          <p:cNvPr id="3" name="Text 1"/>
          <p:cNvSpPr/>
          <p:nvPr/>
        </p:nvSpPr>
        <p:spPr>
          <a:xfrm>
            <a:off x="671885" y="381074"/>
            <a:ext cx="1159892" cy="133573"/>
          </a:xfrm>
          <a:prstGeom prst="rect">
            <a:avLst/>
          </a:prstGeom>
          <a:noFill/>
          <a:ln/>
        </p:spPr>
        <p:txBody>
          <a:bodyPr wrap="none" lIns="0" tIns="0" rIns="0" bIns="0" rtlCol="0" anchor="t"/>
          <a:lstStyle/>
          <a:p>
            <a:pPr algn="l" indent="0" marL="0">
              <a:lnSpc>
                <a:spcPct val="121000"/>
              </a:lnSpc>
              <a:buNone/>
            </a:pPr>
            <a:r>
              <a:rPr lang="en-US" sz="700" dirty="0">
                <a:solidFill>
                  <a:srgbClr val="FFAD94"/>
                </a:solidFill>
                <a:latin typeface="Open Sans" pitchFamily="34" charset="0"/>
                <a:ea typeface="Open Sans" pitchFamily="34" charset="-122"/>
                <a:cs typeface="Open Sans" pitchFamily="34" charset="-120"/>
              </a:rPr>
              <a:t>KEY TAKEAWAYS</a:t>
            </a:r>
            <a:endParaRPr lang="en-US" sz="700" dirty="0"/>
          </a:p>
        </p:txBody>
      </p:sp>
      <p:sp>
        <p:nvSpPr>
          <p:cNvPr id="4" name="Text 2"/>
          <p:cNvSpPr/>
          <p:nvPr/>
        </p:nvSpPr>
        <p:spPr>
          <a:xfrm>
            <a:off x="598066" y="591369"/>
            <a:ext cx="5529263" cy="359941"/>
          </a:xfrm>
          <a:prstGeom prst="rect">
            <a:avLst/>
          </a:prstGeom>
          <a:noFill/>
          <a:ln/>
        </p:spPr>
        <p:txBody>
          <a:bodyPr wrap="none" lIns="0" tIns="0" rIns="0" bIns="0" rtlCol="0" anchor="t"/>
          <a:lstStyle/>
          <a:p>
            <a:pPr algn="l" indent="0" marL="0">
              <a:lnSpc>
                <a:spcPct val="104000"/>
              </a:lnSpc>
              <a:buNone/>
            </a:pPr>
            <a:r>
              <a:rPr lang="en-US" sz="2250" b="1" dirty="0">
                <a:solidFill>
                  <a:srgbClr val="403C4E"/>
                </a:solidFill>
                <a:latin typeface="Merriweather Bold" pitchFamily="34" charset="0"/>
                <a:ea typeface="Merriweather Bold" pitchFamily="34" charset="-122"/>
                <a:cs typeface="Merriweather Bold" pitchFamily="34" charset="-120"/>
              </a:rPr>
              <a:t>The Continuous Improvement Loop</a:t>
            </a:r>
            <a:endParaRPr lang="en-US" sz="2250" dirty="0"/>
          </a:p>
        </p:txBody>
      </p:sp>
      <p:sp>
        <p:nvSpPr>
          <p:cNvPr id="5" name="Text 3"/>
          <p:cNvSpPr/>
          <p:nvPr/>
        </p:nvSpPr>
        <p:spPr>
          <a:xfrm>
            <a:off x="598066" y="1091654"/>
            <a:ext cx="8404994" cy="166985"/>
          </a:xfrm>
          <a:prstGeom prst="rect">
            <a:avLst/>
          </a:prstGeom>
          <a:noFill/>
          <a:ln/>
        </p:spPr>
        <p:txBody>
          <a:bodyPr wrap="none" lIns="0" tIns="0" rIns="0" bIns="0" rtlCol="0" anchor="t"/>
          <a:lstStyle/>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The improvement loop for AI agents is a systematic process leveraging traces to drive measurable enhancements and prevent regressions.</a:t>
            </a:r>
            <a:endParaRPr lang="en-US" sz="900" dirty="0"/>
          </a:p>
        </p:txBody>
      </p:sp>
      <p:sp>
        <p:nvSpPr>
          <p:cNvPr id="6" name="Shape 4"/>
          <p:cNvSpPr/>
          <p:nvPr/>
        </p:nvSpPr>
        <p:spPr>
          <a:xfrm>
            <a:off x="598066" y="1469082"/>
            <a:ext cx="3668762" cy="1038374"/>
          </a:xfrm>
          <a:prstGeom prst="roundRect">
            <a:avLst>
              <a:gd name="adj" fmla="val 4659"/>
            </a:avLst>
          </a:prstGeom>
          <a:solidFill>
            <a:srgbClr val="FFC4B3"/>
          </a:solidFill>
          <a:ln/>
        </p:spPr>
      </p:sp>
      <p:pic>
        <p:nvPicPr>
          <p:cNvPr id="7" name="Image 0" descr="preencoded.png">    </p:cNvPr>
          <p:cNvPicPr>
            <a:picLocks noChangeAspect="1"/>
          </p:cNvPicPr>
          <p:nvPr/>
        </p:nvPicPr>
        <p:blipFill>
          <a:blip r:embed="rId1"/>
          <a:stretch>
            <a:fillRect/>
          </a:stretch>
        </p:blipFill>
        <p:spPr>
          <a:xfrm>
            <a:off x="713184" y="1603474"/>
            <a:ext cx="179933" cy="143917"/>
          </a:xfrm>
          <a:prstGeom prst="rect">
            <a:avLst/>
          </a:prstGeom>
        </p:spPr>
      </p:pic>
      <p:sp>
        <p:nvSpPr>
          <p:cNvPr id="8" name="Text 5"/>
          <p:cNvSpPr/>
          <p:nvPr/>
        </p:nvSpPr>
        <p:spPr>
          <a:xfrm>
            <a:off x="1008236" y="1591345"/>
            <a:ext cx="2107927" cy="179933"/>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Merriweather Bold" pitchFamily="34" charset="0"/>
                <a:ea typeface="Merriweather Bold" pitchFamily="34" charset="-122"/>
                <a:cs typeface="Merriweather Bold" pitchFamily="34" charset="-120"/>
              </a:rPr>
              <a:t>Layered Agent Systems</a:t>
            </a:r>
            <a:endParaRPr lang="en-US" sz="1100" dirty="0"/>
          </a:p>
        </p:txBody>
      </p:sp>
      <p:sp>
        <p:nvSpPr>
          <p:cNvPr id="9" name="Text 6"/>
          <p:cNvSpPr/>
          <p:nvPr/>
        </p:nvSpPr>
        <p:spPr>
          <a:xfrm>
            <a:off x="1008236" y="1864816"/>
            <a:ext cx="3143473" cy="500955"/>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000000"/>
                </a:solidFill>
                <a:latin typeface="Open Sans" pitchFamily="34" charset="0"/>
                <a:ea typeface="Open Sans" pitchFamily="34" charset="-122"/>
                <a:cs typeface="Open Sans" pitchFamily="34" charset="-120"/>
              </a:rPr>
              <a:t>AI agents are multi-layered systems (model weights, orchestration code, context). Traces reveal which layer needs optimization.</a:t>
            </a:r>
            <a:endParaRPr lang="en-US" sz="900" dirty="0"/>
          </a:p>
        </p:txBody>
      </p:sp>
      <p:sp>
        <p:nvSpPr>
          <p:cNvPr id="10" name="Shape 7"/>
          <p:cNvSpPr/>
          <p:nvPr/>
        </p:nvSpPr>
        <p:spPr>
          <a:xfrm>
            <a:off x="598066" y="2612678"/>
            <a:ext cx="3668762" cy="1038374"/>
          </a:xfrm>
          <a:prstGeom prst="roundRect">
            <a:avLst>
              <a:gd name="adj" fmla="val 4659"/>
            </a:avLst>
          </a:prstGeom>
          <a:solidFill>
            <a:srgbClr val="FFC4B3"/>
          </a:solidFill>
          <a:ln/>
        </p:spPr>
      </p:sp>
      <p:pic>
        <p:nvPicPr>
          <p:cNvPr id="11" name="Image 1" descr="preencoded.png">    </p:cNvPr>
          <p:cNvPicPr>
            <a:picLocks noChangeAspect="1"/>
          </p:cNvPicPr>
          <p:nvPr/>
        </p:nvPicPr>
        <p:blipFill>
          <a:blip r:embed="rId2"/>
          <a:stretch>
            <a:fillRect/>
          </a:stretch>
        </p:blipFill>
        <p:spPr>
          <a:xfrm>
            <a:off x="713184" y="2747070"/>
            <a:ext cx="179933" cy="143917"/>
          </a:xfrm>
          <a:prstGeom prst="rect">
            <a:avLst/>
          </a:prstGeom>
        </p:spPr>
      </p:pic>
      <p:sp>
        <p:nvSpPr>
          <p:cNvPr id="12" name="Text 8"/>
          <p:cNvSpPr/>
          <p:nvPr/>
        </p:nvSpPr>
        <p:spPr>
          <a:xfrm>
            <a:off x="1008236" y="2734940"/>
            <a:ext cx="2158231" cy="179933"/>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Merriweather Bold" pitchFamily="34" charset="0"/>
                <a:ea typeface="Merriweather Bold" pitchFamily="34" charset="-122"/>
                <a:cs typeface="Merriweather Bold" pitchFamily="34" charset="-120"/>
              </a:rPr>
              <a:t>Universal Trace Sources</a:t>
            </a:r>
            <a:endParaRPr lang="en-US" sz="1100" dirty="0"/>
          </a:p>
        </p:txBody>
      </p:sp>
      <p:sp>
        <p:nvSpPr>
          <p:cNvPr id="13" name="Text 9"/>
          <p:cNvSpPr/>
          <p:nvPr/>
        </p:nvSpPr>
        <p:spPr>
          <a:xfrm>
            <a:off x="1008236" y="3008412"/>
            <a:ext cx="3143473" cy="500955"/>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000000"/>
                </a:solidFill>
                <a:latin typeface="Open Sans" pitchFamily="34" charset="0"/>
                <a:ea typeface="Open Sans" pitchFamily="34" charset="-122"/>
                <a:cs typeface="Open Sans" pitchFamily="34" charset="-120"/>
              </a:rPr>
              <a:t>Traces from any environment—development, staging, benchmarks, or production—feed the same critical improvement loop.</a:t>
            </a:r>
            <a:endParaRPr lang="en-US" sz="900" dirty="0"/>
          </a:p>
        </p:txBody>
      </p:sp>
      <p:sp>
        <p:nvSpPr>
          <p:cNvPr id="14" name="Shape 10"/>
          <p:cNvSpPr/>
          <p:nvPr/>
        </p:nvSpPr>
        <p:spPr>
          <a:xfrm>
            <a:off x="4552578" y="1469082"/>
            <a:ext cx="3997970" cy="1038374"/>
          </a:xfrm>
          <a:prstGeom prst="roundRect">
            <a:avLst>
              <a:gd name="adj" fmla="val 4659"/>
            </a:avLst>
          </a:prstGeom>
          <a:solidFill>
            <a:srgbClr val="FFC4B3"/>
          </a:solidFill>
          <a:ln/>
        </p:spPr>
      </p:sp>
      <p:pic>
        <p:nvPicPr>
          <p:cNvPr id="15" name="Image 2" descr="preencoded.png">    </p:cNvPr>
          <p:cNvPicPr>
            <a:picLocks noChangeAspect="1"/>
          </p:cNvPicPr>
          <p:nvPr/>
        </p:nvPicPr>
        <p:blipFill>
          <a:blip r:embed="rId3"/>
          <a:stretch>
            <a:fillRect/>
          </a:stretch>
        </p:blipFill>
        <p:spPr>
          <a:xfrm>
            <a:off x="4667696" y="1603474"/>
            <a:ext cx="179933" cy="143917"/>
          </a:xfrm>
          <a:prstGeom prst="rect">
            <a:avLst/>
          </a:prstGeom>
        </p:spPr>
      </p:pic>
      <p:sp>
        <p:nvSpPr>
          <p:cNvPr id="16" name="Text 11"/>
          <p:cNvSpPr/>
          <p:nvPr/>
        </p:nvSpPr>
        <p:spPr>
          <a:xfrm>
            <a:off x="4962748" y="1591345"/>
            <a:ext cx="1926803" cy="179933"/>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Merriweather Bold" pitchFamily="34" charset="0"/>
                <a:ea typeface="Merriweather Bold" pitchFamily="34" charset="-122"/>
                <a:cs typeface="Merriweather Bold" pitchFamily="34" charset="-120"/>
              </a:rPr>
              <a:t>Iterative Refinement</a:t>
            </a:r>
            <a:endParaRPr lang="en-US" sz="1100" dirty="0"/>
          </a:p>
        </p:txBody>
      </p:sp>
      <p:sp>
        <p:nvSpPr>
          <p:cNvPr id="17" name="Text 12"/>
          <p:cNvSpPr/>
          <p:nvPr/>
        </p:nvSpPr>
        <p:spPr>
          <a:xfrm>
            <a:off x="4962748" y="1864816"/>
            <a:ext cx="3472681" cy="500955"/>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000000"/>
                </a:solidFill>
                <a:latin typeface="Open Sans" pitchFamily="34" charset="0"/>
                <a:ea typeface="Open Sans" pitchFamily="34" charset="-122"/>
                <a:cs typeface="Open Sans" pitchFamily="34" charset="-120"/>
              </a:rPr>
              <a:t>The loop involves enriching traces with evaluations and human feedback, identifying failure patterns, applying targeted changes, and validating fixes.</a:t>
            </a:r>
            <a:endParaRPr lang="en-US" sz="900" dirty="0"/>
          </a:p>
        </p:txBody>
      </p:sp>
      <p:sp>
        <p:nvSpPr>
          <p:cNvPr id="18" name="Shape 13"/>
          <p:cNvSpPr/>
          <p:nvPr/>
        </p:nvSpPr>
        <p:spPr>
          <a:xfrm>
            <a:off x="4552578" y="2612678"/>
            <a:ext cx="3997970" cy="1038374"/>
          </a:xfrm>
          <a:prstGeom prst="roundRect">
            <a:avLst>
              <a:gd name="adj" fmla="val 4659"/>
            </a:avLst>
          </a:prstGeom>
          <a:solidFill>
            <a:srgbClr val="FFC4B3"/>
          </a:solidFill>
          <a:ln/>
        </p:spPr>
      </p:sp>
      <p:pic>
        <p:nvPicPr>
          <p:cNvPr id="19" name="Image 3" descr="preencoded.png">    </p:cNvPr>
          <p:cNvPicPr>
            <a:picLocks noChangeAspect="1"/>
          </p:cNvPicPr>
          <p:nvPr/>
        </p:nvPicPr>
        <p:blipFill>
          <a:blip r:embed="rId4"/>
          <a:stretch>
            <a:fillRect/>
          </a:stretch>
        </p:blipFill>
        <p:spPr>
          <a:xfrm>
            <a:off x="4667696" y="2747070"/>
            <a:ext cx="179933" cy="143917"/>
          </a:xfrm>
          <a:prstGeom prst="rect">
            <a:avLst/>
          </a:prstGeom>
        </p:spPr>
      </p:pic>
      <p:sp>
        <p:nvSpPr>
          <p:cNvPr id="20" name="Text 14"/>
          <p:cNvSpPr/>
          <p:nvPr/>
        </p:nvSpPr>
        <p:spPr>
          <a:xfrm>
            <a:off x="4962748" y="2734940"/>
            <a:ext cx="1896963" cy="179933"/>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Merriweather Bold" pitchFamily="34" charset="0"/>
                <a:ea typeface="Merriweather Bold" pitchFamily="34" charset="-122"/>
                <a:cs typeface="Merriweather Bold" pitchFamily="34" charset="-120"/>
              </a:rPr>
              <a:t>LangSmith's Role</a:t>
            </a:r>
            <a:endParaRPr lang="en-US" sz="1100" dirty="0"/>
          </a:p>
        </p:txBody>
      </p:sp>
      <p:sp>
        <p:nvSpPr>
          <p:cNvPr id="21" name="Text 15"/>
          <p:cNvSpPr/>
          <p:nvPr/>
        </p:nvSpPr>
        <p:spPr>
          <a:xfrm>
            <a:off x="4962748" y="3008412"/>
            <a:ext cx="3472681" cy="500955"/>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000000"/>
                </a:solidFill>
                <a:latin typeface="Open Sans" pitchFamily="34" charset="0"/>
                <a:ea typeface="Open Sans" pitchFamily="34" charset="-122"/>
                <a:cs typeface="Open Sans" pitchFamily="34" charset="-120"/>
              </a:rPr>
              <a:t>LangSmith integrates every step, from initial tracing to CI/CD gates, ensuring continuous, data-driven improvement and preventing regressions.</a:t>
            </a:r>
            <a:endParaRPr lang="en-US" sz="900" dirty="0"/>
          </a:p>
        </p:txBody>
      </p:sp>
      <p:sp>
        <p:nvSpPr>
          <p:cNvPr id="22" name="Text 16"/>
          <p:cNvSpPr/>
          <p:nvPr/>
        </p:nvSpPr>
        <p:spPr>
          <a:xfrm>
            <a:off x="598066" y="3861495"/>
            <a:ext cx="7947794" cy="940147"/>
          </a:xfrm>
          <a:prstGeom prst="rect">
            <a:avLst/>
          </a:prstGeom>
          <a:noFill/>
          <a:ln/>
        </p:spPr>
        <p:txBody>
          <a:bodyPr wrap="square" lIns="0" tIns="0" rIns="0" bIns="0" rtlCol="0" anchor="t">
            <a:normAutofit/>
          </a:bodyPr>
          <a:lstStyle/>
          <a:p>
            <a:pPr algn="l" indent="0" marL="0">
              <a:lnSpc>
                <a:spcPct val="121000"/>
              </a:lnSpc>
              <a:spcAft>
                <a:spcPts val="800"/>
              </a:spcAft>
              <a:buNone/>
            </a:pPr>
            <a:r>
              <a:rPr lang="en-US" sz="900" dirty="0">
                <a:solidFill>
                  <a:srgbClr val="403C4E"/>
                </a:solidFill>
                <a:latin typeface="Open Sans" pitchFamily="34" charset="0"/>
                <a:ea typeface="Open Sans" pitchFamily="34" charset="-122"/>
                <a:cs typeface="Open Sans" pitchFamily="34" charset="-120"/>
              </a:rPr>
              <a:t>Improving an agent systematically requires a feedback loop. You collect traces of agent behavior, enrich them with evaluations and human feedback, identify what's failing and why, make targeted changes, and validate that those changes worked before shipping. Then you repeat from a higher baseline.</a:t>
            </a:r>
            <a:endParaRPr lang="en-US" sz="900" dirty="0"/>
          </a:p>
          <a:p>
            <a:pPr algn="l" indent="0" marL="0">
              <a:lnSpc>
                <a:spcPct val="121000"/>
              </a:lnSpc>
              <a:buNone/>
            </a:pPr>
            <a:r>
              <a:rPr lang="en-US" sz="900" dirty="0">
                <a:solidFill>
                  <a:srgbClr val="403C4E"/>
                </a:solidFill>
                <a:latin typeface="Open Sans" pitchFamily="34" charset="0"/>
                <a:ea typeface="Open Sans" pitchFamily="34" charset="-122"/>
                <a:cs typeface="Open Sans" pitchFamily="34" charset="-120"/>
              </a:rPr>
              <a:t>This loop is powered by traces. These traces can come from many places – from staging environments, benchmark runs, local development, and especially from production. What matters is collecting these traces, enriching them, and using that data to improve the system.</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96119" y="680814"/>
            <a:ext cx="754484" cy="266402"/>
          </a:xfrm>
          <a:prstGeom prst="roundRect">
            <a:avLst>
              <a:gd name="adj" fmla="val 17880"/>
            </a:avLst>
          </a:prstGeom>
          <a:solidFill>
            <a:srgbClr val="FFD8CC"/>
          </a:solidFill>
          <a:ln/>
        </p:spPr>
      </p:sp>
      <p:sp>
        <p:nvSpPr>
          <p:cNvPr id="3" name="Text 1"/>
          <p:cNvSpPr/>
          <p:nvPr/>
        </p:nvSpPr>
        <p:spPr>
          <a:xfrm>
            <a:off x="581174" y="723305"/>
            <a:ext cx="1041574" cy="181421"/>
          </a:xfrm>
          <a:prstGeom prst="rect">
            <a:avLst/>
          </a:prstGeom>
          <a:noFill/>
          <a:ln/>
        </p:spPr>
        <p:txBody>
          <a:bodyPr wrap="none" lIns="0" tIns="0" rIns="0" bIns="0" rtlCol="0" anchor="t"/>
          <a:lstStyle/>
          <a:p>
            <a:pPr algn="l" indent="0" marL="0">
              <a:lnSpc>
                <a:spcPct val="133000"/>
              </a:lnSpc>
              <a:buNone/>
            </a:pPr>
            <a:r>
              <a:rPr lang="en-US" sz="850" dirty="0">
                <a:solidFill>
                  <a:srgbClr val="403C4E"/>
                </a:solidFill>
                <a:latin typeface="Open Sans" pitchFamily="34" charset="0"/>
                <a:ea typeface="Open Sans" pitchFamily="34" charset="-122"/>
                <a:cs typeface="Open Sans" pitchFamily="34" charset="-120"/>
              </a:rPr>
              <a:t>CHAPTER 5</a:t>
            </a:r>
            <a:endParaRPr lang="en-US" sz="850" dirty="0"/>
          </a:p>
        </p:txBody>
      </p:sp>
      <p:sp>
        <p:nvSpPr>
          <p:cNvPr id="4" name="Text 2"/>
          <p:cNvSpPr/>
          <p:nvPr/>
        </p:nvSpPr>
        <p:spPr>
          <a:xfrm>
            <a:off x="1321445" y="723305"/>
            <a:ext cx="1481584" cy="181421"/>
          </a:xfrm>
          <a:prstGeom prst="rect">
            <a:avLst/>
          </a:prstGeom>
          <a:noFill/>
          <a:ln/>
        </p:spPr>
        <p:txBody>
          <a:bodyPr wrap="none" lIns="0" tIns="0" rIns="0" bIns="0" rtlCol="0" anchor="t"/>
          <a:lstStyle/>
          <a:p>
            <a:pPr algn="l" indent="0" marL="0">
              <a:lnSpc>
                <a:spcPct val="133000"/>
              </a:lnSpc>
              <a:buNone/>
            </a:pPr>
            <a:r>
              <a:rPr lang="en-US" sz="850" dirty="0">
                <a:solidFill>
                  <a:srgbClr val="FFAD94"/>
                </a:solidFill>
                <a:latin typeface="Open Sans" pitchFamily="34" charset="0"/>
                <a:ea typeface="Open Sans" pitchFamily="34" charset="-122"/>
                <a:cs typeface="Open Sans" pitchFamily="34" charset="-120"/>
              </a:rPr>
              <a:t>DEFINING SUCCESS</a:t>
            </a:r>
            <a:endParaRPr lang="en-US" sz="850" dirty="0"/>
          </a:p>
        </p:txBody>
      </p:sp>
      <p:sp>
        <p:nvSpPr>
          <p:cNvPr id="5" name="Text 3"/>
          <p:cNvSpPr/>
          <p:nvPr/>
        </p:nvSpPr>
        <p:spPr>
          <a:xfrm>
            <a:off x="496119" y="1003920"/>
            <a:ext cx="8376791"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What Does a "Good" Conversation Look Like?</a:t>
            </a:r>
            <a:endParaRPr lang="en-US" sz="2750" dirty="0"/>
          </a:p>
        </p:txBody>
      </p:sp>
      <p:sp>
        <p:nvSpPr>
          <p:cNvPr id="6" name="Text 4"/>
          <p:cNvSpPr/>
          <p:nvPr/>
        </p:nvSpPr>
        <p:spPr>
          <a:xfrm>
            <a:off x="496119" y="1659508"/>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Before optimizing, we must define what success means for an AI sales agent. It's not just about a smooth chat; it's about driving tangible business outcomes.</a:t>
            </a:r>
            <a:endParaRPr lang="en-US" sz="11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272605"/>
            <a:ext cx="354360" cy="354360"/>
          </a:xfrm>
          <a:prstGeom prst="rect">
            <a:avLst/>
          </a:prstGeom>
        </p:spPr>
      </p:pic>
      <p:sp>
        <p:nvSpPr>
          <p:cNvPr id="8" name="Text 5"/>
          <p:cNvSpPr/>
          <p:nvPr/>
        </p:nvSpPr>
        <p:spPr>
          <a:xfrm>
            <a:off x="1027658" y="2272605"/>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Direct Conversions</a:t>
            </a:r>
            <a:endParaRPr lang="en-US" sz="1350" dirty="0"/>
          </a:p>
        </p:txBody>
      </p:sp>
      <p:sp>
        <p:nvSpPr>
          <p:cNvPr id="9" name="Text 6"/>
          <p:cNvSpPr/>
          <p:nvPr/>
        </p:nvSpPr>
        <p:spPr>
          <a:xfrm>
            <a:off x="1027658" y="2579117"/>
            <a:ext cx="345571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Successful demo requests, qualified meeting bookings, or self-service sign-ups.</a:t>
            </a:r>
            <a:endParaRPr lang="en-US" sz="11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0553" y="2272605"/>
            <a:ext cx="354360" cy="354360"/>
          </a:xfrm>
          <a:prstGeom prst="rect">
            <a:avLst/>
          </a:prstGeom>
        </p:spPr>
      </p:pic>
      <p:sp>
        <p:nvSpPr>
          <p:cNvPr id="11" name="Text 7"/>
          <p:cNvSpPr/>
          <p:nvPr/>
        </p:nvSpPr>
        <p:spPr>
          <a:xfrm>
            <a:off x="5192092" y="2272605"/>
            <a:ext cx="1803127"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Information Capture</a:t>
            </a:r>
            <a:endParaRPr lang="en-US" sz="1350" dirty="0"/>
          </a:p>
        </p:txBody>
      </p:sp>
      <p:sp>
        <p:nvSpPr>
          <p:cNvPr id="12" name="Text 8"/>
          <p:cNvSpPr/>
          <p:nvPr/>
        </p:nvSpPr>
        <p:spPr>
          <a:xfrm>
            <a:off x="5192092" y="2579117"/>
            <a:ext cx="3455789"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Timely and accurate collection of essential contact details like email or phone numbers.</a:t>
            </a:r>
            <a:endParaRPr lang="en-US" sz="11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316263"/>
            <a:ext cx="354360" cy="354360"/>
          </a:xfrm>
          <a:prstGeom prst="rect">
            <a:avLst/>
          </a:prstGeom>
        </p:spPr>
      </p:pic>
      <p:sp>
        <p:nvSpPr>
          <p:cNvPr id="14" name="Text 9"/>
          <p:cNvSpPr/>
          <p:nvPr/>
        </p:nvSpPr>
        <p:spPr>
          <a:xfrm>
            <a:off x="1027658" y="3316263"/>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Progressive Nudges</a:t>
            </a:r>
            <a:endParaRPr lang="en-US" sz="1350" dirty="0"/>
          </a:p>
        </p:txBody>
      </p:sp>
      <p:sp>
        <p:nvSpPr>
          <p:cNvPr id="15" name="Text 10"/>
          <p:cNvSpPr/>
          <p:nvPr/>
        </p:nvSpPr>
        <p:spPr>
          <a:xfrm>
            <a:off x="1027658" y="3622774"/>
            <a:ext cx="345571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Guiding users toward the next step in their buying journey, whether immediate or deferred.</a:t>
            </a:r>
            <a:endParaRPr lang="en-US" sz="11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60553" y="3316263"/>
            <a:ext cx="354360" cy="354360"/>
          </a:xfrm>
          <a:prstGeom prst="rect">
            <a:avLst/>
          </a:prstGeom>
        </p:spPr>
      </p:pic>
      <p:sp>
        <p:nvSpPr>
          <p:cNvPr id="17" name="Text 11"/>
          <p:cNvSpPr/>
          <p:nvPr/>
        </p:nvSpPr>
        <p:spPr>
          <a:xfrm>
            <a:off x="5192092" y="3316263"/>
            <a:ext cx="1792188"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Downstream Impact</a:t>
            </a:r>
            <a:endParaRPr lang="en-US" sz="1350" dirty="0"/>
          </a:p>
        </p:txBody>
      </p:sp>
      <p:sp>
        <p:nvSpPr>
          <p:cNvPr id="18" name="Text 12"/>
          <p:cNvSpPr/>
          <p:nvPr/>
        </p:nvSpPr>
        <p:spPr>
          <a:xfrm>
            <a:off x="5192092" y="3622774"/>
            <a:ext cx="3455789"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Increased browsing activity, repeat visits, or subsequent self-serviced actions.</a:t>
            </a:r>
            <a:endParaRPr lang="en-US" sz="1100" dirty="0"/>
          </a:p>
        </p:txBody>
      </p:sp>
      <p:sp>
        <p:nvSpPr>
          <p:cNvPr id="19" name="Text 13"/>
          <p:cNvSpPr/>
          <p:nvPr/>
        </p:nvSpPr>
        <p:spPr>
          <a:xfrm>
            <a:off x="496119" y="4235872"/>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A truly "good" conversation efficiently moves the prospect closer to a desired business outcome, regardless of its length.</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26393" y="347142"/>
            <a:ext cx="648444" cy="218033"/>
          </a:xfrm>
          <a:prstGeom prst="roundRect">
            <a:avLst>
              <a:gd name="adj" fmla="val 18775"/>
            </a:avLst>
          </a:prstGeom>
          <a:solidFill>
            <a:srgbClr val="FFD8CC"/>
          </a:solidFill>
          <a:ln/>
        </p:spPr>
      </p:sp>
      <p:sp>
        <p:nvSpPr>
          <p:cNvPr id="3" name="Text 1"/>
          <p:cNvSpPr/>
          <p:nvPr/>
        </p:nvSpPr>
        <p:spPr>
          <a:xfrm>
            <a:off x="499467" y="383679"/>
            <a:ext cx="959495" cy="144959"/>
          </a:xfrm>
          <a:prstGeom prst="rect">
            <a:avLst/>
          </a:prstGeom>
          <a:noFill/>
          <a:ln/>
        </p:spPr>
        <p:txBody>
          <a:bodyPr wrap="none" lIns="0" tIns="0" rIns="0" bIns="0" rtlCol="0" anchor="t"/>
          <a:lstStyle/>
          <a:p>
            <a:pPr algn="l" indent="0" marL="0">
              <a:lnSpc>
                <a:spcPct val="124000"/>
              </a:lnSpc>
              <a:buNone/>
            </a:pPr>
            <a:r>
              <a:rPr lang="en-US" sz="750" dirty="0">
                <a:solidFill>
                  <a:srgbClr val="403C4E"/>
                </a:solidFill>
                <a:latin typeface="Open Sans" pitchFamily="34" charset="0"/>
                <a:ea typeface="Open Sans" pitchFamily="34" charset="-122"/>
                <a:cs typeface="Open Sans" pitchFamily="34" charset="-120"/>
              </a:rPr>
              <a:t>CHAPTER 5</a:t>
            </a:r>
            <a:endParaRPr lang="en-US" sz="750" dirty="0"/>
          </a:p>
        </p:txBody>
      </p:sp>
      <p:sp>
        <p:nvSpPr>
          <p:cNvPr id="4" name="Text 2"/>
          <p:cNvSpPr/>
          <p:nvPr/>
        </p:nvSpPr>
        <p:spPr>
          <a:xfrm>
            <a:off x="1135707" y="383679"/>
            <a:ext cx="1337593" cy="144959"/>
          </a:xfrm>
          <a:prstGeom prst="rect">
            <a:avLst/>
          </a:prstGeom>
          <a:noFill/>
          <a:ln/>
        </p:spPr>
        <p:txBody>
          <a:bodyPr wrap="none" lIns="0" tIns="0" rIns="0" bIns="0" rtlCol="0" anchor="t"/>
          <a:lstStyle/>
          <a:p>
            <a:pPr algn="l" indent="0" marL="0">
              <a:lnSpc>
                <a:spcPct val="124000"/>
              </a:lnSpc>
              <a:buNone/>
            </a:pPr>
            <a:r>
              <a:rPr lang="en-US" sz="750" dirty="0">
                <a:solidFill>
                  <a:srgbClr val="FFAD94"/>
                </a:solidFill>
                <a:latin typeface="Open Sans" pitchFamily="34" charset="0"/>
                <a:ea typeface="Open Sans" pitchFamily="34" charset="-122"/>
                <a:cs typeface="Open Sans" pitchFamily="34" charset="-120"/>
              </a:rPr>
              <a:t>DEFINING SUCCESS</a:t>
            </a:r>
            <a:endParaRPr lang="en-US" sz="750" dirty="0"/>
          </a:p>
        </p:txBody>
      </p:sp>
      <p:sp>
        <p:nvSpPr>
          <p:cNvPr id="5" name="Text 3"/>
          <p:cNvSpPr/>
          <p:nvPr/>
        </p:nvSpPr>
        <p:spPr>
          <a:xfrm>
            <a:off x="426393" y="606996"/>
            <a:ext cx="6803380" cy="380702"/>
          </a:xfrm>
          <a:prstGeom prst="rect">
            <a:avLst/>
          </a:prstGeom>
          <a:noFill/>
          <a:ln/>
        </p:spPr>
        <p:txBody>
          <a:bodyPr wrap="none" lIns="0" tIns="0" rIns="0" bIns="0" rtlCol="0" anchor="t"/>
          <a:lstStyle/>
          <a:p>
            <a:pPr algn="l" indent="0" marL="0">
              <a:lnSpc>
                <a:spcPct val="104000"/>
              </a:lnSpc>
              <a:buNone/>
            </a:pPr>
            <a:r>
              <a:rPr lang="en-US" sz="2350" b="1" dirty="0">
                <a:solidFill>
                  <a:srgbClr val="403C4E"/>
                </a:solidFill>
                <a:latin typeface="Merriweather Bold" pitchFamily="34" charset="0"/>
                <a:ea typeface="Merriweather Bold" pitchFamily="34" charset="-122"/>
                <a:cs typeface="Merriweather Bold" pitchFamily="34" charset="-120"/>
              </a:rPr>
              <a:t>Early Warning: Detecting User Complaints</a:t>
            </a:r>
            <a:endParaRPr lang="en-US" sz="2350" dirty="0"/>
          </a:p>
        </p:txBody>
      </p:sp>
      <p:sp>
        <p:nvSpPr>
          <p:cNvPr id="6" name="Text 4"/>
          <p:cNvSpPr/>
          <p:nvPr/>
        </p:nvSpPr>
        <p:spPr>
          <a:xfrm>
            <a:off x="426393" y="1144712"/>
            <a:ext cx="8291215"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A "successful" conversion might mask underlying issues. For example, a user giving their email because the agent couldn't provide the requested information isn't true success. It's crucial to identify these subtle failure signals, as they indicate a breakdown in the agent's ability to help.</a:t>
            </a:r>
            <a:endParaRPr lang="en-US" sz="950" dirty="0"/>
          </a:p>
        </p:txBody>
      </p:sp>
      <p:sp>
        <p:nvSpPr>
          <p:cNvPr id="7" name="Shape 5"/>
          <p:cNvSpPr/>
          <p:nvPr/>
        </p:nvSpPr>
        <p:spPr>
          <a:xfrm>
            <a:off x="426393" y="1624831"/>
            <a:ext cx="4093294" cy="887760"/>
          </a:xfrm>
          <a:prstGeom prst="roundRect">
            <a:avLst>
              <a:gd name="adj" fmla="val 7725"/>
            </a:avLst>
          </a:prstGeom>
          <a:solidFill>
            <a:srgbClr val="FFFFFF"/>
          </a:solidFill>
          <a:ln w="14288">
            <a:solidFill>
              <a:srgbClr val="E5BEB2"/>
            </a:solidFill>
            <a:prstDash val="solid"/>
          </a:ln>
        </p:spPr>
      </p:sp>
      <p:sp>
        <p:nvSpPr>
          <p:cNvPr id="8" name="Shape 6"/>
          <p:cNvSpPr/>
          <p:nvPr/>
        </p:nvSpPr>
        <p:spPr>
          <a:xfrm>
            <a:off x="412105" y="1624831"/>
            <a:ext cx="57150" cy="887760"/>
          </a:xfrm>
          <a:prstGeom prst="roundRect">
            <a:avLst>
              <a:gd name="adj" fmla="val 89535"/>
            </a:avLst>
          </a:prstGeom>
          <a:solidFill>
            <a:srgbClr val="FFAD94"/>
          </a:solidFill>
          <a:ln/>
        </p:spPr>
      </p:sp>
      <p:sp>
        <p:nvSpPr>
          <p:cNvPr id="9" name="Text 7"/>
          <p:cNvSpPr/>
          <p:nvPr/>
        </p:nvSpPr>
        <p:spPr>
          <a:xfrm>
            <a:off x="605358" y="1760934"/>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"I need a human"</a:t>
            </a:r>
            <a:endParaRPr lang="en-US" sz="1150" dirty="0"/>
          </a:p>
        </p:txBody>
      </p:sp>
      <p:sp>
        <p:nvSpPr>
          <p:cNvPr id="10" name="Text 8"/>
          <p:cNvSpPr/>
          <p:nvPr/>
        </p:nvSpPr>
        <p:spPr>
          <a:xfrm>
            <a:off x="605358" y="2014091"/>
            <a:ext cx="3778225"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Direct requests to speak with a human, indicating the AI couldn't resolve the query.</a:t>
            </a:r>
            <a:endParaRPr lang="en-US" sz="950" dirty="0"/>
          </a:p>
        </p:txBody>
      </p:sp>
      <p:sp>
        <p:nvSpPr>
          <p:cNvPr id="11" name="Shape 9"/>
          <p:cNvSpPr/>
          <p:nvPr/>
        </p:nvSpPr>
        <p:spPr>
          <a:xfrm>
            <a:off x="4624313" y="1624831"/>
            <a:ext cx="4093294" cy="887760"/>
          </a:xfrm>
          <a:prstGeom prst="roundRect">
            <a:avLst>
              <a:gd name="adj" fmla="val 7725"/>
            </a:avLst>
          </a:prstGeom>
          <a:solidFill>
            <a:srgbClr val="FFFFFF"/>
          </a:solidFill>
          <a:ln w="14288">
            <a:solidFill>
              <a:srgbClr val="E5BEB2"/>
            </a:solidFill>
            <a:prstDash val="solid"/>
          </a:ln>
        </p:spPr>
      </p:sp>
      <p:sp>
        <p:nvSpPr>
          <p:cNvPr id="12" name="Shape 10"/>
          <p:cNvSpPr/>
          <p:nvPr/>
        </p:nvSpPr>
        <p:spPr>
          <a:xfrm>
            <a:off x="4610026" y="1624831"/>
            <a:ext cx="57150" cy="887760"/>
          </a:xfrm>
          <a:prstGeom prst="roundRect">
            <a:avLst>
              <a:gd name="adj" fmla="val 89535"/>
            </a:avLst>
          </a:prstGeom>
          <a:solidFill>
            <a:srgbClr val="FFAD94"/>
          </a:solidFill>
          <a:ln/>
        </p:spPr>
      </p:sp>
      <p:sp>
        <p:nvSpPr>
          <p:cNvPr id="13" name="Text 11"/>
          <p:cNvSpPr/>
          <p:nvPr/>
        </p:nvSpPr>
        <p:spPr>
          <a:xfrm>
            <a:off x="4803279" y="1760934"/>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Repeated questions</a:t>
            </a:r>
            <a:endParaRPr lang="en-US" sz="1150" dirty="0"/>
          </a:p>
        </p:txBody>
      </p:sp>
      <p:sp>
        <p:nvSpPr>
          <p:cNvPr id="14" name="Text 12"/>
          <p:cNvSpPr/>
          <p:nvPr/>
        </p:nvSpPr>
        <p:spPr>
          <a:xfrm>
            <a:off x="4803279" y="2014091"/>
            <a:ext cx="3778225"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Users rephrasing or asking the same question multiple times, signaling agent misunderstanding.</a:t>
            </a:r>
            <a:endParaRPr lang="en-US" sz="950" dirty="0"/>
          </a:p>
        </p:txBody>
      </p:sp>
      <p:sp>
        <p:nvSpPr>
          <p:cNvPr id="15" name="Shape 13"/>
          <p:cNvSpPr/>
          <p:nvPr/>
        </p:nvSpPr>
        <p:spPr>
          <a:xfrm>
            <a:off x="426393" y="2617217"/>
            <a:ext cx="4093294" cy="887760"/>
          </a:xfrm>
          <a:prstGeom prst="roundRect">
            <a:avLst>
              <a:gd name="adj" fmla="val 7725"/>
            </a:avLst>
          </a:prstGeom>
          <a:solidFill>
            <a:srgbClr val="FFFFFF"/>
          </a:solidFill>
          <a:ln w="14288">
            <a:solidFill>
              <a:srgbClr val="E5BEB2"/>
            </a:solidFill>
            <a:prstDash val="solid"/>
          </a:ln>
        </p:spPr>
      </p:sp>
      <p:sp>
        <p:nvSpPr>
          <p:cNvPr id="16" name="Shape 14"/>
          <p:cNvSpPr/>
          <p:nvPr/>
        </p:nvSpPr>
        <p:spPr>
          <a:xfrm>
            <a:off x="412105" y="2617217"/>
            <a:ext cx="57150" cy="887760"/>
          </a:xfrm>
          <a:prstGeom prst="roundRect">
            <a:avLst>
              <a:gd name="adj" fmla="val 89535"/>
            </a:avLst>
          </a:prstGeom>
          <a:solidFill>
            <a:srgbClr val="FFAD94"/>
          </a:solidFill>
          <a:ln/>
        </p:spPr>
      </p:sp>
      <p:sp>
        <p:nvSpPr>
          <p:cNvPr id="17" name="Text 15"/>
          <p:cNvSpPr/>
          <p:nvPr/>
        </p:nvSpPr>
        <p:spPr>
          <a:xfrm>
            <a:off x="605358" y="2753320"/>
            <a:ext cx="1631528" cy="190351"/>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Frustration keywords</a:t>
            </a:r>
            <a:endParaRPr lang="en-US" sz="1150" dirty="0"/>
          </a:p>
        </p:txBody>
      </p:sp>
      <p:sp>
        <p:nvSpPr>
          <p:cNvPr id="18" name="Text 16"/>
          <p:cNvSpPr/>
          <p:nvPr/>
        </p:nvSpPr>
        <p:spPr>
          <a:xfrm>
            <a:off x="605358" y="3006477"/>
            <a:ext cx="3778225"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Detection of words like "frustrated," "stuck," "not helping," indicating negative sentiment.</a:t>
            </a:r>
            <a:endParaRPr lang="en-US" sz="950" dirty="0"/>
          </a:p>
        </p:txBody>
      </p:sp>
      <p:sp>
        <p:nvSpPr>
          <p:cNvPr id="19" name="Shape 17"/>
          <p:cNvSpPr/>
          <p:nvPr/>
        </p:nvSpPr>
        <p:spPr>
          <a:xfrm>
            <a:off x="4624313" y="2617217"/>
            <a:ext cx="4093294" cy="887760"/>
          </a:xfrm>
          <a:prstGeom prst="roundRect">
            <a:avLst>
              <a:gd name="adj" fmla="val 7725"/>
            </a:avLst>
          </a:prstGeom>
          <a:solidFill>
            <a:srgbClr val="FFFFFF"/>
          </a:solidFill>
          <a:ln w="14288">
            <a:solidFill>
              <a:srgbClr val="E5BEB2"/>
            </a:solidFill>
            <a:prstDash val="solid"/>
          </a:ln>
        </p:spPr>
      </p:sp>
      <p:sp>
        <p:nvSpPr>
          <p:cNvPr id="20" name="Shape 18"/>
          <p:cNvSpPr/>
          <p:nvPr/>
        </p:nvSpPr>
        <p:spPr>
          <a:xfrm>
            <a:off x="4610026" y="2617217"/>
            <a:ext cx="57150" cy="887760"/>
          </a:xfrm>
          <a:prstGeom prst="roundRect">
            <a:avLst>
              <a:gd name="adj" fmla="val 89535"/>
            </a:avLst>
          </a:prstGeom>
          <a:solidFill>
            <a:srgbClr val="FFAD94"/>
          </a:solidFill>
          <a:ln/>
        </p:spPr>
      </p:sp>
      <p:sp>
        <p:nvSpPr>
          <p:cNvPr id="21" name="Text 19"/>
          <p:cNvSpPr/>
          <p:nvPr/>
        </p:nvSpPr>
        <p:spPr>
          <a:xfrm>
            <a:off x="4803279" y="2753320"/>
            <a:ext cx="1854845" cy="190351"/>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Abrupt conversation end</a:t>
            </a:r>
            <a:endParaRPr lang="en-US" sz="1150" dirty="0"/>
          </a:p>
        </p:txBody>
      </p:sp>
      <p:sp>
        <p:nvSpPr>
          <p:cNvPr id="22" name="Text 20"/>
          <p:cNvSpPr/>
          <p:nvPr/>
        </p:nvSpPr>
        <p:spPr>
          <a:xfrm>
            <a:off x="4803279" y="3006477"/>
            <a:ext cx="3778225"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Users dropping off without a clear resolution or handover, suggesting disengagement.</a:t>
            </a:r>
            <a:endParaRPr lang="en-US" sz="950" dirty="0"/>
          </a:p>
        </p:txBody>
      </p:sp>
      <p:sp>
        <p:nvSpPr>
          <p:cNvPr id="23" name="Shape 21"/>
          <p:cNvSpPr/>
          <p:nvPr/>
        </p:nvSpPr>
        <p:spPr>
          <a:xfrm>
            <a:off x="426393" y="3609603"/>
            <a:ext cx="4093294" cy="887760"/>
          </a:xfrm>
          <a:prstGeom prst="roundRect">
            <a:avLst>
              <a:gd name="adj" fmla="val 7725"/>
            </a:avLst>
          </a:prstGeom>
          <a:solidFill>
            <a:srgbClr val="FFFFFF"/>
          </a:solidFill>
          <a:ln w="14288">
            <a:solidFill>
              <a:srgbClr val="E5BEB2"/>
            </a:solidFill>
            <a:prstDash val="solid"/>
          </a:ln>
        </p:spPr>
      </p:sp>
      <p:sp>
        <p:nvSpPr>
          <p:cNvPr id="24" name="Shape 22"/>
          <p:cNvSpPr/>
          <p:nvPr/>
        </p:nvSpPr>
        <p:spPr>
          <a:xfrm>
            <a:off x="412105" y="3609603"/>
            <a:ext cx="57150" cy="887760"/>
          </a:xfrm>
          <a:prstGeom prst="roundRect">
            <a:avLst>
              <a:gd name="adj" fmla="val 89535"/>
            </a:avLst>
          </a:prstGeom>
          <a:solidFill>
            <a:srgbClr val="FFAD94"/>
          </a:solidFill>
          <a:ln/>
        </p:spPr>
      </p:sp>
      <p:sp>
        <p:nvSpPr>
          <p:cNvPr id="25" name="Text 23"/>
          <p:cNvSpPr/>
          <p:nvPr/>
        </p:nvSpPr>
        <p:spPr>
          <a:xfrm>
            <a:off x="605358" y="3745706"/>
            <a:ext cx="1715244" cy="190351"/>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Information avoidance</a:t>
            </a:r>
            <a:endParaRPr lang="en-US" sz="1150" dirty="0"/>
          </a:p>
        </p:txBody>
      </p:sp>
      <p:sp>
        <p:nvSpPr>
          <p:cNvPr id="26" name="Text 24"/>
          <p:cNvSpPr/>
          <p:nvPr/>
        </p:nvSpPr>
        <p:spPr>
          <a:xfrm>
            <a:off x="605358" y="3998863"/>
            <a:ext cx="3778225"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Users deflecting agent's discovery questions, possibly due to lack of trust or perceived irrelevance.</a:t>
            </a:r>
            <a:endParaRPr lang="en-US" sz="950" dirty="0"/>
          </a:p>
        </p:txBody>
      </p:sp>
      <p:sp>
        <p:nvSpPr>
          <p:cNvPr id="27" name="Text 25"/>
          <p:cNvSpPr/>
          <p:nvPr/>
        </p:nvSpPr>
        <p:spPr>
          <a:xfrm>
            <a:off x="426393" y="4615086"/>
            <a:ext cx="8717607" cy="181198"/>
          </a:xfrm>
          <a:prstGeom prst="rect">
            <a:avLst/>
          </a:prstGeom>
          <a:noFill/>
          <a:ln/>
        </p:spPr>
        <p:txBody>
          <a:bodyPr wrap="none" lIns="0" tIns="0" rIns="0" bIns="0" rtlCol="0" anchor="t"/>
          <a:lstStyle/>
          <a:p>
            <a:pPr algn="l" indent="0" marL="0">
              <a:lnSpc>
                <a:spcPct val="124000"/>
              </a:lnSpc>
              <a:buNone/>
            </a:pPr>
            <a:r>
              <a:rPr lang="en-US" sz="950" dirty="0">
                <a:solidFill>
                  <a:srgbClr val="403C4E"/>
                </a:solidFill>
                <a:latin typeface="Open Sans" pitchFamily="34" charset="0"/>
                <a:ea typeface="Open Sans" pitchFamily="34" charset="-122"/>
                <a:cs typeface="Open Sans" pitchFamily="34" charset="-120"/>
              </a:rPr>
              <a:t>Identifying these "red flags" ensures we distinguish genuine success from forced outcomes, providing actionable insights for agent improvement.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80182" y="335087"/>
            <a:ext cx="5880646" cy="325338"/>
          </a:xfrm>
          <a:prstGeom prst="rect">
            <a:avLst/>
          </a:prstGeom>
          <a:noFill/>
          <a:ln/>
        </p:spPr>
        <p:txBody>
          <a:bodyPr wrap="none" lIns="0" tIns="0" rIns="0" bIns="0" rtlCol="0" anchor="t"/>
          <a:lstStyle/>
          <a:p>
            <a:pPr algn="l" indent="0" marL="0">
              <a:lnSpc>
                <a:spcPct val="104000"/>
              </a:lnSpc>
              <a:buNone/>
            </a:pPr>
            <a:r>
              <a:rPr lang="en-US" sz="2000" b="1" dirty="0">
                <a:solidFill>
                  <a:srgbClr val="403C4E"/>
                </a:solidFill>
                <a:latin typeface="Merriweather Bold" pitchFamily="34" charset="0"/>
                <a:ea typeface="Merriweather Bold" pitchFamily="34" charset="-122"/>
                <a:cs typeface="Merriweather Bold" pitchFamily="34" charset="-120"/>
              </a:rPr>
              <a:t>Early Warning: Detecting User Complaints</a:t>
            </a:r>
            <a:endParaRPr lang="en-US" sz="2000" dirty="0"/>
          </a:p>
        </p:txBody>
      </p:sp>
      <p:pic>
        <p:nvPicPr>
          <p:cNvPr id="3" name="Image 0" descr="preencoded.png">    </p:cNvPr>
          <p:cNvPicPr>
            <a:picLocks noChangeAspect="1"/>
          </p:cNvPicPr>
          <p:nvPr/>
        </p:nvPicPr>
        <p:blipFill>
          <a:blip r:embed="rId1"/>
          <a:stretch>
            <a:fillRect/>
          </a:stretch>
        </p:blipFill>
        <p:spPr>
          <a:xfrm>
            <a:off x="980182" y="813271"/>
            <a:ext cx="7183562" cy="1781473"/>
          </a:xfrm>
          <a:prstGeom prst="rect">
            <a:avLst/>
          </a:prstGeom>
        </p:spPr>
      </p:pic>
      <p:sp>
        <p:nvSpPr>
          <p:cNvPr id="4" name="Text 1"/>
          <p:cNvSpPr/>
          <p:nvPr/>
        </p:nvSpPr>
        <p:spPr>
          <a:xfrm>
            <a:off x="980182" y="2680692"/>
            <a:ext cx="7183562" cy="374824"/>
          </a:xfrm>
          <a:prstGeom prst="rect">
            <a:avLst/>
          </a:prstGeom>
          <a:noFill/>
          <a:ln/>
        </p:spPr>
        <p:txBody>
          <a:bodyPr wrap="square" lIns="0" tIns="0" rIns="0" bIns="0" rtlCol="0" anchor="t"/>
          <a:lstStyle/>
          <a:p>
            <a:pPr algn="l" indent="0" marL="0">
              <a:lnSpc>
                <a:spcPct val="116000"/>
              </a:lnSpc>
              <a:spcAft>
                <a:spcPts val="1800"/>
              </a:spcAft>
              <a:buNone/>
            </a:pPr>
            <a:endParaRPr lang="en-US" sz="800" dirty="0"/>
          </a:p>
          <a:p>
            <a:pPr algn="l" indent="0" marL="0">
              <a:lnSpc>
                <a:spcPct val="116000"/>
              </a:lnSpc>
              <a:buNone/>
            </a:pPr>
            <a:r>
              <a:rPr lang="en-US" sz="800" dirty="0">
                <a:solidFill>
                  <a:srgbClr val="403C4E"/>
                </a:solidFill>
                <a:latin typeface="Open Sans" pitchFamily="34" charset="0"/>
                <a:ea typeface="Open Sans" pitchFamily="34" charset="-122"/>
                <a:cs typeface="Open Sans" pitchFamily="34" charset="-120"/>
              </a:rPr>
              <a:t>Proactively identifying user frustration is an "easy win" for rapid feedback and incident detection in your AI sales agent production pipeline.</a:t>
            </a:r>
            <a:endParaRPr lang="en-US" sz="800" dirty="0"/>
          </a:p>
        </p:txBody>
      </p:sp>
      <p:sp>
        <p:nvSpPr>
          <p:cNvPr id="5" name="Shape 2"/>
          <p:cNvSpPr/>
          <p:nvPr/>
        </p:nvSpPr>
        <p:spPr>
          <a:xfrm>
            <a:off x="965895" y="3127177"/>
            <a:ext cx="28575" cy="525959"/>
          </a:xfrm>
          <a:prstGeom prst="rect">
            <a:avLst/>
          </a:prstGeom>
          <a:solidFill>
            <a:srgbClr val="FFAD94"/>
          </a:solidFill>
          <a:ln/>
        </p:spPr>
      </p:sp>
      <p:sp>
        <p:nvSpPr>
          <p:cNvPr id="6" name="Text 3"/>
          <p:cNvSpPr/>
          <p:nvPr/>
        </p:nvSpPr>
        <p:spPr>
          <a:xfrm>
            <a:off x="1112862" y="3141464"/>
            <a:ext cx="1571699" cy="162669"/>
          </a:xfrm>
          <a:prstGeom prst="rect">
            <a:avLst/>
          </a:prstGeom>
          <a:noFill/>
          <a:ln/>
        </p:spPr>
        <p:txBody>
          <a:bodyPr wrap="none" lIns="0" tIns="0" rIns="0" bIns="0" rtlCol="0" anchor="t"/>
          <a:lstStyle/>
          <a:p>
            <a:pPr algn="l" indent="0" marL="0">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Pattern-Based Detection</a:t>
            </a:r>
            <a:endParaRPr lang="en-US" sz="1000" dirty="0"/>
          </a:p>
        </p:txBody>
      </p:sp>
      <p:sp>
        <p:nvSpPr>
          <p:cNvPr id="7" name="Text 4"/>
          <p:cNvSpPr/>
          <p:nvPr/>
        </p:nvSpPr>
        <p:spPr>
          <a:xfrm>
            <a:off x="1112862" y="3349972"/>
            <a:ext cx="3411289" cy="288875"/>
          </a:xfrm>
          <a:prstGeom prst="rect">
            <a:avLst/>
          </a:prstGeom>
          <a:noFill/>
          <a:ln/>
        </p:spPr>
        <p:txBody>
          <a:bodyPr wrap="square" lIns="0" tIns="0" rIns="0" bIns="0" rtlCol="0" anchor="t">
            <a:normAutofit/>
          </a:bodyPr>
          <a:lstStyle/>
          <a:p>
            <a:pPr algn="l" indent="0" marL="0">
              <a:lnSpc>
                <a:spcPct val="116000"/>
              </a:lnSpc>
              <a:buNone/>
            </a:pPr>
            <a:r>
              <a:rPr lang="en-US" sz="800" dirty="0">
                <a:solidFill>
                  <a:srgbClr val="403C4E"/>
                </a:solidFill>
                <a:latin typeface="Open Sans" pitchFamily="34" charset="0"/>
                <a:ea typeface="Open Sans" pitchFamily="34" charset="-122"/>
                <a:cs typeface="Open Sans" pitchFamily="34" charset="-120"/>
              </a:rPr>
              <a:t>Implement simple regular expressions to catch keywords and phrases indicating dissatisfaction or confusion.</a:t>
            </a:r>
            <a:endParaRPr lang="en-US" sz="800" dirty="0"/>
          </a:p>
        </p:txBody>
      </p:sp>
      <p:sp>
        <p:nvSpPr>
          <p:cNvPr id="8" name="Shape 5"/>
          <p:cNvSpPr/>
          <p:nvPr/>
        </p:nvSpPr>
        <p:spPr>
          <a:xfrm>
            <a:off x="4605412" y="3127177"/>
            <a:ext cx="28575" cy="525959"/>
          </a:xfrm>
          <a:prstGeom prst="rect">
            <a:avLst/>
          </a:prstGeom>
          <a:solidFill>
            <a:srgbClr val="FFAD94"/>
          </a:solidFill>
          <a:ln/>
        </p:spPr>
      </p:sp>
      <p:sp>
        <p:nvSpPr>
          <p:cNvPr id="9" name="Text 6"/>
          <p:cNvSpPr/>
          <p:nvPr/>
        </p:nvSpPr>
        <p:spPr>
          <a:xfrm>
            <a:off x="4752380" y="3141464"/>
            <a:ext cx="1696045" cy="162669"/>
          </a:xfrm>
          <a:prstGeom prst="rect">
            <a:avLst/>
          </a:prstGeom>
          <a:noFill/>
          <a:ln/>
        </p:spPr>
        <p:txBody>
          <a:bodyPr wrap="none" lIns="0" tIns="0" rIns="0" bIns="0" rtlCol="0" anchor="t"/>
          <a:lstStyle/>
          <a:p>
            <a:pPr algn="l" indent="0" marL="0">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Immediate Incident Gauge</a:t>
            </a:r>
            <a:endParaRPr lang="en-US" sz="1000" dirty="0"/>
          </a:p>
        </p:txBody>
      </p:sp>
      <p:sp>
        <p:nvSpPr>
          <p:cNvPr id="10" name="Text 7"/>
          <p:cNvSpPr/>
          <p:nvPr/>
        </p:nvSpPr>
        <p:spPr>
          <a:xfrm>
            <a:off x="4752380" y="3349972"/>
            <a:ext cx="3411364" cy="288875"/>
          </a:xfrm>
          <a:prstGeom prst="rect">
            <a:avLst/>
          </a:prstGeom>
          <a:noFill/>
          <a:ln/>
        </p:spPr>
        <p:txBody>
          <a:bodyPr wrap="square" lIns="0" tIns="0" rIns="0" bIns="0" rtlCol="0" anchor="t">
            <a:normAutofit/>
          </a:bodyPr>
          <a:lstStyle/>
          <a:p>
            <a:pPr algn="l" indent="0" marL="0">
              <a:lnSpc>
                <a:spcPct val="116000"/>
              </a:lnSpc>
              <a:buNone/>
            </a:pPr>
            <a:r>
              <a:rPr lang="en-US" sz="800" dirty="0">
                <a:solidFill>
                  <a:srgbClr val="403C4E"/>
                </a:solidFill>
                <a:latin typeface="Open Sans" pitchFamily="34" charset="0"/>
                <a:ea typeface="Open Sans" pitchFamily="34" charset="-122"/>
                <a:cs typeface="Open Sans" pitchFamily="34" charset="-120"/>
              </a:rPr>
              <a:t>Flags conversations where the agent might be misinterpreting context, hallucinating, or failing to retrieve relevant information.</a:t>
            </a:r>
            <a:endParaRPr lang="en-US" sz="800" dirty="0"/>
          </a:p>
        </p:txBody>
      </p:sp>
      <p:sp>
        <p:nvSpPr>
          <p:cNvPr id="11" name="Shape 8"/>
          <p:cNvSpPr/>
          <p:nvPr/>
        </p:nvSpPr>
        <p:spPr>
          <a:xfrm>
            <a:off x="965895" y="3777407"/>
            <a:ext cx="28575" cy="670396"/>
          </a:xfrm>
          <a:prstGeom prst="rect">
            <a:avLst/>
          </a:prstGeom>
          <a:solidFill>
            <a:srgbClr val="FFAD94"/>
          </a:solidFill>
          <a:ln/>
        </p:spPr>
      </p:sp>
      <p:sp>
        <p:nvSpPr>
          <p:cNvPr id="12" name="Text 9"/>
          <p:cNvSpPr/>
          <p:nvPr/>
        </p:nvSpPr>
        <p:spPr>
          <a:xfrm>
            <a:off x="1112862" y="3791694"/>
            <a:ext cx="1643583" cy="162669"/>
          </a:xfrm>
          <a:prstGeom prst="rect">
            <a:avLst/>
          </a:prstGeom>
          <a:noFill/>
          <a:ln/>
        </p:spPr>
        <p:txBody>
          <a:bodyPr wrap="none" lIns="0" tIns="0" rIns="0" bIns="0" rtlCol="0" anchor="t"/>
          <a:lstStyle/>
          <a:p>
            <a:pPr algn="l" indent="0" marL="0">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Direct RAG Quality Signal</a:t>
            </a:r>
            <a:endParaRPr lang="en-US" sz="1000" dirty="0"/>
          </a:p>
        </p:txBody>
      </p:sp>
      <p:sp>
        <p:nvSpPr>
          <p:cNvPr id="13" name="Text 10"/>
          <p:cNvSpPr/>
          <p:nvPr/>
        </p:nvSpPr>
        <p:spPr>
          <a:xfrm>
            <a:off x="1112862" y="4000202"/>
            <a:ext cx="3411289" cy="433313"/>
          </a:xfrm>
          <a:prstGeom prst="rect">
            <a:avLst/>
          </a:prstGeom>
          <a:noFill/>
          <a:ln/>
        </p:spPr>
        <p:txBody>
          <a:bodyPr wrap="square" lIns="0" tIns="0" rIns="0" bIns="0" rtlCol="0" anchor="t">
            <a:normAutofit/>
          </a:bodyPr>
          <a:lstStyle/>
          <a:p>
            <a:pPr algn="l" indent="0" marL="0">
              <a:lnSpc>
                <a:spcPct val="116000"/>
              </a:lnSpc>
              <a:buNone/>
            </a:pPr>
            <a:r>
              <a:rPr lang="en-US" sz="800" dirty="0">
                <a:solidFill>
                  <a:srgbClr val="403C4E"/>
                </a:solidFill>
                <a:latin typeface="Open Sans" pitchFamily="34" charset="0"/>
                <a:ea typeface="Open Sans" pitchFamily="34" charset="-122"/>
                <a:cs typeface="Open Sans" pitchFamily="34" charset="-120"/>
              </a:rPr>
              <a:t>Provides an invaluable, real-time indicator of whether your Retrieval Augmented Generation (RAG) is delivering accurate and helpful responses.</a:t>
            </a:r>
            <a:endParaRPr lang="en-US" sz="800" dirty="0"/>
          </a:p>
        </p:txBody>
      </p:sp>
      <p:sp>
        <p:nvSpPr>
          <p:cNvPr id="14" name="Shape 11"/>
          <p:cNvSpPr/>
          <p:nvPr/>
        </p:nvSpPr>
        <p:spPr>
          <a:xfrm>
            <a:off x="4605412" y="3777407"/>
            <a:ext cx="28575" cy="670396"/>
          </a:xfrm>
          <a:prstGeom prst="rect">
            <a:avLst/>
          </a:prstGeom>
          <a:solidFill>
            <a:srgbClr val="FFAD94"/>
          </a:solidFill>
          <a:ln/>
        </p:spPr>
      </p:sp>
      <p:sp>
        <p:nvSpPr>
          <p:cNvPr id="15" name="Text 12"/>
          <p:cNvSpPr/>
          <p:nvPr/>
        </p:nvSpPr>
        <p:spPr>
          <a:xfrm>
            <a:off x="4752380" y="3791694"/>
            <a:ext cx="1404268" cy="162669"/>
          </a:xfrm>
          <a:prstGeom prst="rect">
            <a:avLst/>
          </a:prstGeom>
          <a:noFill/>
          <a:ln/>
        </p:spPr>
        <p:txBody>
          <a:bodyPr wrap="none" lIns="0" tIns="0" rIns="0" bIns="0" rtlCol="0" anchor="t"/>
          <a:lstStyle/>
          <a:p>
            <a:pPr algn="l" indent="0" marL="0">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Fuel for Improvement</a:t>
            </a:r>
            <a:endParaRPr lang="en-US" sz="1000" dirty="0"/>
          </a:p>
        </p:txBody>
      </p:sp>
      <p:sp>
        <p:nvSpPr>
          <p:cNvPr id="16" name="Text 13"/>
          <p:cNvSpPr/>
          <p:nvPr/>
        </p:nvSpPr>
        <p:spPr>
          <a:xfrm>
            <a:off x="4752380" y="4000202"/>
            <a:ext cx="3411364" cy="288875"/>
          </a:xfrm>
          <a:prstGeom prst="rect">
            <a:avLst/>
          </a:prstGeom>
          <a:noFill/>
          <a:ln/>
        </p:spPr>
        <p:txBody>
          <a:bodyPr wrap="square" lIns="0" tIns="0" rIns="0" bIns="0" rtlCol="0" anchor="t">
            <a:normAutofit/>
          </a:bodyPr>
          <a:lstStyle/>
          <a:p>
            <a:pPr algn="l" indent="0" marL="0">
              <a:lnSpc>
                <a:spcPct val="116000"/>
              </a:lnSpc>
              <a:buNone/>
            </a:pPr>
            <a:r>
              <a:rPr lang="en-US" sz="800" dirty="0">
                <a:solidFill>
                  <a:srgbClr val="403C4E"/>
                </a:solidFill>
                <a:latin typeface="Open Sans" pitchFamily="34" charset="0"/>
                <a:ea typeface="Open Sans" pitchFamily="34" charset="-122"/>
                <a:cs typeface="Open Sans" pitchFamily="34" charset="-120"/>
              </a:rPr>
              <a:t>Automatically routes flagged conversations for human review, directly feeding into your continuous improvement and evaluation datasets.</a:t>
            </a:r>
            <a:endParaRPr lang="en-US" sz="800" dirty="0"/>
          </a:p>
        </p:txBody>
      </p:sp>
      <p:sp>
        <p:nvSpPr>
          <p:cNvPr id="17" name="Text 14"/>
          <p:cNvSpPr/>
          <p:nvPr/>
        </p:nvSpPr>
        <p:spPr>
          <a:xfrm>
            <a:off x="980182" y="4519464"/>
            <a:ext cx="7183562" cy="288875"/>
          </a:xfrm>
          <a:prstGeom prst="rect">
            <a:avLst/>
          </a:prstGeom>
          <a:noFill/>
          <a:ln/>
        </p:spPr>
        <p:txBody>
          <a:bodyPr wrap="square" lIns="0" tIns="0" rIns="0" bIns="0" rtlCol="0" anchor="t">
            <a:normAutofit/>
          </a:bodyPr>
          <a:lstStyle/>
          <a:p>
            <a:pPr algn="l" indent="0" marL="0">
              <a:lnSpc>
                <a:spcPct val="116000"/>
              </a:lnSpc>
              <a:buNone/>
            </a:pPr>
            <a:r>
              <a:rPr lang="en-US" sz="800" dirty="0">
                <a:solidFill>
                  <a:srgbClr val="403C4E"/>
                </a:solidFill>
                <a:latin typeface="Open Sans" pitchFamily="34" charset="0"/>
                <a:ea typeface="Open Sans" pitchFamily="34" charset="-122"/>
                <a:cs typeface="Open Sans" pitchFamily="34" charset="-120"/>
              </a:rPr>
              <a:t>A simple regex applied across conversation transcripts, like those generated by a Claude model, can serve as a powerful first line of defense for detecting potential issues.</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96119" y="510108"/>
            <a:ext cx="5960790"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How Do We Verify RAG Quality?</a:t>
            </a:r>
            <a:endParaRPr lang="en-US" sz="2750" dirty="0"/>
          </a:p>
        </p:txBody>
      </p:sp>
      <p:sp>
        <p:nvSpPr>
          <p:cNvPr id="3" name="Text 1"/>
          <p:cNvSpPr/>
          <p:nvPr/>
        </p:nvSpPr>
        <p:spPr>
          <a:xfrm>
            <a:off x="496119" y="1236613"/>
            <a:ext cx="8151763" cy="613097"/>
          </a:xfrm>
          <a:prstGeom prst="rect">
            <a:avLst/>
          </a:prstGeom>
          <a:noFill/>
          <a:ln/>
        </p:spPr>
        <p:txBody>
          <a:bodyPr wrap="square" lIns="0" tIns="0" rIns="0" bIns="0" rtlCol="0" anchor="t"/>
          <a:lstStyle/>
          <a:p>
            <a:pPr algn="l" indent="0" marL="0">
              <a:lnSpc>
                <a:spcPct val="133000"/>
              </a:lnSpc>
              <a:spcAft>
                <a:spcPts val="1250"/>
              </a:spcAft>
              <a:buNone/>
            </a:pPr>
            <a:r>
              <a:rPr lang="en-US" sz="1100" dirty="0">
                <a:solidFill>
                  <a:srgbClr val="403C4E"/>
                </a:solidFill>
                <a:latin typeface="Open Sans" pitchFamily="34" charset="0"/>
                <a:ea typeface="Open Sans" pitchFamily="34" charset="-122"/>
                <a:cs typeface="Open Sans" pitchFamily="34" charset="-120"/>
              </a:rPr>
              <a:t>RAG Quality ≠ “Did it answer?”</a:t>
            </a:r>
            <a:endParaRPr lang="en-US" sz="1100" dirty="0"/>
          </a:p>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For a B2B sales AI, retrieval quality must ensure:</a:t>
            </a:r>
            <a:endParaRPr lang="en-US" sz="1100" dirty="0"/>
          </a:p>
        </p:txBody>
      </p:sp>
      <p:sp>
        <p:nvSpPr>
          <p:cNvPr id="4" name="Shape 2"/>
          <p:cNvSpPr/>
          <p:nvPr/>
        </p:nvSpPr>
        <p:spPr>
          <a:xfrm>
            <a:off x="496119" y="2009180"/>
            <a:ext cx="4004965" cy="854943"/>
          </a:xfrm>
          <a:prstGeom prst="roundRect">
            <a:avLst>
              <a:gd name="adj" fmla="val 10695"/>
            </a:avLst>
          </a:prstGeom>
          <a:solidFill>
            <a:srgbClr val="FFFFFF"/>
          </a:solidFill>
          <a:ln w="19050">
            <a:solidFill>
              <a:srgbClr val="E5BEB2"/>
            </a:solidFill>
            <a:prstDash val="solid"/>
          </a:ln>
        </p:spPr>
      </p:sp>
      <p:sp>
        <p:nvSpPr>
          <p:cNvPr id="5" name="Shape 3"/>
          <p:cNvSpPr/>
          <p:nvPr/>
        </p:nvSpPr>
        <p:spPr>
          <a:xfrm>
            <a:off x="477069" y="2009180"/>
            <a:ext cx="76200" cy="854943"/>
          </a:xfrm>
          <a:prstGeom prst="roundRect">
            <a:avLst>
              <a:gd name="adj" fmla="val 78140"/>
            </a:avLst>
          </a:prstGeom>
          <a:solidFill>
            <a:srgbClr val="FFAD94"/>
          </a:solidFill>
          <a:ln/>
        </p:spPr>
      </p:sp>
      <p:sp>
        <p:nvSpPr>
          <p:cNvPr id="6" name="Text 4"/>
          <p:cNvSpPr/>
          <p:nvPr/>
        </p:nvSpPr>
        <p:spPr>
          <a:xfrm>
            <a:off x="714077" y="2169988"/>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Completeness</a:t>
            </a:r>
            <a:endParaRPr lang="en-US" sz="1350" dirty="0"/>
          </a:p>
        </p:txBody>
      </p:sp>
      <p:sp>
        <p:nvSpPr>
          <p:cNvPr id="7" name="Text 5"/>
          <p:cNvSpPr/>
          <p:nvPr/>
        </p:nvSpPr>
        <p:spPr>
          <a:xfrm>
            <a:off x="714077" y="2476500"/>
            <a:ext cx="3626197"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Retrieve all relevant pain points.</a:t>
            </a:r>
            <a:endParaRPr lang="en-US" sz="1100" dirty="0"/>
          </a:p>
        </p:txBody>
      </p:sp>
      <p:sp>
        <p:nvSpPr>
          <p:cNvPr id="8" name="Shape 6"/>
          <p:cNvSpPr/>
          <p:nvPr/>
        </p:nvSpPr>
        <p:spPr>
          <a:xfrm>
            <a:off x="4642842" y="2009180"/>
            <a:ext cx="4005039" cy="854943"/>
          </a:xfrm>
          <a:prstGeom prst="roundRect">
            <a:avLst>
              <a:gd name="adj" fmla="val 10695"/>
            </a:avLst>
          </a:prstGeom>
          <a:solidFill>
            <a:srgbClr val="FFFFFF"/>
          </a:solidFill>
          <a:ln w="19050">
            <a:solidFill>
              <a:srgbClr val="E5BEB2"/>
            </a:solidFill>
            <a:prstDash val="solid"/>
          </a:ln>
        </p:spPr>
      </p:sp>
      <p:sp>
        <p:nvSpPr>
          <p:cNvPr id="9" name="Shape 7"/>
          <p:cNvSpPr/>
          <p:nvPr/>
        </p:nvSpPr>
        <p:spPr>
          <a:xfrm>
            <a:off x="4623792" y="2009180"/>
            <a:ext cx="76200" cy="854943"/>
          </a:xfrm>
          <a:prstGeom prst="roundRect">
            <a:avLst>
              <a:gd name="adj" fmla="val 78140"/>
            </a:avLst>
          </a:prstGeom>
          <a:solidFill>
            <a:srgbClr val="FFAD94"/>
          </a:solidFill>
          <a:ln/>
        </p:spPr>
      </p:sp>
      <p:sp>
        <p:nvSpPr>
          <p:cNvPr id="10" name="Text 8"/>
          <p:cNvSpPr/>
          <p:nvPr/>
        </p:nvSpPr>
        <p:spPr>
          <a:xfrm>
            <a:off x="4860801" y="2169988"/>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Specificity</a:t>
            </a:r>
            <a:endParaRPr lang="en-US" sz="1350" dirty="0"/>
          </a:p>
        </p:txBody>
      </p:sp>
      <p:sp>
        <p:nvSpPr>
          <p:cNvPr id="11" name="Text 9"/>
          <p:cNvSpPr/>
          <p:nvPr/>
        </p:nvSpPr>
        <p:spPr>
          <a:xfrm>
            <a:off x="4860801" y="2476500"/>
            <a:ext cx="3626272"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Persona-specific vs. generic responses.</a:t>
            </a:r>
            <a:endParaRPr lang="en-US" sz="1100" dirty="0"/>
          </a:p>
        </p:txBody>
      </p:sp>
      <p:sp>
        <p:nvSpPr>
          <p:cNvPr id="12" name="Shape 10"/>
          <p:cNvSpPr/>
          <p:nvPr/>
        </p:nvSpPr>
        <p:spPr>
          <a:xfrm>
            <a:off x="496119" y="3005882"/>
            <a:ext cx="4004965" cy="854943"/>
          </a:xfrm>
          <a:prstGeom prst="roundRect">
            <a:avLst>
              <a:gd name="adj" fmla="val 10695"/>
            </a:avLst>
          </a:prstGeom>
          <a:solidFill>
            <a:srgbClr val="FFFFFF"/>
          </a:solidFill>
          <a:ln w="19050">
            <a:solidFill>
              <a:srgbClr val="E5BEB2"/>
            </a:solidFill>
            <a:prstDash val="solid"/>
          </a:ln>
        </p:spPr>
      </p:sp>
      <p:sp>
        <p:nvSpPr>
          <p:cNvPr id="13" name="Shape 11"/>
          <p:cNvSpPr/>
          <p:nvPr/>
        </p:nvSpPr>
        <p:spPr>
          <a:xfrm>
            <a:off x="477069" y="3005882"/>
            <a:ext cx="76200" cy="854943"/>
          </a:xfrm>
          <a:prstGeom prst="roundRect">
            <a:avLst>
              <a:gd name="adj" fmla="val 78140"/>
            </a:avLst>
          </a:prstGeom>
          <a:solidFill>
            <a:srgbClr val="FFAD94"/>
          </a:solidFill>
          <a:ln/>
        </p:spPr>
      </p:sp>
      <p:sp>
        <p:nvSpPr>
          <p:cNvPr id="14" name="Text 12"/>
          <p:cNvSpPr/>
          <p:nvPr/>
        </p:nvSpPr>
        <p:spPr>
          <a:xfrm>
            <a:off x="714077" y="3166690"/>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Differentiation</a:t>
            </a:r>
            <a:endParaRPr lang="en-US" sz="1350" dirty="0"/>
          </a:p>
        </p:txBody>
      </p:sp>
      <p:sp>
        <p:nvSpPr>
          <p:cNvPr id="15" name="Text 13"/>
          <p:cNvSpPr/>
          <p:nvPr/>
        </p:nvSpPr>
        <p:spPr>
          <a:xfrm>
            <a:off x="714077" y="3473202"/>
            <a:ext cx="3626197"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Position against competitors effectively.</a:t>
            </a:r>
            <a:endParaRPr lang="en-US" sz="1100" dirty="0"/>
          </a:p>
        </p:txBody>
      </p:sp>
      <p:sp>
        <p:nvSpPr>
          <p:cNvPr id="16" name="Shape 14"/>
          <p:cNvSpPr/>
          <p:nvPr/>
        </p:nvSpPr>
        <p:spPr>
          <a:xfrm>
            <a:off x="4642842" y="3005882"/>
            <a:ext cx="4005039" cy="854943"/>
          </a:xfrm>
          <a:prstGeom prst="roundRect">
            <a:avLst>
              <a:gd name="adj" fmla="val 10695"/>
            </a:avLst>
          </a:prstGeom>
          <a:solidFill>
            <a:srgbClr val="FFFFFF"/>
          </a:solidFill>
          <a:ln w="19050">
            <a:solidFill>
              <a:srgbClr val="E5BEB2"/>
            </a:solidFill>
            <a:prstDash val="solid"/>
          </a:ln>
        </p:spPr>
      </p:sp>
      <p:sp>
        <p:nvSpPr>
          <p:cNvPr id="17" name="Shape 15"/>
          <p:cNvSpPr/>
          <p:nvPr/>
        </p:nvSpPr>
        <p:spPr>
          <a:xfrm>
            <a:off x="4623792" y="3005882"/>
            <a:ext cx="76200" cy="854943"/>
          </a:xfrm>
          <a:prstGeom prst="roundRect">
            <a:avLst>
              <a:gd name="adj" fmla="val 78140"/>
            </a:avLst>
          </a:prstGeom>
          <a:solidFill>
            <a:srgbClr val="FFAD94"/>
          </a:solidFill>
          <a:ln/>
        </p:spPr>
      </p:sp>
      <p:sp>
        <p:nvSpPr>
          <p:cNvPr id="18" name="Text 16"/>
          <p:cNvSpPr/>
          <p:nvPr/>
        </p:nvSpPr>
        <p:spPr>
          <a:xfrm>
            <a:off x="4860801" y="3166690"/>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Strategic Depth</a:t>
            </a:r>
            <a:endParaRPr lang="en-US" sz="1350" dirty="0"/>
          </a:p>
        </p:txBody>
      </p:sp>
      <p:sp>
        <p:nvSpPr>
          <p:cNvPr id="19" name="Text 17"/>
          <p:cNvSpPr/>
          <p:nvPr/>
        </p:nvSpPr>
        <p:spPr>
          <a:xfrm>
            <a:off x="4860801" y="3473202"/>
            <a:ext cx="3626272" cy="226814"/>
          </a:xfrm>
          <a:prstGeom prst="rect">
            <a:avLst/>
          </a:prstGeom>
          <a:noFill/>
          <a:ln/>
        </p:spPr>
        <p:txBody>
          <a:bodyPr wrap="none" lIns="0" tIns="0" rIns="0" bIns="0" rtlCol="0" anchor="t"/>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Adapt by role or segment dynamically.</a:t>
            </a:r>
            <a:endParaRPr lang="en-US" sz="1100" dirty="0"/>
          </a:p>
        </p:txBody>
      </p:sp>
      <p:sp>
        <p:nvSpPr>
          <p:cNvPr id="20" name="Text 18"/>
          <p:cNvSpPr/>
          <p:nvPr/>
        </p:nvSpPr>
        <p:spPr>
          <a:xfrm>
            <a:off x="496119" y="4020294"/>
            <a:ext cx="8151763" cy="613097"/>
          </a:xfrm>
          <a:prstGeom prst="rect">
            <a:avLst/>
          </a:prstGeom>
          <a:noFill/>
          <a:ln/>
        </p:spPr>
        <p:txBody>
          <a:bodyPr wrap="square" lIns="0" tIns="0" rIns="0" bIns="0" rtlCol="0" anchor="t"/>
          <a:lstStyle/>
          <a:p>
            <a:pPr algn="l" indent="0" marL="0">
              <a:lnSpc>
                <a:spcPct val="133000"/>
              </a:lnSpc>
              <a:spcAft>
                <a:spcPts val="1250"/>
              </a:spcAft>
              <a:buNone/>
            </a:pPr>
            <a:r>
              <a:rPr lang="en-US" sz="1100" dirty="0">
                <a:solidFill>
                  <a:srgbClr val="403C4E"/>
                </a:solidFill>
                <a:latin typeface="Open Sans" pitchFamily="34" charset="0"/>
                <a:ea typeface="Open Sans" pitchFamily="34" charset="-122"/>
                <a:cs typeface="Open Sans" pitchFamily="34" charset="-120"/>
              </a:rPr>
              <a:t>Traditional metrics (ROUGE, embedding similarity) are insufficient.</a:t>
            </a:r>
            <a:endParaRPr lang="en-US" sz="1100" dirty="0"/>
          </a:p>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We need structured business evaluation.</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1515145" y="295647"/>
            <a:ext cx="471562" cy="145256"/>
          </a:xfrm>
          <a:prstGeom prst="roundRect">
            <a:avLst>
              <a:gd name="adj" fmla="val 20496"/>
            </a:avLst>
          </a:prstGeom>
          <a:solidFill>
            <a:srgbClr val="FFD8CC"/>
          </a:solidFill>
          <a:ln/>
        </p:spPr>
      </p:sp>
      <p:sp>
        <p:nvSpPr>
          <p:cNvPr id="3" name="Text 1"/>
          <p:cNvSpPr/>
          <p:nvPr/>
        </p:nvSpPr>
        <p:spPr>
          <a:xfrm>
            <a:off x="1568276" y="322213"/>
            <a:ext cx="822499" cy="92125"/>
          </a:xfrm>
          <a:prstGeom prst="rect">
            <a:avLst/>
          </a:prstGeom>
          <a:noFill/>
          <a:ln/>
        </p:spPr>
        <p:txBody>
          <a:bodyPr wrap="none" lIns="0" tIns="0" rIns="0" bIns="0" rtlCol="0" anchor="t"/>
          <a:lstStyle/>
          <a:p>
            <a:pPr algn="l" indent="0" marL="0">
              <a:lnSpc>
                <a:spcPct val="108000"/>
              </a:lnSpc>
              <a:buNone/>
            </a:pPr>
            <a:r>
              <a:rPr lang="en-US" sz="550" dirty="0">
                <a:solidFill>
                  <a:srgbClr val="403C4E"/>
                </a:solidFill>
                <a:latin typeface="Open Sans" pitchFamily="34" charset="0"/>
                <a:ea typeface="Open Sans" pitchFamily="34" charset="-122"/>
                <a:cs typeface="Open Sans" pitchFamily="34" charset="-120"/>
              </a:rPr>
              <a:t>CHAPTER 5</a:t>
            </a:r>
            <a:endParaRPr lang="en-US" sz="550" dirty="0"/>
          </a:p>
        </p:txBody>
      </p:sp>
      <p:sp>
        <p:nvSpPr>
          <p:cNvPr id="4" name="Text 2"/>
          <p:cNvSpPr/>
          <p:nvPr/>
        </p:nvSpPr>
        <p:spPr>
          <a:xfrm>
            <a:off x="2030983" y="322213"/>
            <a:ext cx="902568" cy="92125"/>
          </a:xfrm>
          <a:prstGeom prst="rect">
            <a:avLst/>
          </a:prstGeom>
          <a:noFill/>
          <a:ln/>
        </p:spPr>
        <p:txBody>
          <a:bodyPr wrap="none" lIns="0" tIns="0" rIns="0" bIns="0" rtlCol="0" anchor="t"/>
          <a:lstStyle/>
          <a:p>
            <a:pPr algn="l" indent="0" marL="0">
              <a:lnSpc>
                <a:spcPct val="108000"/>
              </a:lnSpc>
              <a:buNone/>
            </a:pPr>
            <a:r>
              <a:rPr lang="en-US" sz="550" dirty="0">
                <a:solidFill>
                  <a:srgbClr val="FFAD94"/>
                </a:solidFill>
                <a:latin typeface="Open Sans" pitchFamily="34" charset="0"/>
                <a:ea typeface="Open Sans" pitchFamily="34" charset="-122"/>
                <a:cs typeface="Open Sans" pitchFamily="34" charset="-120"/>
              </a:rPr>
              <a:t>RAG QUALITY</a:t>
            </a:r>
            <a:endParaRPr lang="en-US" sz="550" dirty="0"/>
          </a:p>
        </p:txBody>
      </p:sp>
      <p:sp>
        <p:nvSpPr>
          <p:cNvPr id="5" name="Text 3"/>
          <p:cNvSpPr/>
          <p:nvPr/>
        </p:nvSpPr>
        <p:spPr>
          <a:xfrm>
            <a:off x="1515145" y="463004"/>
            <a:ext cx="5482456" cy="276895"/>
          </a:xfrm>
          <a:prstGeom prst="rect">
            <a:avLst/>
          </a:prstGeom>
          <a:noFill/>
          <a:ln/>
        </p:spPr>
        <p:txBody>
          <a:bodyPr wrap="none" lIns="0" tIns="0" rIns="0" bIns="0" rtlCol="0" anchor="t"/>
          <a:lstStyle/>
          <a:p>
            <a:pPr algn="l" indent="0" marL="0">
              <a:lnSpc>
                <a:spcPct val="104000"/>
              </a:lnSpc>
              <a:buNone/>
            </a:pPr>
            <a:r>
              <a:rPr lang="en-US" sz="1700" b="1" dirty="0">
                <a:solidFill>
                  <a:srgbClr val="403C4E"/>
                </a:solidFill>
                <a:latin typeface="Merriweather Bold" pitchFamily="34" charset="0"/>
                <a:ea typeface="Merriweather Bold" pitchFamily="34" charset="-122"/>
                <a:cs typeface="Merriweather Bold" pitchFamily="34" charset="-120"/>
              </a:rPr>
              <a:t>Verifying RAG Quality: The WKYT Framework</a:t>
            </a:r>
            <a:endParaRPr lang="en-US" sz="1700" dirty="0"/>
          </a:p>
        </p:txBody>
      </p:sp>
      <p:sp>
        <p:nvSpPr>
          <p:cNvPr id="6" name="Text 4"/>
          <p:cNvSpPr/>
          <p:nvPr/>
        </p:nvSpPr>
        <p:spPr>
          <a:xfrm>
            <a:off x="1515145" y="822945"/>
            <a:ext cx="6113711" cy="407863"/>
          </a:xfrm>
          <a:prstGeom prst="rect">
            <a:avLst/>
          </a:prstGeom>
          <a:noFill/>
          <a:ln/>
        </p:spPr>
        <p:txBody>
          <a:bodyPr wrap="square" lIns="0" tIns="0" rIns="0" bIns="0" rtlCol="0" anchor="t"/>
          <a:lstStyle/>
          <a:p>
            <a:pPr algn="l" indent="0" marL="0">
              <a:lnSpc>
                <a:spcPct val="108000"/>
              </a:lnSpc>
              <a:buNone/>
            </a:pPr>
            <a:r>
              <a:rPr lang="en-US" sz="650" dirty="0">
                <a:solidFill>
                  <a:srgbClr val="403C4E"/>
                </a:solidFill>
                <a:latin typeface="Open Sans" pitchFamily="34" charset="0"/>
                <a:ea typeface="Open Sans" pitchFamily="34" charset="-122"/>
                <a:cs typeface="Open Sans" pitchFamily="34" charset="-120"/>
              </a:rPr>
              <a:t>RAG Quality in a sales context is not merely about providing an answer; it’s about delivering </a:t>
            </a:r>
            <a:pPr algn="l" indent="0" marL="0">
              <a:lnSpc>
                <a:spcPct val="108000"/>
              </a:lnSpc>
              <a:buNone/>
            </a:pPr>
            <a:r>
              <a:rPr lang="en-US" sz="650" b="1" dirty="0">
                <a:solidFill>
                  <a:srgbClr val="403C4E"/>
                </a:solidFill>
                <a:latin typeface="Open Sans" pitchFamily="34" charset="0"/>
                <a:ea typeface="Open Sans" pitchFamily="34" charset="-122"/>
                <a:cs typeface="Open Sans" pitchFamily="34" charset="-120"/>
              </a:rPr>
              <a:t>actionable, persona-specific insights</a:t>
            </a:r>
            <a:pPr algn="l" indent="0" marL="0">
              <a:lnSpc>
                <a:spcPct val="108000"/>
              </a:lnSpc>
              <a:spcAft>
                <a:spcPts val="450"/>
              </a:spcAft>
              <a:buNone/>
            </a:pPr>
            <a:r>
              <a:rPr lang="en-US" sz="650" dirty="0">
                <a:solidFill>
                  <a:srgbClr val="403C4E"/>
                </a:solidFill>
                <a:latin typeface="Open Sans" pitchFamily="34" charset="0"/>
                <a:ea typeface="Open Sans" pitchFamily="34" charset="-122"/>
                <a:cs typeface="Open Sans" pitchFamily="34" charset="-120"/>
              </a:rPr>
              <a:t>.</a:t>
            </a:r>
            <a:endParaRPr lang="en-US" sz="650" dirty="0"/>
          </a:p>
          <a:p>
            <a:pPr algn="l" indent="0" marL="0">
              <a:lnSpc>
                <a:spcPct val="108000"/>
              </a:lnSpc>
              <a:buNone/>
            </a:pPr>
            <a:r>
              <a:rPr lang="en-US" sz="650" dirty="0">
                <a:solidFill>
                  <a:srgbClr val="403C4E"/>
                </a:solidFill>
                <a:latin typeface="Open Sans" pitchFamily="34" charset="0"/>
                <a:ea typeface="Open Sans" pitchFamily="34" charset="-122"/>
                <a:cs typeface="Open Sans" pitchFamily="34" charset="-120"/>
              </a:rPr>
              <a:t>We adopt a WKYT (What, Know, Why, Think) or DIKW-style scoring system to measure the depth of the AI's understanding and response quality. Each level builds upon the last, contributing to a comprehensive intelligence score.</a:t>
            </a:r>
            <a:endParaRPr lang="en-US" sz="650" dirty="0"/>
          </a:p>
        </p:txBody>
      </p:sp>
      <p:pic>
        <p:nvPicPr>
          <p:cNvPr id="7" name="Image 0" descr="preencoded.png">    </p:cNvPr>
          <p:cNvPicPr>
            <a:picLocks noChangeAspect="1"/>
          </p:cNvPicPr>
          <p:nvPr/>
        </p:nvPicPr>
        <p:blipFill>
          <a:blip r:embed="rId1"/>
          <a:stretch>
            <a:fillRect/>
          </a:stretch>
        </p:blipFill>
        <p:spPr>
          <a:xfrm>
            <a:off x="1515145" y="1293093"/>
            <a:ext cx="6113711" cy="2797894"/>
          </a:xfrm>
          <a:prstGeom prst="rect">
            <a:avLst/>
          </a:prstGeom>
        </p:spPr>
      </p:pic>
      <p:sp>
        <p:nvSpPr>
          <p:cNvPr id="8" name="Text 5"/>
          <p:cNvSpPr/>
          <p:nvPr/>
        </p:nvSpPr>
        <p:spPr>
          <a:xfrm>
            <a:off x="5993455" y="1588542"/>
            <a:ext cx="1490654" cy="338102"/>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Specificity &amp; Completeness</a:t>
            </a:r>
            <a:endParaRPr lang="en-US" sz="1050" dirty="0"/>
          </a:p>
        </p:txBody>
      </p:sp>
      <p:sp>
        <p:nvSpPr>
          <p:cNvPr id="9" name="Text 6"/>
          <p:cNvSpPr/>
          <p:nvPr/>
        </p:nvSpPr>
        <p:spPr>
          <a:xfrm>
            <a:off x="5993455" y="1974729"/>
            <a:ext cx="1490654" cy="219766"/>
          </a:xfrm>
          <a:prstGeom prst="rect">
            <a:avLst/>
          </a:prstGeom>
          <a:noFill/>
          <a:ln/>
        </p:spPr>
        <p:txBody>
          <a:bodyPr wrap="square" lIns="0" tIns="0" rIns="0" bIns="0" rtlCol="0" anchor="t">
            <a:normAutofit/>
          </a:bodyPr>
          <a:lstStyle/>
          <a:p>
            <a:pPr algn="l" indent="0" marL="0">
              <a:lnSpc>
                <a:spcPct val="85000"/>
              </a:lnSpc>
              <a:buNone/>
            </a:pPr>
            <a:r>
              <a:rPr lang="en-US" sz="850" dirty="0">
                <a:solidFill>
                  <a:srgbClr val="403C4E"/>
                </a:solidFill>
                <a:latin typeface="Open Sans" pitchFamily="34" charset="0"/>
                <a:ea typeface="Open Sans" pitchFamily="34" charset="-122"/>
                <a:cs typeface="Open Sans" pitchFamily="34" charset="-120"/>
              </a:rPr>
              <a:t>Detailed facts and full coverage (0-14)</a:t>
            </a:r>
            <a:endParaRPr lang="en-US" sz="850" dirty="0"/>
          </a:p>
        </p:txBody>
      </p:sp>
      <p:sp>
        <p:nvSpPr>
          <p:cNvPr id="10" name="Text 7"/>
          <p:cNvSpPr/>
          <p:nvPr/>
        </p:nvSpPr>
        <p:spPr>
          <a:xfrm>
            <a:off x="1220571" y="2592705"/>
            <a:ext cx="1352408" cy="169051"/>
          </a:xfrm>
          <a:prstGeom prst="rect">
            <a:avLst/>
          </a:prstGeom>
          <a:noFill/>
          <a:ln/>
        </p:spPr>
        <p:txBody>
          <a:bodyPr wrap="none" lIns="0" tIns="0" rIns="0" bIns="0" rtlCol="0" anchor="t"/>
          <a:lstStyle/>
          <a:p>
            <a:pPr algn="r"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Persona Depth</a:t>
            </a:r>
            <a:endParaRPr lang="en-US" sz="1050" dirty="0"/>
          </a:p>
        </p:txBody>
      </p:sp>
      <p:sp>
        <p:nvSpPr>
          <p:cNvPr id="11" name="Text 8"/>
          <p:cNvSpPr/>
          <p:nvPr/>
        </p:nvSpPr>
        <p:spPr>
          <a:xfrm>
            <a:off x="1659739" y="2809841"/>
            <a:ext cx="1370440" cy="219767"/>
          </a:xfrm>
          <a:prstGeom prst="rect">
            <a:avLst/>
          </a:prstGeom>
          <a:noFill/>
          <a:ln/>
        </p:spPr>
        <p:txBody>
          <a:bodyPr wrap="square" lIns="0" tIns="0" rIns="0" bIns="0" rtlCol="0" anchor="t">
            <a:normAutofit/>
          </a:bodyPr>
          <a:lstStyle/>
          <a:p>
            <a:pPr algn="r" indent="0" marL="0">
              <a:lnSpc>
                <a:spcPct val="85000"/>
              </a:lnSpc>
              <a:buNone/>
            </a:pPr>
            <a:r>
              <a:rPr lang="en-US" sz="850" dirty="0">
                <a:solidFill>
                  <a:srgbClr val="403C4E"/>
                </a:solidFill>
                <a:latin typeface="Open Sans" pitchFamily="34" charset="0"/>
                <a:ea typeface="Open Sans" pitchFamily="34" charset="-122"/>
                <a:cs typeface="Open Sans" pitchFamily="34" charset="-120"/>
              </a:rPr>
              <a:t>Persona-specific context and motivations (15-19)</a:t>
            </a:r>
            <a:endParaRPr lang="en-US" sz="850" dirty="0"/>
          </a:p>
        </p:txBody>
      </p:sp>
      <p:sp>
        <p:nvSpPr>
          <p:cNvPr id="12" name="Text 9"/>
          <p:cNvSpPr/>
          <p:nvPr/>
        </p:nvSpPr>
        <p:spPr>
          <a:xfrm>
            <a:off x="5993455" y="3067550"/>
            <a:ext cx="1873753" cy="169051"/>
          </a:xfrm>
          <a:prstGeom prst="rect">
            <a:avLst/>
          </a:prstGeom>
          <a:noFill/>
          <a:ln/>
        </p:spPr>
        <p:txBody>
          <a:bodyPr wrap="none" lIns="0" tIns="0" rIns="0" bIns="0" rtlCol="0" anchor="t"/>
          <a:lstStyle/>
          <a:p>
            <a:pPr algn="l" indent="0" marL="0">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Strategic Intelligence</a:t>
            </a:r>
            <a:endParaRPr lang="en-US" sz="1050" dirty="0"/>
          </a:p>
        </p:txBody>
      </p:sp>
      <p:sp>
        <p:nvSpPr>
          <p:cNvPr id="13" name="Text 10"/>
          <p:cNvSpPr/>
          <p:nvPr/>
        </p:nvSpPr>
        <p:spPr>
          <a:xfrm>
            <a:off x="5993455" y="3284686"/>
            <a:ext cx="1490654" cy="219766"/>
          </a:xfrm>
          <a:prstGeom prst="rect">
            <a:avLst/>
          </a:prstGeom>
          <a:noFill/>
          <a:ln/>
        </p:spPr>
        <p:txBody>
          <a:bodyPr wrap="square" lIns="0" tIns="0" rIns="0" bIns="0" rtlCol="0" anchor="t">
            <a:normAutofit/>
          </a:bodyPr>
          <a:lstStyle/>
          <a:p>
            <a:pPr algn="l" indent="0" marL="0">
              <a:lnSpc>
                <a:spcPct val="85000"/>
              </a:lnSpc>
              <a:buNone/>
            </a:pPr>
            <a:r>
              <a:rPr lang="en-US" sz="850" dirty="0">
                <a:solidFill>
                  <a:srgbClr val="403C4E"/>
                </a:solidFill>
                <a:latin typeface="Open Sans" pitchFamily="34" charset="0"/>
                <a:ea typeface="Open Sans" pitchFamily="34" charset="-122"/>
                <a:cs typeface="Open Sans" pitchFamily="34" charset="-120"/>
              </a:rPr>
              <a:t>Actionable, decision-ready insights (20-25)</a:t>
            </a:r>
            <a:endParaRPr lang="en-US" sz="850" dirty="0"/>
          </a:p>
        </p:txBody>
      </p:sp>
      <p:sp>
        <p:nvSpPr>
          <p:cNvPr id="14" name="Text 11"/>
          <p:cNvSpPr/>
          <p:nvPr/>
        </p:nvSpPr>
        <p:spPr>
          <a:xfrm>
            <a:off x="1515145" y="4153272"/>
            <a:ext cx="6113711" cy="230386"/>
          </a:xfrm>
          <a:prstGeom prst="rect">
            <a:avLst/>
          </a:prstGeom>
          <a:noFill/>
          <a:ln/>
        </p:spPr>
        <p:txBody>
          <a:bodyPr wrap="square" lIns="0" tIns="0" rIns="0" bIns="0" rtlCol="0" anchor="t">
            <a:normAutofit/>
          </a:bodyPr>
          <a:lstStyle/>
          <a:p>
            <a:pPr algn="l" indent="0" marL="0">
              <a:lnSpc>
                <a:spcPct val="108000"/>
              </a:lnSpc>
              <a:buNone/>
            </a:pPr>
            <a:r>
              <a:rPr lang="en-US" sz="650" dirty="0">
                <a:solidFill>
                  <a:srgbClr val="403C4E"/>
                </a:solidFill>
                <a:latin typeface="Open Sans" pitchFamily="34" charset="0"/>
                <a:ea typeface="Open Sans" pitchFamily="34" charset="-122"/>
                <a:cs typeface="Open Sans" pitchFamily="34" charset="-120"/>
              </a:rPr>
              <a:t>This framework helps us evaluate how effectively the AI agent moves beyond raw data retrieval to truly grasp and apply knowledge, ensuring responses are not only accurate but also strategically aligned with buyer needs.</a:t>
            </a:r>
            <a:endParaRPr lang="en-US" sz="650" dirty="0"/>
          </a:p>
        </p:txBody>
      </p:sp>
      <p:sp>
        <p:nvSpPr>
          <p:cNvPr id="15" name="Shape 12"/>
          <p:cNvSpPr/>
          <p:nvPr/>
        </p:nvSpPr>
        <p:spPr>
          <a:xfrm>
            <a:off x="1515145" y="4445943"/>
            <a:ext cx="6113711" cy="401910"/>
          </a:xfrm>
          <a:prstGeom prst="roundRect">
            <a:avLst>
              <a:gd name="adj" fmla="val 9259"/>
            </a:avLst>
          </a:prstGeom>
          <a:solidFill>
            <a:srgbClr val="FFC4B3"/>
          </a:solidFill>
          <a:ln/>
        </p:spPr>
      </p:sp>
      <p:pic>
        <p:nvPicPr>
          <p:cNvPr id="16" name="Image 1" descr="preencoded.png">    </p:cNvPr>
          <p:cNvPicPr>
            <a:picLocks noChangeAspect="1"/>
          </p:cNvPicPr>
          <p:nvPr/>
        </p:nvPicPr>
        <p:blipFill>
          <a:blip r:embed="rId2"/>
          <a:stretch>
            <a:fillRect/>
          </a:stretch>
        </p:blipFill>
        <p:spPr>
          <a:xfrm>
            <a:off x="1603697" y="4569544"/>
            <a:ext cx="110728" cy="88553"/>
          </a:xfrm>
          <a:prstGeom prst="rect">
            <a:avLst/>
          </a:prstGeom>
        </p:spPr>
      </p:pic>
      <p:sp>
        <p:nvSpPr>
          <p:cNvPr id="17" name="Text 13"/>
          <p:cNvSpPr/>
          <p:nvPr/>
        </p:nvSpPr>
        <p:spPr>
          <a:xfrm>
            <a:off x="1802978" y="4523408"/>
            <a:ext cx="5737324" cy="230386"/>
          </a:xfrm>
          <a:prstGeom prst="rect">
            <a:avLst/>
          </a:prstGeom>
          <a:noFill/>
          <a:ln/>
        </p:spPr>
        <p:txBody>
          <a:bodyPr wrap="square" lIns="0" tIns="0" rIns="0" bIns="0" rtlCol="0" anchor="t">
            <a:normAutofit/>
          </a:bodyPr>
          <a:lstStyle/>
          <a:p>
            <a:pPr algn="l" indent="0" marL="0">
              <a:lnSpc>
                <a:spcPct val="108000"/>
              </a:lnSpc>
              <a:buNone/>
            </a:pPr>
            <a:r>
              <a:rPr lang="en-US" sz="650" b="1" dirty="0">
                <a:solidFill>
                  <a:srgbClr val="000000"/>
                </a:solidFill>
                <a:latin typeface="Open Sans" pitchFamily="34" charset="0"/>
                <a:ea typeface="Open Sans" pitchFamily="34" charset="-122"/>
                <a:cs typeface="Open Sans" pitchFamily="34" charset="-120"/>
              </a:rPr>
              <a:t>Goal:</a:t>
            </a:r>
            <a:pPr algn="l" indent="0" marL="0">
              <a:lnSpc>
                <a:spcPct val="108000"/>
              </a:lnSpc>
              <a:buNone/>
            </a:pPr>
            <a:r>
              <a:rPr lang="en-US" sz="650" dirty="0">
                <a:solidFill>
                  <a:srgbClr val="000000"/>
                </a:solidFill>
                <a:latin typeface="Open Sans" pitchFamily="34" charset="0"/>
                <a:ea typeface="Open Sans" pitchFamily="34" charset="-122"/>
                <a:cs typeface="Open Sans" pitchFamily="34" charset="-120"/>
              </a:rPr>
              <a:t> Continuously </a:t>
            </a:r>
            <a:pPr algn="l" indent="0" marL="0">
              <a:lnSpc>
                <a:spcPct val="108000"/>
              </a:lnSpc>
              <a:buNone/>
            </a:pPr>
            <a:r>
              <a:rPr lang="en-US" sz="650" dirty="0">
                <a:solidFill>
                  <a:srgbClr val="007BFF"/>
                </a:solidFill>
                <a:latin typeface="Open Sans" pitchFamily="34" charset="0"/>
                <a:ea typeface="Open Sans" pitchFamily="34" charset="-122"/>
                <a:cs typeface="Open Sans" pitchFamily="34" charset="-120"/>
              </a:rPr>
              <a:t>improve knowledge bank materials</a:t>
            </a:r>
            <a:pPr algn="l" indent="0" marL="0">
              <a:lnSpc>
                <a:spcPct val="108000"/>
              </a:lnSpc>
              <a:buNone/>
            </a:pPr>
            <a:r>
              <a:rPr lang="en-US" sz="650" dirty="0">
                <a:solidFill>
                  <a:srgbClr val="000000"/>
                </a:solidFill>
                <a:latin typeface="Open Sans" pitchFamily="34" charset="0"/>
                <a:ea typeface="Open Sans" pitchFamily="34" charset="-122"/>
                <a:cs typeface="Open Sans" pitchFamily="34" charset="-120"/>
              </a:rPr>
              <a:t> to measure and enhance the business intelligence quality of the RAG system, aiming for 100% per category.</a:t>
            </a:r>
            <a:endParaRPr lang="en-US" sz="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674489" y="373112"/>
            <a:ext cx="601266" cy="197644"/>
          </a:xfrm>
          <a:prstGeom prst="roundRect">
            <a:avLst>
              <a:gd name="adj" fmla="val 19205"/>
            </a:avLst>
          </a:prstGeom>
          <a:solidFill>
            <a:srgbClr val="FFD8CC"/>
          </a:solidFill>
          <a:ln/>
        </p:spPr>
      </p:sp>
      <p:sp>
        <p:nvSpPr>
          <p:cNvPr id="3" name="Text 1"/>
          <p:cNvSpPr/>
          <p:nvPr/>
        </p:nvSpPr>
        <p:spPr>
          <a:xfrm>
            <a:off x="742206" y="406971"/>
            <a:ext cx="923032" cy="129927"/>
          </a:xfrm>
          <a:prstGeom prst="rect">
            <a:avLst/>
          </a:prstGeom>
          <a:noFill/>
          <a:ln/>
        </p:spPr>
        <p:txBody>
          <a:bodyPr wrap="none" lIns="0" tIns="0" rIns="0" bIns="0" rtlCol="0" anchor="t"/>
          <a:lstStyle/>
          <a:p>
            <a:pPr algn="l" indent="0" marL="0">
              <a:lnSpc>
                <a:spcPct val="120000"/>
              </a:lnSpc>
              <a:buNone/>
            </a:pPr>
            <a:r>
              <a:rPr lang="en-US" sz="700" dirty="0">
                <a:solidFill>
                  <a:srgbClr val="403C4E"/>
                </a:solidFill>
                <a:latin typeface="Open Sans" pitchFamily="34" charset="0"/>
                <a:ea typeface="Open Sans" pitchFamily="34" charset="-122"/>
                <a:cs typeface="Open Sans" pitchFamily="34" charset="-120"/>
              </a:rPr>
              <a:t>CHAPTER 5</a:t>
            </a:r>
            <a:endParaRPr lang="en-US" sz="700" dirty="0"/>
          </a:p>
        </p:txBody>
      </p:sp>
      <p:sp>
        <p:nvSpPr>
          <p:cNvPr id="4" name="Text 2"/>
          <p:cNvSpPr/>
          <p:nvPr/>
        </p:nvSpPr>
        <p:spPr>
          <a:xfrm>
            <a:off x="1332235" y="406971"/>
            <a:ext cx="1025128" cy="129927"/>
          </a:xfrm>
          <a:prstGeom prst="rect">
            <a:avLst/>
          </a:prstGeom>
          <a:noFill/>
          <a:ln/>
        </p:spPr>
        <p:txBody>
          <a:bodyPr wrap="none" lIns="0" tIns="0" rIns="0" bIns="0" rtlCol="0" anchor="t"/>
          <a:lstStyle/>
          <a:p>
            <a:pPr algn="l" indent="0" marL="0">
              <a:lnSpc>
                <a:spcPct val="120000"/>
              </a:lnSpc>
              <a:buNone/>
            </a:pPr>
            <a:r>
              <a:rPr lang="en-US" sz="700" dirty="0">
                <a:solidFill>
                  <a:srgbClr val="FFAD94"/>
                </a:solidFill>
                <a:latin typeface="Open Sans" pitchFamily="34" charset="0"/>
                <a:ea typeface="Open Sans" pitchFamily="34" charset="-122"/>
                <a:cs typeface="Open Sans" pitchFamily="34" charset="-120"/>
              </a:rPr>
              <a:t>RAG QUALITY</a:t>
            </a:r>
            <a:endParaRPr lang="en-US" sz="700" dirty="0"/>
          </a:p>
        </p:txBody>
      </p:sp>
      <p:sp>
        <p:nvSpPr>
          <p:cNvPr id="5" name="Text 3"/>
          <p:cNvSpPr/>
          <p:nvPr/>
        </p:nvSpPr>
        <p:spPr>
          <a:xfrm>
            <a:off x="674489" y="606698"/>
            <a:ext cx="6861572" cy="352946"/>
          </a:xfrm>
          <a:prstGeom prst="rect">
            <a:avLst/>
          </a:prstGeom>
          <a:noFill/>
          <a:ln/>
        </p:spPr>
        <p:txBody>
          <a:bodyPr wrap="none" lIns="0" tIns="0" rIns="0" bIns="0" rtlCol="0" anchor="t"/>
          <a:lstStyle/>
          <a:p>
            <a:pPr algn="l" indent="0" marL="0">
              <a:lnSpc>
                <a:spcPct val="104000"/>
              </a:lnSpc>
              <a:buNone/>
            </a:pPr>
            <a:r>
              <a:rPr lang="en-US" sz="2200" b="1" dirty="0">
                <a:solidFill>
                  <a:srgbClr val="403C4E"/>
                </a:solidFill>
                <a:latin typeface="Merriweather Bold" pitchFamily="34" charset="0"/>
                <a:ea typeface="Merriweather Bold" pitchFamily="34" charset="-122"/>
                <a:cs typeface="Merriweather Bold" pitchFamily="34" charset="-120"/>
              </a:rPr>
              <a:t>Verifying RAG Quality: Pain Points by Persona</a:t>
            </a:r>
            <a:endParaRPr lang="en-US" sz="2200" dirty="0"/>
          </a:p>
        </p:txBody>
      </p:sp>
      <p:sp>
        <p:nvSpPr>
          <p:cNvPr id="6" name="Text 4"/>
          <p:cNvSpPr/>
          <p:nvPr/>
        </p:nvSpPr>
        <p:spPr>
          <a:xfrm>
            <a:off x="674489" y="1094631"/>
            <a:ext cx="7794947" cy="324743"/>
          </a:xfrm>
          <a:prstGeom prst="rect">
            <a:avLst/>
          </a:prstGeom>
          <a:noFill/>
          <a:ln/>
        </p:spPr>
        <p:txBody>
          <a:bodyPr wrap="square" lIns="0" tIns="0" rIns="0" bIns="0" rtlCol="0" anchor="t">
            <a:normAutofit/>
          </a:bodyPr>
          <a:lstStyle/>
          <a:p>
            <a:pPr algn="l" indent="0" marL="0">
              <a:lnSpc>
                <a:spcPct val="120000"/>
              </a:lnSpc>
              <a:buNone/>
            </a:pPr>
            <a:r>
              <a:rPr lang="en-US" sz="850" dirty="0">
                <a:solidFill>
                  <a:srgbClr val="403C4E"/>
                </a:solidFill>
                <a:latin typeface="Open Sans" pitchFamily="34" charset="0"/>
                <a:ea typeface="Open Sans" pitchFamily="34" charset="-122"/>
                <a:cs typeface="Open Sans" pitchFamily="34" charset="-120"/>
              </a:rPr>
              <a:t>Ensuring Retrieval-Augmented Generation (RAG) effectively addresses pain points for different personas requires a multi-layered testing approach, moving beyond simple content retrieval to strategic understanding. A key action is to continuously </a:t>
            </a:r>
            <a:pPr algn="l" indent="0" marL="0">
              <a:lnSpc>
                <a:spcPct val="120000"/>
              </a:lnSpc>
              <a:buNone/>
            </a:pPr>
            <a:r>
              <a:rPr lang="en-US" sz="850" b="1" dirty="0">
                <a:solidFill>
                  <a:srgbClr val="403C4E"/>
                </a:solidFill>
                <a:latin typeface="Open Sans" pitchFamily="34" charset="0"/>
                <a:ea typeface="Open Sans" pitchFamily="34" charset="-122"/>
                <a:cs typeface="Open Sans" pitchFamily="34" charset="-120"/>
              </a:rPr>
              <a:t>improve knowledge bank materials</a:t>
            </a:r>
            <a:pPr algn="l" indent="0" marL="0">
              <a:lnSpc>
                <a:spcPct val="120000"/>
              </a:lnSpc>
              <a:buNone/>
            </a:pPr>
            <a:r>
              <a:rPr lang="en-US" sz="850" dirty="0">
                <a:solidFill>
                  <a:srgbClr val="403C4E"/>
                </a:solidFill>
                <a:latin typeface="Open Sans" pitchFamily="34" charset="0"/>
                <a:ea typeface="Open Sans" pitchFamily="34" charset="-122"/>
                <a:cs typeface="Open Sans" pitchFamily="34" charset="-120"/>
              </a:rPr>
              <a:t>.</a:t>
            </a:r>
            <a:endParaRPr lang="en-US" sz="850" dirty="0"/>
          </a:p>
        </p:txBody>
      </p:sp>
      <p:sp>
        <p:nvSpPr>
          <p:cNvPr id="7" name="Text 5"/>
          <p:cNvSpPr/>
          <p:nvPr/>
        </p:nvSpPr>
        <p:spPr>
          <a:xfrm>
            <a:off x="674489" y="1520577"/>
            <a:ext cx="225921" cy="141163"/>
          </a:xfrm>
          <a:prstGeom prst="rect">
            <a:avLst/>
          </a:prstGeom>
          <a:noFill/>
          <a:ln/>
        </p:spPr>
        <p:txBody>
          <a:bodyPr wrap="none" lIns="0" tIns="0" rIns="0" bIns="0" rtlCol="0" anchor="ctr"/>
          <a:lstStyle/>
          <a:p>
            <a:pPr algn="l" indent="0" marL="0">
              <a:lnSpc>
                <a:spcPct val="100000"/>
              </a:lnSpc>
              <a:buNone/>
            </a:pPr>
            <a:r>
              <a:rPr lang="en-US" sz="850" dirty="0">
                <a:solidFill>
                  <a:srgbClr val="403C4E"/>
                </a:solidFill>
                <a:latin typeface="Merriweather Light" pitchFamily="34" charset="0"/>
                <a:ea typeface="Merriweather Light" pitchFamily="34" charset="-122"/>
                <a:cs typeface="Merriweather Light" pitchFamily="34" charset="-120"/>
              </a:rPr>
              <a:t>01</a:t>
            </a:r>
            <a:endParaRPr lang="en-US" sz="850" dirty="0"/>
          </a:p>
        </p:txBody>
      </p:sp>
      <p:sp>
        <p:nvSpPr>
          <p:cNvPr id="8" name="Shape 6"/>
          <p:cNvSpPr/>
          <p:nvPr/>
        </p:nvSpPr>
        <p:spPr>
          <a:xfrm>
            <a:off x="674489" y="1698203"/>
            <a:ext cx="3852490" cy="14288"/>
          </a:xfrm>
          <a:prstGeom prst="rect">
            <a:avLst/>
          </a:prstGeom>
          <a:solidFill>
            <a:srgbClr val="FFAD94"/>
          </a:solidFill>
          <a:ln/>
        </p:spPr>
      </p:sp>
      <p:sp>
        <p:nvSpPr>
          <p:cNvPr id="9" name="Text 7"/>
          <p:cNvSpPr/>
          <p:nvPr/>
        </p:nvSpPr>
        <p:spPr>
          <a:xfrm>
            <a:off x="674489" y="1783259"/>
            <a:ext cx="1412081" cy="176510"/>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Data: Completeness</a:t>
            </a:r>
            <a:endParaRPr lang="en-US" sz="1100" dirty="0"/>
          </a:p>
        </p:txBody>
      </p:sp>
      <p:sp>
        <p:nvSpPr>
          <p:cNvPr id="10" name="Text 8"/>
          <p:cNvSpPr/>
          <p:nvPr/>
        </p:nvSpPr>
        <p:spPr>
          <a:xfrm>
            <a:off x="674489" y="2013719"/>
            <a:ext cx="3852490" cy="487114"/>
          </a:xfrm>
          <a:prstGeom prst="rect">
            <a:avLst/>
          </a:prstGeom>
          <a:noFill/>
          <a:ln/>
        </p:spPr>
        <p:txBody>
          <a:bodyPr wrap="square" lIns="0" tIns="0" rIns="0" bIns="0" rtlCol="0" anchor="t">
            <a:normAutofit/>
          </a:bodyPr>
          <a:lstStyle/>
          <a:p>
            <a:pPr algn="l" indent="0" marL="0">
              <a:lnSpc>
                <a:spcPct val="120000"/>
              </a:lnSpc>
              <a:buNone/>
            </a:pPr>
            <a:r>
              <a:rPr lang="en-US" sz="850" dirty="0">
                <a:solidFill>
                  <a:srgbClr val="403C4E"/>
                </a:solidFill>
                <a:latin typeface="Open Sans" pitchFamily="34" charset="0"/>
                <a:ea typeface="Open Sans" pitchFamily="34" charset="-122"/>
                <a:cs typeface="Open Sans" pitchFamily="34" charset="-120"/>
              </a:rPr>
              <a:t>Are all core pain points retrieved accurately from the knowledge base? The initial step is to ensure the raw data is comprehensive and accessible.</a:t>
            </a:r>
            <a:endParaRPr lang="en-US" sz="850" dirty="0"/>
          </a:p>
        </p:txBody>
      </p:sp>
      <p:sp>
        <p:nvSpPr>
          <p:cNvPr id="11" name="Text 9"/>
          <p:cNvSpPr/>
          <p:nvPr/>
        </p:nvSpPr>
        <p:spPr>
          <a:xfrm>
            <a:off x="4616946" y="1520577"/>
            <a:ext cx="225921" cy="141163"/>
          </a:xfrm>
          <a:prstGeom prst="rect">
            <a:avLst/>
          </a:prstGeom>
          <a:noFill/>
          <a:ln/>
        </p:spPr>
        <p:txBody>
          <a:bodyPr wrap="none" lIns="0" tIns="0" rIns="0" bIns="0" rtlCol="0" anchor="ctr"/>
          <a:lstStyle/>
          <a:p>
            <a:pPr algn="l" indent="0" marL="0">
              <a:lnSpc>
                <a:spcPct val="100000"/>
              </a:lnSpc>
              <a:buNone/>
            </a:pPr>
            <a:r>
              <a:rPr lang="en-US" sz="850" dirty="0">
                <a:solidFill>
                  <a:srgbClr val="403C4E"/>
                </a:solidFill>
                <a:latin typeface="Merriweather Light" pitchFamily="34" charset="0"/>
                <a:ea typeface="Merriweather Light" pitchFamily="34" charset="-122"/>
                <a:cs typeface="Merriweather Light" pitchFamily="34" charset="-120"/>
              </a:rPr>
              <a:t>02</a:t>
            </a:r>
            <a:endParaRPr lang="en-US" sz="850" dirty="0"/>
          </a:p>
        </p:txBody>
      </p:sp>
      <p:sp>
        <p:nvSpPr>
          <p:cNvPr id="12" name="Shape 10"/>
          <p:cNvSpPr/>
          <p:nvPr/>
        </p:nvSpPr>
        <p:spPr>
          <a:xfrm>
            <a:off x="4616946" y="1698203"/>
            <a:ext cx="3852490" cy="14288"/>
          </a:xfrm>
          <a:prstGeom prst="rect">
            <a:avLst/>
          </a:prstGeom>
          <a:solidFill>
            <a:srgbClr val="FFAD94"/>
          </a:solidFill>
          <a:ln/>
        </p:spPr>
      </p:sp>
      <p:sp>
        <p:nvSpPr>
          <p:cNvPr id="13" name="Text 11"/>
          <p:cNvSpPr/>
          <p:nvPr/>
        </p:nvSpPr>
        <p:spPr>
          <a:xfrm>
            <a:off x="4616946" y="1783259"/>
            <a:ext cx="2182341" cy="176510"/>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Information: Solution Mapping</a:t>
            </a:r>
            <a:endParaRPr lang="en-US" sz="1100" dirty="0"/>
          </a:p>
        </p:txBody>
      </p:sp>
      <p:sp>
        <p:nvSpPr>
          <p:cNvPr id="14" name="Text 12"/>
          <p:cNvSpPr/>
          <p:nvPr/>
        </p:nvSpPr>
        <p:spPr>
          <a:xfrm>
            <a:off x="4616946" y="2013719"/>
            <a:ext cx="3852490" cy="487114"/>
          </a:xfrm>
          <a:prstGeom prst="rect">
            <a:avLst/>
          </a:prstGeom>
          <a:noFill/>
          <a:ln/>
        </p:spPr>
        <p:txBody>
          <a:bodyPr wrap="square" lIns="0" tIns="0" rIns="0" bIns="0" rtlCol="0" anchor="t">
            <a:normAutofit/>
          </a:bodyPr>
          <a:lstStyle/>
          <a:p>
            <a:pPr algn="l" indent="0" marL="0">
              <a:lnSpc>
                <a:spcPct val="120000"/>
              </a:lnSpc>
              <a:buNone/>
            </a:pPr>
            <a:r>
              <a:rPr lang="en-US" sz="850" dirty="0">
                <a:solidFill>
                  <a:srgbClr val="403C4E"/>
                </a:solidFill>
                <a:latin typeface="Open Sans" pitchFamily="34" charset="0"/>
                <a:ea typeface="Open Sans" pitchFamily="34" charset="-122"/>
                <a:cs typeface="Open Sans" pitchFamily="34" charset="-120"/>
              </a:rPr>
              <a:t>Are the identified pain points consistently mapped to relevant solutions or product features? This layer checks the connectivity and utility of the retrieved information.</a:t>
            </a:r>
            <a:endParaRPr lang="en-US" sz="850" dirty="0"/>
          </a:p>
        </p:txBody>
      </p:sp>
      <p:sp>
        <p:nvSpPr>
          <p:cNvPr id="15" name="Text 13"/>
          <p:cNvSpPr/>
          <p:nvPr/>
        </p:nvSpPr>
        <p:spPr>
          <a:xfrm>
            <a:off x="674489" y="2675483"/>
            <a:ext cx="225921" cy="141163"/>
          </a:xfrm>
          <a:prstGeom prst="rect">
            <a:avLst/>
          </a:prstGeom>
          <a:noFill/>
          <a:ln/>
        </p:spPr>
        <p:txBody>
          <a:bodyPr wrap="none" lIns="0" tIns="0" rIns="0" bIns="0" rtlCol="0" anchor="ctr"/>
          <a:lstStyle/>
          <a:p>
            <a:pPr algn="l" indent="0" marL="0">
              <a:lnSpc>
                <a:spcPct val="100000"/>
              </a:lnSpc>
              <a:buNone/>
            </a:pPr>
            <a:r>
              <a:rPr lang="en-US" sz="850" dirty="0">
                <a:solidFill>
                  <a:srgbClr val="403C4E"/>
                </a:solidFill>
                <a:latin typeface="Merriweather Light" pitchFamily="34" charset="0"/>
                <a:ea typeface="Merriweather Light" pitchFamily="34" charset="-122"/>
                <a:cs typeface="Merriweather Light" pitchFamily="34" charset="-120"/>
              </a:rPr>
              <a:t>03</a:t>
            </a:r>
            <a:endParaRPr lang="en-US" sz="850" dirty="0"/>
          </a:p>
        </p:txBody>
      </p:sp>
      <p:sp>
        <p:nvSpPr>
          <p:cNvPr id="16" name="Shape 14"/>
          <p:cNvSpPr/>
          <p:nvPr/>
        </p:nvSpPr>
        <p:spPr>
          <a:xfrm>
            <a:off x="674489" y="2853110"/>
            <a:ext cx="3852490" cy="14288"/>
          </a:xfrm>
          <a:prstGeom prst="rect">
            <a:avLst/>
          </a:prstGeom>
          <a:solidFill>
            <a:srgbClr val="FFAD94"/>
          </a:solidFill>
          <a:ln/>
        </p:spPr>
      </p:sp>
      <p:sp>
        <p:nvSpPr>
          <p:cNvPr id="17" name="Text 15"/>
          <p:cNvSpPr/>
          <p:nvPr/>
        </p:nvSpPr>
        <p:spPr>
          <a:xfrm>
            <a:off x="674489" y="2938165"/>
            <a:ext cx="2434382" cy="176510"/>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Knowledge: Persona Segmentation</a:t>
            </a:r>
            <a:endParaRPr lang="en-US" sz="1100" dirty="0"/>
          </a:p>
        </p:txBody>
      </p:sp>
      <p:sp>
        <p:nvSpPr>
          <p:cNvPr id="18" name="Text 16"/>
          <p:cNvSpPr/>
          <p:nvPr/>
        </p:nvSpPr>
        <p:spPr>
          <a:xfrm>
            <a:off x="674489" y="3168625"/>
            <a:ext cx="3852490" cy="487114"/>
          </a:xfrm>
          <a:prstGeom prst="rect">
            <a:avLst/>
          </a:prstGeom>
          <a:noFill/>
          <a:ln/>
        </p:spPr>
        <p:txBody>
          <a:bodyPr wrap="square" lIns="0" tIns="0" rIns="0" bIns="0" rtlCol="0" anchor="t">
            <a:normAutofit/>
          </a:bodyPr>
          <a:lstStyle/>
          <a:p>
            <a:pPr algn="l" indent="0" marL="0">
              <a:lnSpc>
                <a:spcPct val="120000"/>
              </a:lnSpc>
              <a:buNone/>
            </a:pPr>
            <a:r>
              <a:rPr lang="en-US" sz="850" dirty="0">
                <a:solidFill>
                  <a:srgbClr val="403C4E"/>
                </a:solidFill>
                <a:latin typeface="Open Sans" pitchFamily="34" charset="0"/>
                <a:ea typeface="Open Sans" pitchFamily="34" charset="-122"/>
                <a:cs typeface="Open Sans" pitchFamily="34" charset="-120"/>
              </a:rPr>
              <a:t>Are pain points segmented and addressed specifically for different personas or roles? Generic responses are ineffective for targeted sales conversations.</a:t>
            </a:r>
            <a:endParaRPr lang="en-US" sz="850" dirty="0"/>
          </a:p>
        </p:txBody>
      </p:sp>
      <p:sp>
        <p:nvSpPr>
          <p:cNvPr id="19" name="Text 17"/>
          <p:cNvSpPr/>
          <p:nvPr/>
        </p:nvSpPr>
        <p:spPr>
          <a:xfrm>
            <a:off x="674489" y="3709690"/>
            <a:ext cx="3852490" cy="550069"/>
          </a:xfrm>
          <a:prstGeom prst="rect">
            <a:avLst/>
          </a:prstGeom>
          <a:noFill/>
          <a:ln/>
        </p:spPr>
        <p:txBody>
          <a:bodyPr wrap="square" lIns="0" tIns="0" rIns="0" bIns="0" rtlCol="0" anchor="t">
            <a:normAutofit/>
          </a:bodyPr>
          <a:lstStyle/>
          <a:p>
            <a:pPr algn="l" marL="342900" indent="-342900">
              <a:lnSpc>
                <a:spcPct val="120000"/>
              </a:lnSpc>
              <a:buSzPct val="100000"/>
              <a:buChar char="•"/>
            </a:pPr>
            <a:r>
              <a:rPr lang="en-US" sz="850" b="1" dirty="0">
                <a:solidFill>
                  <a:srgbClr val="403C4E"/>
                </a:solidFill>
                <a:latin typeface="Open Sans" pitchFamily="34" charset="0"/>
                <a:ea typeface="Open Sans" pitchFamily="34" charset="-122"/>
                <a:cs typeface="Open Sans" pitchFamily="34" charset="-120"/>
              </a:rPr>
              <a:t>CMO:</a:t>
            </a:r>
            <a:pPr algn="l" marL="342900" indent="-342900">
              <a:lnSpc>
                <a:spcPct val="120000"/>
              </a:lnSpc>
              <a:buSzPct val="100000"/>
              <a:buChar char="•"/>
            </a:pPr>
            <a:r>
              <a:rPr lang="en-US" sz="850" dirty="0">
                <a:solidFill>
                  <a:srgbClr val="403C4E"/>
                </a:solidFill>
                <a:latin typeface="Open Sans" pitchFamily="34" charset="0"/>
                <a:ea typeface="Open Sans" pitchFamily="34" charset="-122"/>
                <a:cs typeface="Open Sans" pitchFamily="34" charset="-120"/>
              </a:rPr>
              <a:t> Visibility, brand positioning</a:t>
            </a:r>
            <a:endParaRPr lang="en-US" sz="850" dirty="0"/>
          </a:p>
          <a:p>
            <a:pPr algn="l" marL="342900" indent="-342900">
              <a:lnSpc>
                <a:spcPct val="120000"/>
              </a:lnSpc>
              <a:buSzPct val="100000"/>
              <a:buChar char="•"/>
            </a:pPr>
            <a:r>
              <a:rPr lang="en-US" sz="850" b="1" dirty="0">
                <a:solidFill>
                  <a:srgbClr val="403C4E"/>
                </a:solidFill>
                <a:latin typeface="Open Sans" pitchFamily="34" charset="0"/>
                <a:ea typeface="Open Sans" pitchFamily="34" charset="-122"/>
                <a:cs typeface="Open Sans" pitchFamily="34" charset="-120"/>
              </a:rPr>
              <a:t>RevOps:</a:t>
            </a:r>
            <a:pPr algn="l" marL="342900" indent="-342900">
              <a:lnSpc>
                <a:spcPct val="120000"/>
              </a:lnSpc>
              <a:buSzPct val="100000"/>
              <a:buChar char="•"/>
            </a:pPr>
            <a:r>
              <a:rPr lang="en-US" sz="850" dirty="0">
                <a:solidFill>
                  <a:srgbClr val="403C4E"/>
                </a:solidFill>
                <a:latin typeface="Open Sans" pitchFamily="34" charset="0"/>
                <a:ea typeface="Open Sans" pitchFamily="34" charset="-122"/>
                <a:cs typeface="Open Sans" pitchFamily="34" charset="-120"/>
              </a:rPr>
              <a:t> CRM accuracy, attribution</a:t>
            </a:r>
            <a:endParaRPr lang="en-US" sz="850" dirty="0"/>
          </a:p>
          <a:p>
            <a:pPr algn="l" marL="342900" indent="-342900">
              <a:lnSpc>
                <a:spcPct val="120000"/>
              </a:lnSpc>
              <a:buSzPct val="100000"/>
              <a:buChar char="•"/>
            </a:pPr>
            <a:r>
              <a:rPr lang="en-US" sz="850" b="1" dirty="0">
                <a:solidFill>
                  <a:srgbClr val="403C4E"/>
                </a:solidFill>
                <a:latin typeface="Open Sans" pitchFamily="34" charset="0"/>
                <a:ea typeface="Open Sans" pitchFamily="34" charset="-122"/>
                <a:cs typeface="Open Sans" pitchFamily="34" charset="-120"/>
              </a:rPr>
              <a:t>Founder:</a:t>
            </a:r>
            <a:pPr algn="l" marL="342900" indent="-342900">
              <a:lnSpc>
                <a:spcPct val="120000"/>
              </a:lnSpc>
              <a:buSzPct val="100000"/>
              <a:buChar char="•"/>
            </a:pPr>
            <a:r>
              <a:rPr lang="en-US" sz="850" dirty="0">
                <a:solidFill>
                  <a:srgbClr val="403C4E"/>
                </a:solidFill>
                <a:latin typeface="Open Sans" pitchFamily="34" charset="0"/>
                <a:ea typeface="Open Sans" pitchFamily="34" charset="-122"/>
                <a:cs typeface="Open Sans" pitchFamily="34" charset="-120"/>
              </a:rPr>
              <a:t> Differentiation, GTM fit</a:t>
            </a:r>
            <a:endParaRPr lang="en-US" sz="850" dirty="0"/>
          </a:p>
        </p:txBody>
      </p:sp>
      <p:sp>
        <p:nvSpPr>
          <p:cNvPr id="20" name="Text 18"/>
          <p:cNvSpPr/>
          <p:nvPr/>
        </p:nvSpPr>
        <p:spPr>
          <a:xfrm>
            <a:off x="4616946" y="2675483"/>
            <a:ext cx="225921" cy="141163"/>
          </a:xfrm>
          <a:prstGeom prst="rect">
            <a:avLst/>
          </a:prstGeom>
          <a:noFill/>
          <a:ln/>
        </p:spPr>
        <p:txBody>
          <a:bodyPr wrap="none" lIns="0" tIns="0" rIns="0" bIns="0" rtlCol="0" anchor="ctr"/>
          <a:lstStyle/>
          <a:p>
            <a:pPr algn="l" indent="0" marL="0">
              <a:lnSpc>
                <a:spcPct val="100000"/>
              </a:lnSpc>
              <a:buNone/>
            </a:pPr>
            <a:r>
              <a:rPr lang="en-US" sz="850" dirty="0">
                <a:solidFill>
                  <a:srgbClr val="403C4E"/>
                </a:solidFill>
                <a:latin typeface="Merriweather Light" pitchFamily="34" charset="0"/>
                <a:ea typeface="Merriweather Light" pitchFamily="34" charset="-122"/>
                <a:cs typeface="Merriweather Light" pitchFamily="34" charset="-120"/>
              </a:rPr>
              <a:t>04</a:t>
            </a:r>
            <a:endParaRPr lang="en-US" sz="850" dirty="0"/>
          </a:p>
        </p:txBody>
      </p:sp>
      <p:sp>
        <p:nvSpPr>
          <p:cNvPr id="21" name="Shape 19"/>
          <p:cNvSpPr/>
          <p:nvPr/>
        </p:nvSpPr>
        <p:spPr>
          <a:xfrm>
            <a:off x="4616946" y="2853110"/>
            <a:ext cx="3852490" cy="14288"/>
          </a:xfrm>
          <a:prstGeom prst="rect">
            <a:avLst/>
          </a:prstGeom>
          <a:solidFill>
            <a:srgbClr val="FFAD94"/>
          </a:solidFill>
          <a:ln/>
        </p:spPr>
      </p:sp>
      <p:sp>
        <p:nvSpPr>
          <p:cNvPr id="22" name="Text 20"/>
          <p:cNvSpPr/>
          <p:nvPr/>
        </p:nvSpPr>
        <p:spPr>
          <a:xfrm>
            <a:off x="4616946" y="2938165"/>
            <a:ext cx="2055837" cy="176510"/>
          </a:xfrm>
          <a:prstGeom prst="rect">
            <a:avLst/>
          </a:prstGeom>
          <a:noFill/>
          <a:ln/>
        </p:spPr>
        <p:txBody>
          <a:bodyPr wrap="none" lIns="0" tIns="0" rIns="0" bIns="0" rtlCol="0" anchor="t"/>
          <a:lstStyle/>
          <a:p>
            <a:pPr algn="l" indent="0" marL="0">
              <a:lnSpc>
                <a:spcPct val="104000"/>
              </a:lnSpc>
              <a:buNone/>
            </a:pPr>
            <a:r>
              <a:rPr lang="en-US" sz="1100" b="1" dirty="0">
                <a:solidFill>
                  <a:srgbClr val="403C4E"/>
                </a:solidFill>
                <a:latin typeface="Merriweather Bold" pitchFamily="34" charset="0"/>
                <a:ea typeface="Merriweather Bold" pitchFamily="34" charset="-122"/>
                <a:cs typeface="Merriweather Bold" pitchFamily="34" charset="-120"/>
              </a:rPr>
              <a:t>Wisdom: Strategic Awareness</a:t>
            </a:r>
            <a:endParaRPr lang="en-US" sz="1100" dirty="0"/>
          </a:p>
        </p:txBody>
      </p:sp>
      <p:sp>
        <p:nvSpPr>
          <p:cNvPr id="23" name="Text 21"/>
          <p:cNvSpPr/>
          <p:nvPr/>
        </p:nvSpPr>
        <p:spPr>
          <a:xfrm>
            <a:off x="4616946" y="3168625"/>
            <a:ext cx="3852490" cy="487114"/>
          </a:xfrm>
          <a:prstGeom prst="rect">
            <a:avLst/>
          </a:prstGeom>
          <a:noFill/>
          <a:ln/>
        </p:spPr>
        <p:txBody>
          <a:bodyPr wrap="square" lIns="0" tIns="0" rIns="0" bIns="0" rtlCol="0" anchor="t">
            <a:normAutofit/>
          </a:bodyPr>
          <a:lstStyle/>
          <a:p>
            <a:pPr algn="l" indent="0" marL="0">
              <a:lnSpc>
                <a:spcPct val="120000"/>
              </a:lnSpc>
              <a:buNone/>
            </a:pPr>
            <a:r>
              <a:rPr lang="en-US" sz="850" dirty="0">
                <a:solidFill>
                  <a:srgbClr val="403C4E"/>
                </a:solidFill>
                <a:latin typeface="Open Sans" pitchFamily="34" charset="0"/>
                <a:ea typeface="Open Sans" pitchFamily="34" charset="-122"/>
                <a:cs typeface="Open Sans" pitchFamily="34" charset="-120"/>
              </a:rPr>
              <a:t>Does the RAG system demonstrate an understanding of strategic implications or roadmap awareness related to the pain points? This reflects a deeper, more valuable level of insight.</a:t>
            </a:r>
            <a:endParaRPr lang="en-US" sz="850" dirty="0"/>
          </a:p>
        </p:txBody>
      </p:sp>
      <p:sp>
        <p:nvSpPr>
          <p:cNvPr id="24" name="Text 22"/>
          <p:cNvSpPr/>
          <p:nvPr/>
        </p:nvSpPr>
        <p:spPr>
          <a:xfrm>
            <a:off x="674489" y="4445645"/>
            <a:ext cx="7794947" cy="324743"/>
          </a:xfrm>
          <a:prstGeom prst="rect">
            <a:avLst/>
          </a:prstGeom>
          <a:noFill/>
          <a:ln/>
        </p:spPr>
        <p:txBody>
          <a:bodyPr wrap="square" lIns="0" tIns="0" rIns="0" bIns="0" rtlCol="0" anchor="t">
            <a:normAutofit/>
          </a:bodyPr>
          <a:lstStyle/>
          <a:p>
            <a:pPr algn="l" indent="0" marL="0">
              <a:lnSpc>
                <a:spcPct val="120000"/>
              </a:lnSpc>
              <a:buNone/>
            </a:pPr>
            <a:r>
              <a:rPr lang="en-US" sz="850" dirty="0">
                <a:solidFill>
                  <a:srgbClr val="403C4E"/>
                </a:solidFill>
                <a:latin typeface="Open Sans" pitchFamily="34" charset="0"/>
                <a:ea typeface="Open Sans" pitchFamily="34" charset="-122"/>
                <a:cs typeface="Open Sans" pitchFamily="34" charset="-120"/>
              </a:rPr>
              <a:t>If RAG retrieves only generic content instead of persona-specific, strategically aligned information, the quality score of the agent will significantly drop, impacting its effectiveness.</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1209452" y="298549"/>
            <a:ext cx="518592" cy="163562"/>
          </a:xfrm>
          <a:prstGeom prst="roundRect">
            <a:avLst>
              <a:gd name="adj" fmla="val 20022"/>
            </a:avLst>
          </a:prstGeom>
          <a:solidFill>
            <a:srgbClr val="FFD8CC"/>
          </a:solidFill>
          <a:ln/>
        </p:spPr>
      </p:sp>
      <p:sp>
        <p:nvSpPr>
          <p:cNvPr id="3" name="Text 1"/>
          <p:cNvSpPr/>
          <p:nvPr/>
        </p:nvSpPr>
        <p:spPr>
          <a:xfrm>
            <a:off x="1267867" y="327720"/>
            <a:ext cx="858962" cy="105221"/>
          </a:xfrm>
          <a:prstGeom prst="rect">
            <a:avLst/>
          </a:prstGeom>
          <a:noFill/>
          <a:ln/>
        </p:spPr>
        <p:txBody>
          <a:bodyPr wrap="none" lIns="0" tIns="0" rIns="0" bIns="0" rtlCol="0" anchor="t"/>
          <a:lstStyle/>
          <a:p>
            <a:pPr algn="l" indent="0" marL="0">
              <a:lnSpc>
                <a:spcPct val="112000"/>
              </a:lnSpc>
              <a:buNone/>
            </a:pPr>
            <a:r>
              <a:rPr lang="en-US" sz="600" dirty="0">
                <a:solidFill>
                  <a:srgbClr val="403C4E"/>
                </a:solidFill>
                <a:latin typeface="Open Sans" pitchFamily="34" charset="0"/>
                <a:ea typeface="Open Sans" pitchFamily="34" charset="-122"/>
                <a:cs typeface="Open Sans" pitchFamily="34" charset="-120"/>
              </a:rPr>
              <a:t>CHAPTER 5</a:t>
            </a:r>
            <a:endParaRPr lang="en-US" sz="600" dirty="0"/>
          </a:p>
        </p:txBody>
      </p:sp>
      <p:sp>
        <p:nvSpPr>
          <p:cNvPr id="4" name="Text 2"/>
          <p:cNvSpPr/>
          <p:nvPr/>
        </p:nvSpPr>
        <p:spPr>
          <a:xfrm>
            <a:off x="1776710" y="327720"/>
            <a:ext cx="1961406" cy="105221"/>
          </a:xfrm>
          <a:prstGeom prst="rect">
            <a:avLst/>
          </a:prstGeom>
          <a:noFill/>
          <a:ln/>
        </p:spPr>
        <p:txBody>
          <a:bodyPr wrap="none" lIns="0" tIns="0" rIns="0" bIns="0" rtlCol="0" anchor="t"/>
          <a:lstStyle/>
          <a:p>
            <a:pPr algn="l" indent="0" marL="0">
              <a:lnSpc>
                <a:spcPct val="112000"/>
              </a:lnSpc>
              <a:buNone/>
            </a:pPr>
            <a:r>
              <a:rPr lang="en-US" sz="600" dirty="0">
                <a:solidFill>
                  <a:srgbClr val="FFAD94"/>
                </a:solidFill>
                <a:latin typeface="Open Sans" pitchFamily="34" charset="0"/>
                <a:ea typeface="Open Sans" pitchFamily="34" charset="-122"/>
                <a:cs typeface="Open Sans" pitchFamily="34" charset="-120"/>
              </a:rPr>
              <a:t>OBSERVABILITY &amp; EVALS IN PRODUCTION</a:t>
            </a:r>
            <a:endParaRPr lang="en-US" sz="600" dirty="0"/>
          </a:p>
        </p:txBody>
      </p:sp>
      <p:sp>
        <p:nvSpPr>
          <p:cNvPr id="5" name="Text 3"/>
          <p:cNvSpPr/>
          <p:nvPr/>
        </p:nvSpPr>
        <p:spPr>
          <a:xfrm>
            <a:off x="1209452" y="488900"/>
            <a:ext cx="6725022" cy="609005"/>
          </a:xfrm>
          <a:prstGeom prst="rect">
            <a:avLst/>
          </a:prstGeom>
          <a:noFill/>
          <a:ln/>
        </p:spPr>
        <p:txBody>
          <a:bodyPr wrap="square" lIns="0" tIns="0" rIns="0" bIns="0" rtlCol="0" anchor="t">
            <a:normAutofit/>
          </a:bodyPr>
          <a:lstStyle/>
          <a:p>
            <a:pPr algn="l" indent="0" marL="0">
              <a:lnSpc>
                <a:spcPct val="104000"/>
              </a:lnSpc>
              <a:buNone/>
            </a:pPr>
            <a:r>
              <a:rPr lang="en-US" sz="1900" b="1" dirty="0">
                <a:solidFill>
                  <a:srgbClr val="403C4E"/>
                </a:solidFill>
                <a:latin typeface="Merriweather Bold" pitchFamily="34" charset="0"/>
                <a:ea typeface="Merriweather Bold" pitchFamily="34" charset="-122"/>
                <a:cs typeface="Merriweather Bold" pitchFamily="34" charset="-120"/>
              </a:rPr>
              <a:t>Context-Aware Evaluation (Why It’s Not Naïve GPT Scoring)</a:t>
            </a:r>
            <a:endParaRPr lang="en-US" sz="1900" dirty="0"/>
          </a:p>
        </p:txBody>
      </p:sp>
      <p:sp>
        <p:nvSpPr>
          <p:cNvPr id="6" name="Text 4"/>
          <p:cNvSpPr/>
          <p:nvPr/>
        </p:nvSpPr>
        <p:spPr>
          <a:xfrm>
            <a:off x="1209452" y="1198364"/>
            <a:ext cx="6725022"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Our AI sales agent evaluation goes beyond basic scoring. The judge receives a rich configuration context, ensuring that performance is assessed against the specific operational environment and goals, not generic benchmarks.</a:t>
            </a:r>
            <a:endParaRPr lang="en-US" sz="750" dirty="0"/>
          </a:p>
        </p:txBody>
      </p:sp>
      <p:sp>
        <p:nvSpPr>
          <p:cNvPr id="7" name="Text 5"/>
          <p:cNvSpPr/>
          <p:nvPr/>
        </p:nvSpPr>
        <p:spPr>
          <a:xfrm>
            <a:off x="1209452" y="1561951"/>
            <a:ext cx="3764012" cy="182761"/>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The judge receives rich configuration context:</a:t>
            </a:r>
            <a:endParaRPr lang="en-US" sz="1150" dirty="0"/>
          </a:p>
        </p:txBody>
      </p:sp>
      <p:sp>
        <p:nvSpPr>
          <p:cNvPr id="8" name="Shape 6"/>
          <p:cNvSpPr/>
          <p:nvPr/>
        </p:nvSpPr>
        <p:spPr>
          <a:xfrm>
            <a:off x="1195164" y="1830884"/>
            <a:ext cx="28575" cy="767953"/>
          </a:xfrm>
          <a:prstGeom prst="rect">
            <a:avLst/>
          </a:prstGeom>
          <a:solidFill>
            <a:srgbClr val="FFAD94"/>
          </a:solidFill>
          <a:ln/>
        </p:spPr>
      </p:sp>
      <p:sp>
        <p:nvSpPr>
          <p:cNvPr id="9" name="Text 7"/>
          <p:cNvSpPr/>
          <p:nvPr/>
        </p:nvSpPr>
        <p:spPr>
          <a:xfrm>
            <a:off x="1335435" y="1845171"/>
            <a:ext cx="1313111"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Inspiration Questions</a:t>
            </a:r>
            <a:endParaRPr lang="en-US" sz="950" dirty="0"/>
          </a:p>
        </p:txBody>
      </p:sp>
      <p:sp>
        <p:nvSpPr>
          <p:cNvPr id="10" name="Text 8"/>
          <p:cNvSpPr/>
          <p:nvPr/>
        </p:nvSpPr>
        <p:spPr>
          <a:xfrm>
            <a:off x="1335435" y="2037606"/>
            <a:ext cx="1492448" cy="526256"/>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Questions designed to prompt thoughtful responses, derived from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Brain Knowledge Transfer</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11" name="Shape 9"/>
          <p:cNvSpPr/>
          <p:nvPr/>
        </p:nvSpPr>
        <p:spPr>
          <a:xfrm>
            <a:off x="2897312" y="1830884"/>
            <a:ext cx="28575" cy="767953"/>
          </a:xfrm>
          <a:prstGeom prst="rect">
            <a:avLst/>
          </a:prstGeom>
          <a:solidFill>
            <a:srgbClr val="FFAD94"/>
          </a:solidFill>
          <a:ln/>
        </p:spPr>
      </p:sp>
      <p:sp>
        <p:nvSpPr>
          <p:cNvPr id="12" name="Text 10"/>
          <p:cNvSpPr/>
          <p:nvPr/>
        </p:nvSpPr>
        <p:spPr>
          <a:xfrm>
            <a:off x="3037582" y="1845171"/>
            <a:ext cx="1365498"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Company Q&amp;A Context</a:t>
            </a:r>
            <a:endParaRPr lang="en-US" sz="950" dirty="0"/>
          </a:p>
        </p:txBody>
      </p:sp>
      <p:sp>
        <p:nvSpPr>
          <p:cNvPr id="13" name="Text 11"/>
          <p:cNvSpPr/>
          <p:nvPr/>
        </p:nvSpPr>
        <p:spPr>
          <a:xfrm>
            <a:off x="3037582" y="2037606"/>
            <a:ext cx="1492523" cy="526256"/>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Relevant company-specific knowledge for accurate responses, from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Brain Knowledge Transfer</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14" name="Shape 12"/>
          <p:cNvSpPr/>
          <p:nvPr/>
        </p:nvSpPr>
        <p:spPr>
          <a:xfrm>
            <a:off x="4599533" y="1830884"/>
            <a:ext cx="28575" cy="767953"/>
          </a:xfrm>
          <a:prstGeom prst="rect">
            <a:avLst/>
          </a:prstGeom>
          <a:solidFill>
            <a:srgbClr val="FFAD94"/>
          </a:solidFill>
          <a:ln/>
        </p:spPr>
      </p:sp>
      <p:sp>
        <p:nvSpPr>
          <p:cNvPr id="15" name="Text 13"/>
          <p:cNvSpPr/>
          <p:nvPr/>
        </p:nvSpPr>
        <p:spPr>
          <a:xfrm>
            <a:off x="4739804" y="1845171"/>
            <a:ext cx="1492448" cy="304502"/>
          </a:xfrm>
          <a:prstGeom prst="rect">
            <a:avLst/>
          </a:prstGeom>
          <a:noFill/>
          <a:ln/>
        </p:spPr>
        <p:txBody>
          <a:bodyPr wrap="square" lIns="0" tIns="0" rIns="0" bIns="0" rtlCol="0" anchor="t">
            <a:normAutofit/>
          </a:bodyPr>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Knowledge Base Relevance</a:t>
            </a:r>
            <a:endParaRPr lang="en-US" sz="950" dirty="0"/>
          </a:p>
        </p:txBody>
      </p:sp>
      <p:sp>
        <p:nvSpPr>
          <p:cNvPr id="16" name="Text 14"/>
          <p:cNvSpPr/>
          <p:nvPr/>
        </p:nvSpPr>
        <p:spPr>
          <a:xfrm>
            <a:off x="4739804" y="2189857"/>
            <a:ext cx="1492448" cy="394692"/>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Context from the last 20 messages to ensure relevant use of the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Knowledge Base</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17" name="Shape 15"/>
          <p:cNvSpPr/>
          <p:nvPr/>
        </p:nvSpPr>
        <p:spPr>
          <a:xfrm>
            <a:off x="6301680" y="1830884"/>
            <a:ext cx="28575" cy="767953"/>
          </a:xfrm>
          <a:prstGeom prst="rect">
            <a:avLst/>
          </a:prstGeom>
          <a:solidFill>
            <a:srgbClr val="FFAD94"/>
          </a:solidFill>
          <a:ln/>
        </p:spPr>
      </p:sp>
      <p:sp>
        <p:nvSpPr>
          <p:cNvPr id="18" name="Text 16"/>
          <p:cNvSpPr/>
          <p:nvPr/>
        </p:nvSpPr>
        <p:spPr>
          <a:xfrm>
            <a:off x="6441951" y="1845171"/>
            <a:ext cx="1391692"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Campaign Instructions</a:t>
            </a:r>
            <a:endParaRPr lang="en-US" sz="950" dirty="0"/>
          </a:p>
        </p:txBody>
      </p:sp>
      <p:sp>
        <p:nvSpPr>
          <p:cNvPr id="19" name="Text 17"/>
          <p:cNvSpPr/>
          <p:nvPr/>
        </p:nvSpPr>
        <p:spPr>
          <a:xfrm>
            <a:off x="6441951" y="2037606"/>
            <a:ext cx="1492523" cy="394692"/>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Specific directives for the current sales campaign, from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Brain Knowledge Transfer</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20" name="Shape 18"/>
          <p:cNvSpPr/>
          <p:nvPr/>
        </p:nvSpPr>
        <p:spPr>
          <a:xfrm>
            <a:off x="1195164" y="2704207"/>
            <a:ext cx="28575" cy="747266"/>
          </a:xfrm>
          <a:prstGeom prst="rect">
            <a:avLst/>
          </a:prstGeom>
          <a:solidFill>
            <a:srgbClr val="FFAD94"/>
          </a:solidFill>
          <a:ln/>
        </p:spPr>
      </p:sp>
      <p:sp>
        <p:nvSpPr>
          <p:cNvPr id="21" name="Text 19"/>
          <p:cNvSpPr/>
          <p:nvPr/>
        </p:nvSpPr>
        <p:spPr>
          <a:xfrm>
            <a:off x="1335435" y="2718495"/>
            <a:ext cx="1218307"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Target Functions</a:t>
            </a:r>
            <a:endParaRPr lang="en-US" sz="950" dirty="0"/>
          </a:p>
        </p:txBody>
      </p:sp>
      <p:sp>
        <p:nvSpPr>
          <p:cNvPr id="22" name="Text 20"/>
          <p:cNvSpPr/>
          <p:nvPr/>
        </p:nvSpPr>
        <p:spPr>
          <a:xfrm>
            <a:off x="1335435" y="2910929"/>
            <a:ext cx="1492448" cy="394692"/>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Pre-defined objectives and expected outcomes, from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Brain Knowledge Transfer</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23" name="Shape 21"/>
          <p:cNvSpPr/>
          <p:nvPr/>
        </p:nvSpPr>
        <p:spPr>
          <a:xfrm>
            <a:off x="2897312" y="2704207"/>
            <a:ext cx="28575" cy="747266"/>
          </a:xfrm>
          <a:prstGeom prst="rect">
            <a:avLst/>
          </a:prstGeom>
          <a:solidFill>
            <a:srgbClr val="FFAD94"/>
          </a:solidFill>
          <a:ln/>
        </p:spPr>
      </p:sp>
      <p:sp>
        <p:nvSpPr>
          <p:cNvPr id="24" name="Text 22"/>
          <p:cNvSpPr/>
          <p:nvPr/>
        </p:nvSpPr>
        <p:spPr>
          <a:xfrm>
            <a:off x="3037582" y="2718495"/>
            <a:ext cx="1233934"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Discovery Questions</a:t>
            </a:r>
            <a:endParaRPr lang="en-US" sz="950" dirty="0"/>
          </a:p>
        </p:txBody>
      </p:sp>
      <p:sp>
        <p:nvSpPr>
          <p:cNvPr id="25" name="Text 23"/>
          <p:cNvSpPr/>
          <p:nvPr/>
        </p:nvSpPr>
        <p:spPr>
          <a:xfrm>
            <a:off x="3037582" y="2910929"/>
            <a:ext cx="1492523" cy="394692"/>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 library of questions to guide the discovery process, from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Brain Knowledge Transfer</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26" name="Shape 24"/>
          <p:cNvSpPr/>
          <p:nvPr/>
        </p:nvSpPr>
        <p:spPr>
          <a:xfrm>
            <a:off x="4599533" y="2704207"/>
            <a:ext cx="28575" cy="747266"/>
          </a:xfrm>
          <a:prstGeom prst="rect">
            <a:avLst/>
          </a:prstGeom>
          <a:solidFill>
            <a:srgbClr val="FFAD94"/>
          </a:solidFill>
          <a:ln/>
        </p:spPr>
      </p:sp>
      <p:sp>
        <p:nvSpPr>
          <p:cNvPr id="27" name="Text 25"/>
          <p:cNvSpPr/>
          <p:nvPr/>
        </p:nvSpPr>
        <p:spPr>
          <a:xfrm>
            <a:off x="4739804" y="2718495"/>
            <a:ext cx="1249561"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Engagement Actions</a:t>
            </a:r>
            <a:endParaRPr lang="en-US" sz="950" dirty="0"/>
          </a:p>
        </p:txBody>
      </p:sp>
      <p:sp>
        <p:nvSpPr>
          <p:cNvPr id="28" name="Text 26"/>
          <p:cNvSpPr/>
          <p:nvPr/>
        </p:nvSpPr>
        <p:spPr>
          <a:xfrm>
            <a:off x="4739804" y="2910929"/>
            <a:ext cx="1492448" cy="394692"/>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Permitted and encouraged interaction types, from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Brain Knowledge Transfer</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29" name="Shape 27"/>
          <p:cNvSpPr/>
          <p:nvPr/>
        </p:nvSpPr>
        <p:spPr>
          <a:xfrm>
            <a:off x="6301680" y="2704207"/>
            <a:ext cx="28575" cy="747266"/>
          </a:xfrm>
          <a:prstGeom prst="rect">
            <a:avLst/>
          </a:prstGeom>
          <a:solidFill>
            <a:srgbClr val="FFAD94"/>
          </a:solidFill>
          <a:ln/>
        </p:spPr>
      </p:sp>
      <p:sp>
        <p:nvSpPr>
          <p:cNvPr id="30" name="Text 28"/>
          <p:cNvSpPr/>
          <p:nvPr/>
        </p:nvSpPr>
        <p:spPr>
          <a:xfrm>
            <a:off x="6441951" y="2718495"/>
            <a:ext cx="1337816"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Email Follow-up Flags</a:t>
            </a:r>
            <a:endParaRPr lang="en-US" sz="950" dirty="0"/>
          </a:p>
        </p:txBody>
      </p:sp>
      <p:sp>
        <p:nvSpPr>
          <p:cNvPr id="31" name="Text 29"/>
          <p:cNvSpPr/>
          <p:nvPr/>
        </p:nvSpPr>
        <p:spPr>
          <a:xfrm>
            <a:off x="6441951" y="2910929"/>
            <a:ext cx="1492523" cy="526256"/>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Indicators to prevent penalizing disabled behaviors like automated email sending, from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Brain Knowledge Transfer</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32" name="Shape 30"/>
          <p:cNvSpPr/>
          <p:nvPr/>
        </p:nvSpPr>
        <p:spPr>
          <a:xfrm>
            <a:off x="1195164" y="3556843"/>
            <a:ext cx="28575" cy="484138"/>
          </a:xfrm>
          <a:prstGeom prst="rect">
            <a:avLst/>
          </a:prstGeom>
          <a:solidFill>
            <a:srgbClr val="FFAD94"/>
          </a:solidFill>
          <a:ln/>
        </p:spPr>
      </p:sp>
      <p:sp>
        <p:nvSpPr>
          <p:cNvPr id="33" name="Text 31"/>
          <p:cNvSpPr/>
          <p:nvPr/>
        </p:nvSpPr>
        <p:spPr>
          <a:xfrm>
            <a:off x="1335435" y="3571131"/>
            <a:ext cx="1418555"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Hallucination Guardrail</a:t>
            </a:r>
            <a:endParaRPr lang="en-US" sz="950" dirty="0"/>
          </a:p>
        </p:txBody>
      </p:sp>
      <p:sp>
        <p:nvSpPr>
          <p:cNvPr id="34" name="Text 32"/>
          <p:cNvSpPr/>
          <p:nvPr/>
        </p:nvSpPr>
        <p:spPr>
          <a:xfrm>
            <a:off x="1335435" y="3763566"/>
            <a:ext cx="6599039"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The judge can call a `kb_lookup` tool to validate claims and detects fabricated capability examples in real sessions (data from </a:t>
            </a:r>
            <a:pPr algn="l" indent="0" marL="0">
              <a:lnSpc>
                <a:spcPct val="113000"/>
              </a:lnSpc>
              <a:buNone/>
            </a:pPr>
            <a:r>
              <a:rPr lang="en-US" sz="750" b="1" dirty="0">
                <a:solidFill>
                  <a:srgbClr val="403C4E"/>
                </a:solidFill>
                <a:latin typeface="Open Sans" pitchFamily="34" charset="0"/>
                <a:ea typeface="Open Sans" pitchFamily="34" charset="-122"/>
                <a:cs typeface="Open Sans" pitchFamily="34" charset="-120"/>
              </a:rPr>
              <a:t>2025-09-30-sessions</a:t>
            </a:r>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a:t>
            </a:r>
            <a:endParaRPr lang="en-US" sz="750" dirty="0"/>
          </a:p>
        </p:txBody>
      </p:sp>
      <p:sp>
        <p:nvSpPr>
          <p:cNvPr id="35" name="Shape 33"/>
          <p:cNvSpPr/>
          <p:nvPr/>
        </p:nvSpPr>
        <p:spPr>
          <a:xfrm>
            <a:off x="1209452" y="4102075"/>
            <a:ext cx="6725022" cy="742876"/>
          </a:xfrm>
          <a:prstGeom prst="roundRect">
            <a:avLst>
              <a:gd name="adj" fmla="val 5510"/>
            </a:avLst>
          </a:prstGeom>
          <a:solidFill>
            <a:srgbClr val="FFC4B3"/>
          </a:solidFill>
          <a:ln/>
        </p:spPr>
      </p:sp>
      <p:pic>
        <p:nvPicPr>
          <p:cNvPr id="36" name="Image 0" descr="preencoded.png">    </p:cNvPr>
          <p:cNvPicPr>
            <a:picLocks noChangeAspect="1"/>
          </p:cNvPicPr>
          <p:nvPr/>
        </p:nvPicPr>
        <p:blipFill>
          <a:blip r:embed="rId1"/>
          <a:stretch>
            <a:fillRect/>
          </a:stretch>
        </p:blipFill>
        <p:spPr>
          <a:xfrm>
            <a:off x="1306860" y="4201046"/>
            <a:ext cx="152251" cy="121816"/>
          </a:xfrm>
          <a:prstGeom prst="rect">
            <a:avLst/>
          </a:prstGeom>
        </p:spPr>
      </p:pic>
      <p:sp>
        <p:nvSpPr>
          <p:cNvPr id="37" name="Text 34"/>
          <p:cNvSpPr/>
          <p:nvPr/>
        </p:nvSpPr>
        <p:spPr>
          <a:xfrm>
            <a:off x="1556519" y="4193381"/>
            <a:ext cx="1675507" cy="152251"/>
          </a:xfrm>
          <a:prstGeom prst="rect">
            <a:avLst/>
          </a:prstGeom>
          <a:noFill/>
          <a:ln/>
        </p:spPr>
        <p:txBody>
          <a:bodyPr wrap="none" lIns="0" tIns="0" rIns="0" bIns="0" rtlCol="0" anchor="t"/>
          <a:lstStyle/>
          <a:p>
            <a:pPr algn="l" indent="0" marL="0">
              <a:lnSpc>
                <a:spcPct val="104000"/>
              </a:lnSpc>
              <a:buNone/>
            </a:pPr>
            <a:r>
              <a:rPr lang="en-US" sz="950" b="1" dirty="0">
                <a:solidFill>
                  <a:srgbClr val="000000"/>
                </a:solidFill>
                <a:latin typeface="Merriweather Bold" pitchFamily="34" charset="0"/>
                <a:ea typeface="Merriweather Bold" pitchFamily="34" charset="-122"/>
                <a:cs typeface="Merriweather Bold" pitchFamily="34" charset="-120"/>
              </a:rPr>
              <a:t>Key Point</a:t>
            </a:r>
            <a:endParaRPr lang="en-US" sz="950" dirty="0"/>
          </a:p>
        </p:txBody>
      </p:sp>
      <p:sp>
        <p:nvSpPr>
          <p:cNvPr id="38" name="Text 35"/>
          <p:cNvSpPr/>
          <p:nvPr/>
        </p:nvSpPr>
        <p:spPr>
          <a:xfrm>
            <a:off x="1556519" y="4412605"/>
            <a:ext cx="6280547" cy="323404"/>
          </a:xfrm>
          <a:prstGeom prst="rect">
            <a:avLst/>
          </a:prstGeom>
          <a:noFill/>
          <a:ln/>
        </p:spPr>
        <p:txBody>
          <a:bodyPr wrap="square" lIns="0" tIns="0" rIns="0" bIns="0" rtlCol="0" anchor="t"/>
          <a:lstStyle/>
          <a:p>
            <a:pPr algn="l" indent="0" marL="0">
              <a:lnSpc>
                <a:spcPct val="113000"/>
              </a:lnSpc>
              <a:buNone/>
            </a:pPr>
            <a:r>
              <a:rPr lang="en-US" sz="750" dirty="0">
                <a:solidFill>
                  <a:srgbClr val="000000"/>
                </a:solidFill>
                <a:latin typeface="Open Sans" pitchFamily="34" charset="0"/>
                <a:ea typeface="Open Sans" pitchFamily="34" charset="-122"/>
                <a:cs typeface="Open Sans" pitchFamily="34" charset="-120"/>
              </a:rPr>
              <a:t>Our evaluation process is </a:t>
            </a:r>
            <a:pPr algn="l" indent="0" marL="0">
              <a:lnSpc>
                <a:spcPct val="113000"/>
              </a:lnSpc>
              <a:buNone/>
            </a:pPr>
            <a:r>
              <a:rPr lang="en-US" sz="750" b="1" dirty="0">
                <a:solidFill>
                  <a:srgbClr val="000000"/>
                </a:solidFill>
                <a:latin typeface="Open Sans" pitchFamily="34" charset="0"/>
                <a:ea typeface="Open Sans" pitchFamily="34" charset="-122"/>
                <a:cs typeface="Open Sans" pitchFamily="34" charset="-120"/>
              </a:rPr>
              <a:t>Configuration-aware</a:t>
            </a:r>
            <a:pPr algn="l" indent="0" marL="0">
              <a:lnSpc>
                <a:spcPct val="113000"/>
              </a:lnSpc>
              <a:buNone/>
            </a:pPr>
            <a:r>
              <a:rPr lang="en-US" sz="750" dirty="0">
                <a:solidFill>
                  <a:srgbClr val="000000"/>
                </a:solidFill>
                <a:latin typeface="Open Sans" pitchFamily="34" charset="0"/>
                <a:ea typeface="Open Sans" pitchFamily="34" charset="-122"/>
                <a:cs typeface="Open Sans" pitchFamily="34" charset="-120"/>
              </a:rPr>
              <a:t>, </a:t>
            </a:r>
            <a:pPr algn="l" indent="0" marL="0">
              <a:lnSpc>
                <a:spcPct val="113000"/>
              </a:lnSpc>
              <a:buNone/>
            </a:pPr>
            <a:r>
              <a:rPr lang="en-US" sz="750" b="1" dirty="0">
                <a:solidFill>
                  <a:srgbClr val="000000"/>
                </a:solidFill>
                <a:latin typeface="Open Sans" pitchFamily="34" charset="0"/>
                <a:ea typeface="Open Sans" pitchFamily="34" charset="-122"/>
                <a:cs typeface="Open Sans" pitchFamily="34" charset="-120"/>
              </a:rPr>
              <a:t>Campaign-aware</a:t>
            </a:r>
            <a:pPr algn="l" indent="0" marL="0">
              <a:lnSpc>
                <a:spcPct val="113000"/>
              </a:lnSpc>
              <a:buNone/>
            </a:pPr>
            <a:r>
              <a:rPr lang="en-US" sz="750" dirty="0">
                <a:solidFill>
                  <a:srgbClr val="000000"/>
                </a:solidFill>
                <a:latin typeface="Open Sans" pitchFamily="34" charset="0"/>
                <a:ea typeface="Open Sans" pitchFamily="34" charset="-122"/>
                <a:cs typeface="Open Sans" pitchFamily="34" charset="-120"/>
              </a:rPr>
              <a:t>, </a:t>
            </a:r>
            <a:pPr algn="l" indent="0" marL="0">
              <a:lnSpc>
                <a:spcPct val="113000"/>
              </a:lnSpc>
              <a:buNone/>
            </a:pPr>
            <a:r>
              <a:rPr lang="en-US" sz="750" b="1" dirty="0">
                <a:solidFill>
                  <a:srgbClr val="000000"/>
                </a:solidFill>
                <a:latin typeface="Open Sans" pitchFamily="34" charset="0"/>
                <a:ea typeface="Open Sans" pitchFamily="34" charset="-122"/>
                <a:cs typeface="Open Sans" pitchFamily="34" charset="-120"/>
              </a:rPr>
              <a:t>CRM-aware</a:t>
            </a:r>
            <a:pPr algn="l" indent="0" marL="0">
              <a:lnSpc>
                <a:spcPct val="113000"/>
              </a:lnSpc>
              <a:buNone/>
            </a:pPr>
            <a:r>
              <a:rPr lang="en-US" sz="750" dirty="0">
                <a:solidFill>
                  <a:srgbClr val="000000"/>
                </a:solidFill>
                <a:latin typeface="Open Sans" pitchFamily="34" charset="0"/>
                <a:ea typeface="Open Sans" pitchFamily="34" charset="-122"/>
                <a:cs typeface="Open Sans" pitchFamily="34" charset="-120"/>
              </a:rPr>
              <a:t>, and </a:t>
            </a:r>
            <a:pPr algn="l" indent="0" marL="0">
              <a:lnSpc>
                <a:spcPct val="113000"/>
              </a:lnSpc>
              <a:buNone/>
            </a:pPr>
            <a:r>
              <a:rPr lang="en-US" sz="750" b="1" dirty="0">
                <a:solidFill>
                  <a:srgbClr val="000000"/>
                </a:solidFill>
                <a:latin typeface="Open Sans" pitchFamily="34" charset="0"/>
                <a:ea typeface="Open Sans" pitchFamily="34" charset="-122"/>
                <a:cs typeface="Open Sans" pitchFamily="34" charset="-120"/>
              </a:rPr>
              <a:t>Knowledge-validated</a:t>
            </a:r>
            <a:pPr algn="l" indent="0" marL="0">
              <a:lnSpc>
                <a:spcPct val="113000"/>
              </a:lnSpc>
              <a:spcAft>
                <a:spcPts val="450"/>
              </a:spcAft>
              <a:buNone/>
            </a:pPr>
            <a:r>
              <a:rPr lang="en-US" sz="750" dirty="0">
                <a:solidFill>
                  <a:srgbClr val="000000"/>
                </a:solidFill>
                <a:latin typeface="Open Sans" pitchFamily="34" charset="0"/>
                <a:ea typeface="Open Sans" pitchFamily="34" charset="-122"/>
                <a:cs typeface="Open Sans" pitchFamily="34" charset="-120"/>
              </a:rPr>
              <a:t>.</a:t>
            </a:r>
            <a:endParaRPr lang="en-US" sz="750" dirty="0"/>
          </a:p>
          <a:p>
            <a:pPr algn="l" indent="0" marL="0">
              <a:lnSpc>
                <a:spcPct val="113000"/>
              </a:lnSpc>
              <a:buNone/>
            </a:pPr>
            <a:r>
              <a:rPr lang="en-US" sz="750" dirty="0">
                <a:solidFill>
                  <a:srgbClr val="000000"/>
                </a:solidFill>
                <a:latin typeface="Open Sans" pitchFamily="34" charset="0"/>
                <a:ea typeface="Open Sans" pitchFamily="34" charset="-122"/>
                <a:cs typeface="Open Sans" pitchFamily="34" charset="-120"/>
              </a:rPr>
              <a:t>It judges performance in the customer’s configured environment, not in isolation.</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1744414" y="266998"/>
            <a:ext cx="435918" cy="131862"/>
          </a:xfrm>
          <a:prstGeom prst="roundRect">
            <a:avLst>
              <a:gd name="adj" fmla="val 20884"/>
            </a:avLst>
          </a:prstGeom>
          <a:solidFill>
            <a:srgbClr val="FFD8CC"/>
          </a:solidFill>
          <a:ln/>
        </p:spPr>
      </p:sp>
      <p:sp>
        <p:nvSpPr>
          <p:cNvPr id="3" name="Text 1"/>
          <p:cNvSpPr/>
          <p:nvPr/>
        </p:nvSpPr>
        <p:spPr>
          <a:xfrm>
            <a:off x="1793528" y="291554"/>
            <a:ext cx="794891" cy="82748"/>
          </a:xfrm>
          <a:prstGeom prst="rect">
            <a:avLst/>
          </a:prstGeom>
          <a:noFill/>
          <a:ln/>
        </p:spPr>
        <p:txBody>
          <a:bodyPr wrap="none" lIns="0" tIns="0" rIns="0" bIns="0" rtlCol="0" anchor="t"/>
          <a:lstStyle/>
          <a:p>
            <a:pPr algn="l" indent="0" marL="0">
              <a:lnSpc>
                <a:spcPct val="105000"/>
              </a:lnSpc>
              <a:buNone/>
            </a:pPr>
            <a:r>
              <a:rPr lang="en-US" sz="500" dirty="0">
                <a:solidFill>
                  <a:srgbClr val="403C4E"/>
                </a:solidFill>
                <a:latin typeface="Open Sans" pitchFamily="34" charset="0"/>
                <a:ea typeface="Open Sans" pitchFamily="34" charset="-122"/>
                <a:cs typeface="Open Sans" pitchFamily="34" charset="-120"/>
              </a:rPr>
              <a:t>CHAPTER 5</a:t>
            </a:r>
            <a:endParaRPr lang="en-US" sz="500" dirty="0"/>
          </a:p>
        </p:txBody>
      </p:sp>
      <p:sp>
        <p:nvSpPr>
          <p:cNvPr id="4" name="Text 2"/>
          <p:cNvSpPr/>
          <p:nvPr/>
        </p:nvSpPr>
        <p:spPr>
          <a:xfrm>
            <a:off x="2221260" y="291554"/>
            <a:ext cx="1721495" cy="82748"/>
          </a:xfrm>
          <a:prstGeom prst="rect">
            <a:avLst/>
          </a:prstGeom>
          <a:noFill/>
          <a:ln/>
        </p:spPr>
        <p:txBody>
          <a:bodyPr wrap="none" lIns="0" tIns="0" rIns="0" bIns="0" rtlCol="0" anchor="t"/>
          <a:lstStyle/>
          <a:p>
            <a:pPr algn="l" indent="0" marL="0">
              <a:lnSpc>
                <a:spcPct val="105000"/>
              </a:lnSpc>
              <a:buNone/>
            </a:pPr>
            <a:r>
              <a:rPr lang="en-US" sz="500" dirty="0">
                <a:solidFill>
                  <a:srgbClr val="FFAD94"/>
                </a:solidFill>
                <a:latin typeface="Open Sans" pitchFamily="34" charset="0"/>
                <a:ea typeface="Open Sans" pitchFamily="34" charset="-122"/>
                <a:cs typeface="Open Sans" pitchFamily="34" charset="-120"/>
              </a:rPr>
              <a:t>OBSERVABILITY &amp; EVALS IN PRODUCTION</a:t>
            </a:r>
            <a:endParaRPr lang="en-US" sz="500" dirty="0"/>
          </a:p>
        </p:txBody>
      </p:sp>
      <p:sp>
        <p:nvSpPr>
          <p:cNvPr id="5" name="Text 3"/>
          <p:cNvSpPr/>
          <p:nvPr/>
        </p:nvSpPr>
        <p:spPr>
          <a:xfrm>
            <a:off x="1744414" y="417761"/>
            <a:ext cx="5689402" cy="256059"/>
          </a:xfrm>
          <a:prstGeom prst="rect">
            <a:avLst/>
          </a:prstGeom>
          <a:noFill/>
          <a:ln/>
        </p:spPr>
        <p:txBody>
          <a:bodyPr wrap="none" lIns="0" tIns="0" rIns="0" bIns="0" rtlCol="0" anchor="t"/>
          <a:lstStyle/>
          <a:p>
            <a:pPr algn="l" indent="0" marL="0">
              <a:lnSpc>
                <a:spcPct val="104000"/>
              </a:lnSpc>
              <a:buNone/>
            </a:pPr>
            <a:r>
              <a:rPr lang="en-US" sz="1600" b="1" dirty="0">
                <a:solidFill>
                  <a:srgbClr val="403C4E"/>
                </a:solidFill>
                <a:latin typeface="Merriweather Bold" pitchFamily="34" charset="0"/>
                <a:ea typeface="Merriweather Bold" pitchFamily="34" charset="-122"/>
                <a:cs typeface="Merriweather Bold" pitchFamily="34" charset="-120"/>
              </a:rPr>
              <a:t>Hybrid Evaluation + Continuous Improvement Loop</a:t>
            </a:r>
            <a:endParaRPr lang="en-US" sz="1600" dirty="0"/>
          </a:p>
        </p:txBody>
      </p:sp>
      <p:sp>
        <p:nvSpPr>
          <p:cNvPr id="6" name="Text 4"/>
          <p:cNvSpPr/>
          <p:nvPr/>
        </p:nvSpPr>
        <p:spPr>
          <a:xfrm>
            <a:off x="1744414" y="744885"/>
            <a:ext cx="5655171" cy="206871"/>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Our robust evaluation process is designed to systematically identify agent performance, combining qualitative and quantitative metrics to drive continuous improvement.</a:t>
            </a:r>
            <a:endParaRPr lang="en-US" sz="600" dirty="0"/>
          </a:p>
        </p:txBody>
      </p:sp>
      <p:sp>
        <p:nvSpPr>
          <p:cNvPr id="7" name="Text 5"/>
          <p:cNvSpPr/>
          <p:nvPr/>
        </p:nvSpPr>
        <p:spPr>
          <a:xfrm>
            <a:off x="1744414" y="1022821"/>
            <a:ext cx="1937147" cy="153665"/>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Each evaluation returns:</a:t>
            </a:r>
            <a:endParaRPr lang="en-US" sz="950" dirty="0"/>
          </a:p>
        </p:txBody>
      </p:sp>
      <p:sp>
        <p:nvSpPr>
          <p:cNvPr id="8" name="Shape 6"/>
          <p:cNvSpPr/>
          <p:nvPr/>
        </p:nvSpPr>
        <p:spPr>
          <a:xfrm>
            <a:off x="1744414" y="1247552"/>
            <a:ext cx="1853505" cy="546274"/>
          </a:xfrm>
          <a:prstGeom prst="roundRect">
            <a:avLst>
              <a:gd name="adj" fmla="val 8369"/>
            </a:avLst>
          </a:prstGeom>
          <a:solidFill>
            <a:srgbClr val="FFFFFF"/>
          </a:solidFill>
          <a:ln w="9525">
            <a:solidFill>
              <a:srgbClr val="E5BEB2"/>
            </a:solidFill>
            <a:prstDash val="solid"/>
          </a:ln>
        </p:spPr>
      </p:sp>
      <p:sp>
        <p:nvSpPr>
          <p:cNvPr id="9" name="Shape 7"/>
          <p:cNvSpPr/>
          <p:nvPr/>
        </p:nvSpPr>
        <p:spPr>
          <a:xfrm>
            <a:off x="1734889" y="1247552"/>
            <a:ext cx="38100" cy="546274"/>
          </a:xfrm>
          <a:prstGeom prst="roundRect">
            <a:avLst>
              <a:gd name="adj" fmla="val 90349"/>
            </a:avLst>
          </a:prstGeom>
          <a:solidFill>
            <a:srgbClr val="FFAD94"/>
          </a:solidFill>
          <a:ln/>
        </p:spPr>
      </p:sp>
      <p:sp>
        <p:nvSpPr>
          <p:cNvPr id="10" name="Text 8"/>
          <p:cNvSpPr/>
          <p:nvPr/>
        </p:nvSpPr>
        <p:spPr>
          <a:xfrm>
            <a:off x="1864444" y="1339007"/>
            <a:ext cx="1498327"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General Review: Score (0-100)</a:t>
            </a:r>
            <a:endParaRPr lang="en-US" sz="800" dirty="0"/>
          </a:p>
        </p:txBody>
      </p:sp>
      <p:sp>
        <p:nvSpPr>
          <p:cNvPr id="11" name="Text 9"/>
          <p:cNvSpPr/>
          <p:nvPr/>
        </p:nvSpPr>
        <p:spPr>
          <a:xfrm>
            <a:off x="1864444" y="1495499"/>
            <a:ext cx="1642021" cy="206871"/>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An overall performance metric for the agent's interaction quality.</a:t>
            </a:r>
            <a:endParaRPr lang="en-US" sz="600" dirty="0"/>
          </a:p>
        </p:txBody>
      </p:sp>
      <p:sp>
        <p:nvSpPr>
          <p:cNvPr id="12" name="Shape 10"/>
          <p:cNvSpPr/>
          <p:nvPr/>
        </p:nvSpPr>
        <p:spPr>
          <a:xfrm>
            <a:off x="3645247" y="1247552"/>
            <a:ext cx="1853505" cy="546274"/>
          </a:xfrm>
          <a:prstGeom prst="roundRect">
            <a:avLst>
              <a:gd name="adj" fmla="val 8369"/>
            </a:avLst>
          </a:prstGeom>
          <a:solidFill>
            <a:srgbClr val="FFFFFF"/>
          </a:solidFill>
          <a:ln w="9525">
            <a:solidFill>
              <a:srgbClr val="E5BEB2"/>
            </a:solidFill>
            <a:prstDash val="solid"/>
          </a:ln>
        </p:spPr>
      </p:sp>
      <p:sp>
        <p:nvSpPr>
          <p:cNvPr id="13" name="Shape 11"/>
          <p:cNvSpPr/>
          <p:nvPr/>
        </p:nvSpPr>
        <p:spPr>
          <a:xfrm>
            <a:off x="3635722" y="1247552"/>
            <a:ext cx="38100" cy="546274"/>
          </a:xfrm>
          <a:prstGeom prst="roundRect">
            <a:avLst>
              <a:gd name="adj" fmla="val 90349"/>
            </a:avLst>
          </a:prstGeom>
          <a:solidFill>
            <a:srgbClr val="FFAD94"/>
          </a:solidFill>
          <a:ln/>
        </p:spPr>
      </p:sp>
      <p:sp>
        <p:nvSpPr>
          <p:cNvPr id="14" name="Text 12"/>
          <p:cNvSpPr/>
          <p:nvPr/>
        </p:nvSpPr>
        <p:spPr>
          <a:xfrm>
            <a:off x="3765277" y="1339007"/>
            <a:ext cx="1024458"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AI Strengths</a:t>
            </a:r>
            <a:endParaRPr lang="en-US" sz="800" dirty="0"/>
          </a:p>
        </p:txBody>
      </p:sp>
      <p:sp>
        <p:nvSpPr>
          <p:cNvPr id="15" name="Text 13"/>
          <p:cNvSpPr/>
          <p:nvPr/>
        </p:nvSpPr>
        <p:spPr>
          <a:xfrm>
            <a:off x="3765277" y="1495499"/>
            <a:ext cx="1642021" cy="206871"/>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Detailed feedback on what the AI agent executed successfully.</a:t>
            </a:r>
            <a:endParaRPr lang="en-US" sz="600" dirty="0"/>
          </a:p>
        </p:txBody>
      </p:sp>
      <p:sp>
        <p:nvSpPr>
          <p:cNvPr id="16" name="Shape 14"/>
          <p:cNvSpPr/>
          <p:nvPr/>
        </p:nvSpPr>
        <p:spPr>
          <a:xfrm>
            <a:off x="5546080" y="1247552"/>
            <a:ext cx="1853505" cy="546274"/>
          </a:xfrm>
          <a:prstGeom prst="roundRect">
            <a:avLst>
              <a:gd name="adj" fmla="val 8369"/>
            </a:avLst>
          </a:prstGeom>
          <a:solidFill>
            <a:srgbClr val="FFFFFF"/>
          </a:solidFill>
          <a:ln w="9525">
            <a:solidFill>
              <a:srgbClr val="E5BEB2"/>
            </a:solidFill>
            <a:prstDash val="solid"/>
          </a:ln>
        </p:spPr>
      </p:sp>
      <p:sp>
        <p:nvSpPr>
          <p:cNvPr id="17" name="Shape 15"/>
          <p:cNvSpPr/>
          <p:nvPr/>
        </p:nvSpPr>
        <p:spPr>
          <a:xfrm>
            <a:off x="5536555" y="1247552"/>
            <a:ext cx="38100" cy="546274"/>
          </a:xfrm>
          <a:prstGeom prst="roundRect">
            <a:avLst>
              <a:gd name="adj" fmla="val 90349"/>
            </a:avLst>
          </a:prstGeom>
          <a:solidFill>
            <a:srgbClr val="FFAD94"/>
          </a:solidFill>
          <a:ln/>
        </p:spPr>
      </p:sp>
      <p:sp>
        <p:nvSpPr>
          <p:cNvPr id="18" name="Text 16"/>
          <p:cNvSpPr/>
          <p:nvPr/>
        </p:nvSpPr>
        <p:spPr>
          <a:xfrm>
            <a:off x="5666110" y="1339007"/>
            <a:ext cx="1024458"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Identified Issues</a:t>
            </a:r>
            <a:endParaRPr lang="en-US" sz="800" dirty="0"/>
          </a:p>
        </p:txBody>
      </p:sp>
      <p:sp>
        <p:nvSpPr>
          <p:cNvPr id="19" name="Text 17"/>
          <p:cNvSpPr/>
          <p:nvPr/>
        </p:nvSpPr>
        <p:spPr>
          <a:xfrm>
            <a:off x="5666110" y="1495499"/>
            <a:ext cx="1642021" cy="206871"/>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Specific, structured problems requiring immediate attention and fixes.</a:t>
            </a:r>
            <a:endParaRPr lang="en-US" sz="600" dirty="0"/>
          </a:p>
        </p:txBody>
      </p:sp>
      <p:sp>
        <p:nvSpPr>
          <p:cNvPr id="20" name="Text 18"/>
          <p:cNvSpPr/>
          <p:nvPr/>
        </p:nvSpPr>
        <p:spPr>
          <a:xfrm>
            <a:off x="1744414" y="1864891"/>
            <a:ext cx="1686520" cy="153665"/>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Hybrid Assertions</a:t>
            </a:r>
            <a:endParaRPr lang="en-US" sz="950" dirty="0"/>
          </a:p>
        </p:txBody>
      </p:sp>
      <p:sp>
        <p:nvSpPr>
          <p:cNvPr id="21" name="Text 19"/>
          <p:cNvSpPr/>
          <p:nvPr/>
        </p:nvSpPr>
        <p:spPr>
          <a:xfrm>
            <a:off x="1744414" y="2089621"/>
            <a:ext cx="6112371" cy="103436"/>
          </a:xfrm>
          <a:prstGeom prst="rect">
            <a:avLst/>
          </a:prstGeom>
          <a:noFill/>
          <a:ln/>
        </p:spPr>
        <p:txBody>
          <a:bodyPr wrap="none" lIns="0" tIns="0" rIns="0" bIns="0" rtlCol="0" anchor="t"/>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To ensure comprehensive and unbiased assessment, our evaluation combines:</a:t>
            </a:r>
            <a:endParaRPr lang="en-US" sz="600" dirty="0"/>
          </a:p>
        </p:txBody>
      </p:sp>
      <p:sp>
        <p:nvSpPr>
          <p:cNvPr id="22" name="Shape 20"/>
          <p:cNvSpPr/>
          <p:nvPr/>
        </p:nvSpPr>
        <p:spPr>
          <a:xfrm>
            <a:off x="1744414" y="2246337"/>
            <a:ext cx="5655171" cy="536749"/>
          </a:xfrm>
          <a:prstGeom prst="roundRect">
            <a:avLst>
              <a:gd name="adj" fmla="val 6413"/>
            </a:avLst>
          </a:prstGeom>
          <a:solidFill>
            <a:srgbClr val="FFD8CC"/>
          </a:solidFill>
          <a:ln w="4763">
            <a:solidFill>
              <a:srgbClr val="E5BEB2"/>
            </a:solidFill>
            <a:prstDash val="solid"/>
          </a:ln>
        </p:spPr>
      </p:sp>
      <p:sp>
        <p:nvSpPr>
          <p:cNvPr id="23" name="Shape 21"/>
          <p:cNvSpPr/>
          <p:nvPr/>
        </p:nvSpPr>
        <p:spPr>
          <a:xfrm>
            <a:off x="1749177" y="2251100"/>
            <a:ext cx="2822823" cy="527224"/>
          </a:xfrm>
          <a:prstGeom prst="roundRect">
            <a:avLst>
              <a:gd name="adj" fmla="val 6529"/>
            </a:avLst>
          </a:prstGeom>
          <a:solidFill>
            <a:srgbClr val="FFD8CC"/>
          </a:solidFill>
          <a:ln/>
        </p:spPr>
      </p:sp>
      <p:sp>
        <p:nvSpPr>
          <p:cNvPr id="24" name="Text 22"/>
          <p:cNvSpPr/>
          <p:nvPr/>
        </p:nvSpPr>
        <p:spPr>
          <a:xfrm>
            <a:off x="1831107" y="2333030"/>
            <a:ext cx="1256481"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LLM Semantic Judgment</a:t>
            </a:r>
            <a:endParaRPr lang="en-US" sz="800" dirty="0"/>
          </a:p>
        </p:txBody>
      </p:sp>
      <p:sp>
        <p:nvSpPr>
          <p:cNvPr id="25" name="Text 23"/>
          <p:cNvSpPr/>
          <p:nvPr/>
        </p:nvSpPr>
        <p:spPr>
          <a:xfrm>
            <a:off x="1831107" y="2489522"/>
            <a:ext cx="2658963" cy="206871"/>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Leveraging AI for nuanced, subjective assessment of conversation quality.</a:t>
            </a:r>
            <a:endParaRPr lang="en-US" sz="600" dirty="0"/>
          </a:p>
        </p:txBody>
      </p:sp>
      <p:sp>
        <p:nvSpPr>
          <p:cNvPr id="26" name="Shape 24"/>
          <p:cNvSpPr/>
          <p:nvPr/>
        </p:nvSpPr>
        <p:spPr>
          <a:xfrm>
            <a:off x="4572000" y="2251100"/>
            <a:ext cx="2822823" cy="527224"/>
          </a:xfrm>
          <a:prstGeom prst="rect">
            <a:avLst/>
          </a:prstGeom>
          <a:solidFill>
            <a:srgbClr val="FFD8CC"/>
          </a:solidFill>
          <a:ln/>
        </p:spPr>
      </p:sp>
      <p:sp>
        <p:nvSpPr>
          <p:cNvPr id="27" name="Shape 25"/>
          <p:cNvSpPr/>
          <p:nvPr/>
        </p:nvSpPr>
        <p:spPr>
          <a:xfrm>
            <a:off x="4572000" y="2251100"/>
            <a:ext cx="9525" cy="527224"/>
          </a:xfrm>
          <a:prstGeom prst="roundRect">
            <a:avLst>
              <a:gd name="adj" fmla="val 361396"/>
            </a:avLst>
          </a:prstGeom>
          <a:solidFill>
            <a:srgbClr val="E5BEB2"/>
          </a:solidFill>
          <a:ln/>
        </p:spPr>
      </p:sp>
      <p:sp>
        <p:nvSpPr>
          <p:cNvPr id="28" name="Text 26"/>
          <p:cNvSpPr/>
          <p:nvPr/>
        </p:nvSpPr>
        <p:spPr>
          <a:xfrm>
            <a:off x="4653930" y="2333030"/>
            <a:ext cx="1087636"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Deterministic Checks</a:t>
            </a:r>
            <a:endParaRPr lang="en-US" sz="800" dirty="0"/>
          </a:p>
        </p:txBody>
      </p:sp>
      <p:sp>
        <p:nvSpPr>
          <p:cNvPr id="29" name="Text 27"/>
          <p:cNvSpPr/>
          <p:nvPr/>
        </p:nvSpPr>
        <p:spPr>
          <a:xfrm>
            <a:off x="4653930" y="2489522"/>
            <a:ext cx="2658963" cy="206871"/>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Rule-based assertions for objective validation of specific behaviors (e.g., data extraction).</a:t>
            </a:r>
            <a:endParaRPr lang="en-US" sz="600" dirty="0"/>
          </a:p>
        </p:txBody>
      </p:sp>
      <p:sp>
        <p:nvSpPr>
          <p:cNvPr id="30" name="Text 28"/>
          <p:cNvSpPr/>
          <p:nvPr/>
        </p:nvSpPr>
        <p:spPr>
          <a:xfrm>
            <a:off x="1744414" y="2836366"/>
            <a:ext cx="6112371" cy="103436"/>
          </a:xfrm>
          <a:prstGeom prst="rect">
            <a:avLst/>
          </a:prstGeom>
          <a:noFill/>
          <a:ln/>
        </p:spPr>
        <p:txBody>
          <a:bodyPr wrap="none" lIns="0" tIns="0" rIns="0" bIns="0" rtlCol="0" anchor="t"/>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This hybrid approach prevents over-reliance on purely subjective scoring, providing a balanced and actionable assessment.</a:t>
            </a:r>
            <a:endParaRPr lang="en-US" sz="600" dirty="0"/>
          </a:p>
        </p:txBody>
      </p:sp>
      <p:sp>
        <p:nvSpPr>
          <p:cNvPr id="31" name="Text 29"/>
          <p:cNvSpPr/>
          <p:nvPr/>
        </p:nvSpPr>
        <p:spPr>
          <a:xfrm>
            <a:off x="1744414" y="3010867"/>
            <a:ext cx="1891010" cy="153665"/>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The Improvement Loop</a:t>
            </a:r>
            <a:endParaRPr lang="en-US" sz="950" dirty="0"/>
          </a:p>
        </p:txBody>
      </p:sp>
      <p:pic>
        <p:nvPicPr>
          <p:cNvPr id="32" name="Image 0" descr="preencoded.png">    </p:cNvPr>
          <p:cNvPicPr>
            <a:picLocks noChangeAspect="1"/>
          </p:cNvPicPr>
          <p:nvPr/>
        </p:nvPicPr>
        <p:blipFill>
          <a:blip r:embed="rId1"/>
          <a:stretch>
            <a:fillRect/>
          </a:stretch>
        </p:blipFill>
        <p:spPr>
          <a:xfrm>
            <a:off x="1744414" y="3235598"/>
            <a:ext cx="2827586" cy="327794"/>
          </a:xfrm>
          <a:prstGeom prst="rect">
            <a:avLst/>
          </a:prstGeom>
        </p:spPr>
      </p:pic>
      <p:sp>
        <p:nvSpPr>
          <p:cNvPr id="33" name="Text 30"/>
          <p:cNvSpPr/>
          <p:nvPr/>
        </p:nvSpPr>
        <p:spPr>
          <a:xfrm>
            <a:off x="1826344" y="3610719"/>
            <a:ext cx="1024458"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Issue Identified</a:t>
            </a:r>
            <a:endParaRPr lang="en-US" sz="800" dirty="0"/>
          </a:p>
        </p:txBody>
      </p:sp>
      <p:sp>
        <p:nvSpPr>
          <p:cNvPr id="34" name="Text 31"/>
          <p:cNvSpPr/>
          <p:nvPr/>
        </p:nvSpPr>
        <p:spPr>
          <a:xfrm>
            <a:off x="1826344" y="3767212"/>
            <a:ext cx="2663726" cy="103436"/>
          </a:xfrm>
          <a:prstGeom prst="rect">
            <a:avLst/>
          </a:prstGeom>
          <a:noFill/>
          <a:ln/>
        </p:spPr>
        <p:txBody>
          <a:bodyPr wrap="none" lIns="0" tIns="0" rIns="0" bIns="0" rtlCol="0" anchor="t"/>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A problem is detected through evaluation.</a:t>
            </a:r>
            <a:endParaRPr lang="en-US" sz="600" dirty="0"/>
          </a:p>
        </p:txBody>
      </p:sp>
      <p:pic>
        <p:nvPicPr>
          <p:cNvPr id="35" name="Image 1" descr="preencoded.png">    </p:cNvPr>
          <p:cNvPicPr>
            <a:picLocks noChangeAspect="1"/>
          </p:cNvPicPr>
          <p:nvPr/>
        </p:nvPicPr>
        <p:blipFill>
          <a:blip r:embed="rId2"/>
          <a:stretch>
            <a:fillRect/>
          </a:stretch>
        </p:blipFill>
        <p:spPr>
          <a:xfrm>
            <a:off x="4572000" y="3235598"/>
            <a:ext cx="2827586" cy="327794"/>
          </a:xfrm>
          <a:prstGeom prst="rect">
            <a:avLst/>
          </a:prstGeom>
        </p:spPr>
      </p:pic>
      <p:sp>
        <p:nvSpPr>
          <p:cNvPr id="36" name="Text 32"/>
          <p:cNvSpPr/>
          <p:nvPr/>
        </p:nvSpPr>
        <p:spPr>
          <a:xfrm>
            <a:off x="4653930" y="3610719"/>
            <a:ext cx="1478682"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Add Scenario &amp; Judge Criteria</a:t>
            </a:r>
            <a:endParaRPr lang="en-US" sz="800" dirty="0"/>
          </a:p>
        </p:txBody>
      </p:sp>
      <p:sp>
        <p:nvSpPr>
          <p:cNvPr id="37" name="Text 33"/>
          <p:cNvSpPr/>
          <p:nvPr/>
        </p:nvSpPr>
        <p:spPr>
          <a:xfrm>
            <a:off x="4653930" y="3767212"/>
            <a:ext cx="2663726" cy="206871"/>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The identified issue is formalized into a testable scenario with clear LLM judge criteria.</a:t>
            </a:r>
            <a:endParaRPr lang="en-US" sz="600" dirty="0"/>
          </a:p>
        </p:txBody>
      </p:sp>
      <p:pic>
        <p:nvPicPr>
          <p:cNvPr id="38" name="Image 2" descr="preencoded.png">    </p:cNvPr>
          <p:cNvPicPr>
            <a:picLocks noChangeAspect="1"/>
          </p:cNvPicPr>
          <p:nvPr/>
        </p:nvPicPr>
        <p:blipFill>
          <a:blip r:embed="rId3"/>
          <a:stretch>
            <a:fillRect/>
          </a:stretch>
        </p:blipFill>
        <p:spPr>
          <a:xfrm>
            <a:off x="1744414" y="4056013"/>
            <a:ext cx="2827586" cy="327794"/>
          </a:xfrm>
          <a:prstGeom prst="rect">
            <a:avLst/>
          </a:prstGeom>
        </p:spPr>
      </p:pic>
      <p:sp>
        <p:nvSpPr>
          <p:cNvPr id="39" name="Text 34"/>
          <p:cNvSpPr/>
          <p:nvPr/>
        </p:nvSpPr>
        <p:spPr>
          <a:xfrm>
            <a:off x="1826344" y="4431134"/>
            <a:ext cx="1024458"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Regression Test</a:t>
            </a:r>
            <a:endParaRPr lang="en-US" sz="800" dirty="0"/>
          </a:p>
        </p:txBody>
      </p:sp>
      <p:sp>
        <p:nvSpPr>
          <p:cNvPr id="40" name="Text 35"/>
          <p:cNvSpPr/>
          <p:nvPr/>
        </p:nvSpPr>
        <p:spPr>
          <a:xfrm>
            <a:off x="1826344" y="4587627"/>
            <a:ext cx="2663726" cy="206871"/>
          </a:xfrm>
          <a:prstGeom prst="rect">
            <a:avLst/>
          </a:prstGeom>
          <a:noFill/>
          <a:ln/>
        </p:spPr>
        <p:txBody>
          <a:bodyPr wrap="square" lIns="0" tIns="0" rIns="0" bIns="0" rtlCol="0" anchor="t">
            <a:normAutofit/>
          </a:bodyPr>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The updated agent undergoes rigorous testing against all known scenarios.</a:t>
            </a:r>
            <a:endParaRPr lang="en-US" sz="600" dirty="0"/>
          </a:p>
        </p:txBody>
      </p:sp>
      <p:pic>
        <p:nvPicPr>
          <p:cNvPr id="41" name="Image 3" descr="preencoded.png">    </p:cNvPr>
          <p:cNvPicPr>
            <a:picLocks noChangeAspect="1"/>
          </p:cNvPicPr>
          <p:nvPr/>
        </p:nvPicPr>
        <p:blipFill>
          <a:blip r:embed="rId4"/>
          <a:stretch>
            <a:fillRect/>
          </a:stretch>
        </p:blipFill>
        <p:spPr>
          <a:xfrm>
            <a:off x="4572000" y="4056013"/>
            <a:ext cx="2827586" cy="327794"/>
          </a:xfrm>
          <a:prstGeom prst="rect">
            <a:avLst/>
          </a:prstGeom>
        </p:spPr>
      </p:pic>
      <p:sp>
        <p:nvSpPr>
          <p:cNvPr id="42" name="Text 36"/>
          <p:cNvSpPr/>
          <p:nvPr/>
        </p:nvSpPr>
        <p:spPr>
          <a:xfrm>
            <a:off x="4653930" y="4431134"/>
            <a:ext cx="1024458" cy="128067"/>
          </a:xfrm>
          <a:prstGeom prst="rect">
            <a:avLst/>
          </a:prstGeom>
          <a:noFill/>
          <a:ln/>
        </p:spPr>
        <p:txBody>
          <a:bodyPr wrap="none" lIns="0" tIns="0" rIns="0" bIns="0" rtlCol="0" anchor="t"/>
          <a:lstStyle/>
          <a:p>
            <a:pPr algn="l" indent="0" marL="0">
              <a:lnSpc>
                <a:spcPct val="104000"/>
              </a:lnSpc>
              <a:buNone/>
            </a:pPr>
            <a:r>
              <a:rPr lang="en-US" sz="800" b="1" dirty="0">
                <a:solidFill>
                  <a:srgbClr val="403C4E"/>
                </a:solidFill>
                <a:latin typeface="Merriweather Bold" pitchFamily="34" charset="0"/>
                <a:ea typeface="Merriweather Bold" pitchFamily="34" charset="-122"/>
                <a:cs typeface="Merriweather Bold" pitchFamily="34" charset="-120"/>
              </a:rPr>
              <a:t>Deploy Fix</a:t>
            </a:r>
            <a:endParaRPr lang="en-US" sz="800" dirty="0"/>
          </a:p>
        </p:txBody>
      </p:sp>
      <p:sp>
        <p:nvSpPr>
          <p:cNvPr id="43" name="Text 37"/>
          <p:cNvSpPr/>
          <p:nvPr/>
        </p:nvSpPr>
        <p:spPr>
          <a:xfrm>
            <a:off x="4653930" y="4587627"/>
            <a:ext cx="2663726" cy="103436"/>
          </a:xfrm>
          <a:prstGeom prst="rect">
            <a:avLst/>
          </a:prstGeom>
          <a:noFill/>
          <a:ln/>
        </p:spPr>
        <p:txBody>
          <a:bodyPr wrap="none" lIns="0" tIns="0" rIns="0" bIns="0" rtlCol="0" anchor="t"/>
          <a:lstStyle/>
          <a:p>
            <a:pPr algn="l" indent="0" marL="0">
              <a:lnSpc>
                <a:spcPct val="105000"/>
              </a:lnSpc>
              <a:buNone/>
            </a:pPr>
            <a:r>
              <a:rPr lang="en-US" sz="600" dirty="0">
                <a:solidFill>
                  <a:srgbClr val="403C4E"/>
                </a:solidFill>
                <a:latin typeface="Open Sans" pitchFamily="34" charset="0"/>
                <a:ea typeface="Open Sans" pitchFamily="34" charset="-122"/>
                <a:cs typeface="Open Sans" pitchFamily="34" charset="-120"/>
              </a:rPr>
              <a:t>Once validated, the improved agent is deployed to production.</a:t>
            </a:r>
            <a:endParaRPr lang="en-US" sz="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96119" y="501328"/>
            <a:ext cx="754484" cy="266402"/>
          </a:xfrm>
          <a:prstGeom prst="roundRect">
            <a:avLst>
              <a:gd name="adj" fmla="val 17880"/>
            </a:avLst>
          </a:prstGeom>
          <a:solidFill>
            <a:srgbClr val="FFD8CC"/>
          </a:solidFill>
          <a:ln/>
        </p:spPr>
      </p:sp>
      <p:sp>
        <p:nvSpPr>
          <p:cNvPr id="3" name="Text 1"/>
          <p:cNvSpPr/>
          <p:nvPr/>
        </p:nvSpPr>
        <p:spPr>
          <a:xfrm>
            <a:off x="581174" y="543818"/>
            <a:ext cx="1041574" cy="181421"/>
          </a:xfrm>
          <a:prstGeom prst="rect">
            <a:avLst/>
          </a:prstGeom>
          <a:noFill/>
          <a:ln/>
        </p:spPr>
        <p:txBody>
          <a:bodyPr wrap="none" lIns="0" tIns="0" rIns="0" bIns="0" rtlCol="0" anchor="t"/>
          <a:lstStyle/>
          <a:p>
            <a:pPr algn="l" indent="0" marL="0">
              <a:lnSpc>
                <a:spcPct val="133000"/>
              </a:lnSpc>
              <a:buNone/>
            </a:pPr>
            <a:r>
              <a:rPr lang="en-US" sz="850" dirty="0">
                <a:solidFill>
                  <a:srgbClr val="403C4E"/>
                </a:solidFill>
                <a:latin typeface="Open Sans" pitchFamily="34" charset="0"/>
                <a:ea typeface="Open Sans" pitchFamily="34" charset="-122"/>
                <a:cs typeface="Open Sans" pitchFamily="34" charset="-120"/>
              </a:rPr>
              <a:t>CHAPTER 5</a:t>
            </a:r>
            <a:endParaRPr lang="en-US" sz="850" dirty="0"/>
          </a:p>
        </p:txBody>
      </p:sp>
      <p:sp>
        <p:nvSpPr>
          <p:cNvPr id="4" name="Text 2"/>
          <p:cNvSpPr/>
          <p:nvPr/>
        </p:nvSpPr>
        <p:spPr>
          <a:xfrm>
            <a:off x="1321445" y="543818"/>
            <a:ext cx="1763018" cy="181421"/>
          </a:xfrm>
          <a:prstGeom prst="rect">
            <a:avLst/>
          </a:prstGeom>
          <a:noFill/>
          <a:ln/>
        </p:spPr>
        <p:txBody>
          <a:bodyPr wrap="none" lIns="0" tIns="0" rIns="0" bIns="0" rtlCol="0" anchor="t"/>
          <a:lstStyle/>
          <a:p>
            <a:pPr algn="l" indent="0" marL="0">
              <a:lnSpc>
                <a:spcPct val="133000"/>
              </a:lnSpc>
              <a:buNone/>
            </a:pPr>
            <a:r>
              <a:rPr lang="en-US" sz="850" dirty="0">
                <a:solidFill>
                  <a:srgbClr val="FFAD94"/>
                </a:solidFill>
                <a:latin typeface="Open Sans" pitchFamily="34" charset="0"/>
                <a:ea typeface="Open Sans" pitchFamily="34" charset="-122"/>
                <a:cs typeface="Open Sans" pitchFamily="34" charset="-120"/>
              </a:rPr>
              <a:t>MEMORY OPTIMIZATION</a:t>
            </a:r>
            <a:endParaRPr lang="en-US" sz="850" dirty="0"/>
          </a:p>
        </p:txBody>
      </p:sp>
      <p:sp>
        <p:nvSpPr>
          <p:cNvPr id="5" name="Text 3"/>
          <p:cNvSpPr/>
          <p:nvPr/>
        </p:nvSpPr>
        <p:spPr>
          <a:xfrm>
            <a:off x="496119" y="824433"/>
            <a:ext cx="7659960"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Structured Memory: Beyond Raw History</a:t>
            </a:r>
            <a:endParaRPr lang="en-US" sz="2750" dirty="0"/>
          </a:p>
        </p:txBody>
      </p:sp>
      <p:sp>
        <p:nvSpPr>
          <p:cNvPr id="6" name="Text 4"/>
          <p:cNvSpPr/>
          <p:nvPr/>
        </p:nvSpPr>
        <p:spPr>
          <a:xfrm>
            <a:off x="496119" y="1480021"/>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For AI agents, how memory is stored and accessed is critical to performance. Moving beyond raw chat logs to a structured memory model dramatically enhances consistency and reasoning.</a:t>
            </a:r>
            <a:endParaRPr lang="en-US" sz="1100" dirty="0"/>
          </a:p>
        </p:txBody>
      </p:sp>
      <p:sp>
        <p:nvSpPr>
          <p:cNvPr id="7" name="Shape 5"/>
          <p:cNvSpPr/>
          <p:nvPr/>
        </p:nvSpPr>
        <p:spPr>
          <a:xfrm>
            <a:off x="394022" y="2093119"/>
            <a:ext cx="4107135" cy="1935956"/>
          </a:xfrm>
          <a:prstGeom prst="roundRect">
            <a:avLst>
              <a:gd name="adj" fmla="val 5272"/>
            </a:avLst>
          </a:prstGeom>
          <a:solidFill>
            <a:srgbClr val="FFAD94"/>
          </a:solidFill>
          <a:ln/>
        </p:spPr>
      </p:sp>
      <p:sp>
        <p:nvSpPr>
          <p:cNvPr id="8" name="Text 6"/>
          <p:cNvSpPr/>
          <p:nvPr/>
        </p:nvSpPr>
        <p:spPr>
          <a:xfrm>
            <a:off x="535781" y="2234878"/>
            <a:ext cx="2938388" cy="27057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Merriweather Bold" pitchFamily="34" charset="0"/>
                <a:ea typeface="Merriweather Bold" pitchFamily="34" charset="-122"/>
                <a:cs typeface="Merriweather Bold" pitchFamily="34" charset="-120"/>
              </a:rPr>
              <a:t>❌</a:t>
            </a:r>
            <a:pPr algn="l" indent="0" marL="0">
              <a:lnSpc>
                <a:spcPct val="104000"/>
              </a:lnSpc>
              <a:buNone/>
            </a:pPr>
            <a:r>
              <a:rPr lang="en-US" sz="1650" b="1" dirty="0">
                <a:solidFill>
                  <a:srgbClr val="403C4E"/>
                </a:solidFill>
                <a:latin typeface="Merriweather Bold" pitchFamily="34" charset="0"/>
                <a:ea typeface="Merriweather Bold" pitchFamily="34" charset="-122"/>
                <a:cs typeface="Merriweather Bold" pitchFamily="34" charset="-120"/>
              </a:rPr>
              <a:t> Passing Raw History</a:t>
            </a:r>
            <a:endParaRPr lang="en-US" sz="1650" dirty="0"/>
          </a:p>
        </p:txBody>
      </p:sp>
      <p:sp>
        <p:nvSpPr>
          <p:cNvPr id="9" name="Text 7"/>
          <p:cNvSpPr/>
          <p:nvPr/>
        </p:nvSpPr>
        <p:spPr>
          <a:xfrm>
            <a:off x="535781" y="2647206"/>
            <a:ext cx="3823618" cy="1332309"/>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40+ turns of chat history</a:t>
            </a:r>
            <a:endParaRPr lang="en-US" sz="1100" dirty="0"/>
          </a:p>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Overwhelms context window</a:t>
            </a:r>
            <a:endParaRPr lang="en-US" sz="1100" dirty="0"/>
          </a:p>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Forces agent to re-derive state</a:t>
            </a:r>
            <a:endParaRPr lang="en-US" sz="1100" dirty="0"/>
          </a:p>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Leads to inconsistent behavior</a:t>
            </a:r>
            <a:endParaRPr lang="en-US" sz="1100" dirty="0"/>
          </a:p>
          <a:p>
            <a:pPr algn="l" marL="342900" indent="-342900">
              <a:lnSpc>
                <a:spcPct val="133000"/>
              </a:lnSpc>
              <a:buSzPct val="100000"/>
              <a:buChar char="•"/>
            </a:pPr>
            <a:r>
              <a:rPr lang="en-US" sz="1100" dirty="0">
                <a:solidFill>
                  <a:srgbClr val="000000"/>
                </a:solidFill>
                <a:latin typeface="Open Sans" pitchFamily="34" charset="0"/>
                <a:ea typeface="Open Sans" pitchFamily="34" charset="-122"/>
                <a:cs typeface="Open Sans" pitchFamily="34" charset="-120"/>
              </a:rPr>
              <a:t>Inefficient and slow</a:t>
            </a:r>
            <a:endParaRPr lang="en-US" sz="1100" dirty="0"/>
          </a:p>
        </p:txBody>
      </p:sp>
      <p:sp>
        <p:nvSpPr>
          <p:cNvPr id="10" name="Text 8"/>
          <p:cNvSpPr/>
          <p:nvPr/>
        </p:nvSpPr>
        <p:spPr>
          <a:xfrm>
            <a:off x="4749701" y="2234878"/>
            <a:ext cx="3814911" cy="27057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Merriweather Bold" pitchFamily="34" charset="0"/>
                <a:ea typeface="Merriweather Bold" pitchFamily="34" charset="-122"/>
                <a:cs typeface="Merriweather Bold" pitchFamily="34" charset="-120"/>
              </a:rPr>
              <a:t>✅</a:t>
            </a:r>
            <a:pPr algn="l" indent="0" marL="0">
              <a:lnSpc>
                <a:spcPct val="104000"/>
              </a:lnSpc>
              <a:buNone/>
            </a:pPr>
            <a:r>
              <a:rPr lang="en-US" sz="1650" b="1" dirty="0">
                <a:solidFill>
                  <a:srgbClr val="403C4E"/>
                </a:solidFill>
                <a:latin typeface="Merriweather Bold" pitchFamily="34" charset="0"/>
                <a:ea typeface="Merriweather Bold" pitchFamily="34" charset="-122"/>
                <a:cs typeface="Merriweather Bold" pitchFamily="34" charset="-120"/>
              </a:rPr>
              <a:t> Utilizing Structured Memory</a:t>
            </a:r>
            <a:endParaRPr lang="en-US" sz="1650" dirty="0"/>
          </a:p>
        </p:txBody>
      </p:sp>
      <p:sp>
        <p:nvSpPr>
          <p:cNvPr id="11" name="Text 9"/>
          <p:cNvSpPr/>
          <p:nvPr/>
        </p:nvSpPr>
        <p:spPr>
          <a:xfrm>
            <a:off x="4749701" y="2647206"/>
            <a:ext cx="3902943" cy="1332309"/>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Extracted summary of conversation</a:t>
            </a:r>
            <a:endParaRPr lang="en-US" sz="1100" dirty="0"/>
          </a:p>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Key fields (pain points, budget, timeline)</a:t>
            </a:r>
            <a:endParaRPr lang="en-US" sz="1100" dirty="0"/>
          </a:p>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Current open questions &amp; next steps</a:t>
            </a:r>
            <a:endParaRPr lang="en-US" sz="1100" dirty="0"/>
          </a:p>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Assessed emotional state of buyer</a:t>
            </a:r>
            <a:endParaRPr lang="en-US" sz="1100" dirty="0"/>
          </a:p>
          <a:p>
            <a:pPr algn="l" marL="342900" indent="-342900">
              <a:lnSpc>
                <a:spcPct val="133000"/>
              </a:lnSpc>
              <a:buSzPct val="100000"/>
              <a:buChar char="•"/>
            </a:pPr>
            <a:r>
              <a:rPr lang="en-US" sz="1100" dirty="0">
                <a:solidFill>
                  <a:srgbClr val="403C4E"/>
                </a:solidFill>
                <a:latin typeface="Open Sans" pitchFamily="34" charset="0"/>
                <a:ea typeface="Open Sans" pitchFamily="34" charset="-122"/>
                <a:cs typeface="Open Sans" pitchFamily="34" charset="-120"/>
              </a:rPr>
              <a:t>Dramatically improves consistency &amp; focus</a:t>
            </a:r>
            <a:endParaRPr lang="en-US" sz="1100" dirty="0"/>
          </a:p>
        </p:txBody>
      </p:sp>
      <p:sp>
        <p:nvSpPr>
          <p:cNvPr id="12" name="Text 10"/>
          <p:cNvSpPr/>
          <p:nvPr/>
        </p:nvSpPr>
        <p:spPr>
          <a:xfrm>
            <a:off x="496119" y="4188544"/>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By abstracting conversations into key data points, the agent operates with a clearer, more efficient understanding of the ongoing dialogue, ensuring every interaction is precise and relevant.</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1285875" y="267519"/>
            <a:ext cx="4677817" cy="297656"/>
          </a:xfrm>
          <a:prstGeom prst="rect">
            <a:avLst/>
          </a:prstGeom>
          <a:noFill/>
          <a:ln/>
        </p:spPr>
        <p:txBody>
          <a:bodyPr wrap="none" lIns="0" tIns="0" rIns="0" bIns="0" rtlCol="0" anchor="t"/>
          <a:lstStyle/>
          <a:p>
            <a:pPr algn="l" indent="0" marL="0">
              <a:lnSpc>
                <a:spcPct val="104000"/>
              </a:lnSpc>
              <a:buNone/>
            </a:pPr>
            <a:r>
              <a:rPr lang="en-US" sz="1850" b="1" dirty="0">
                <a:solidFill>
                  <a:srgbClr val="403C4E"/>
                </a:solidFill>
                <a:latin typeface="Merriweather Bold" pitchFamily="34" charset="0"/>
                <a:ea typeface="Merriweather Bold" pitchFamily="34" charset="-122"/>
                <a:cs typeface="Merriweather Bold" pitchFamily="34" charset="-120"/>
              </a:rPr>
              <a:t>Human-in-the-Loop Is Not a Failure</a:t>
            </a:r>
            <a:endParaRPr lang="en-US" sz="1850" dirty="0"/>
          </a:p>
        </p:txBody>
      </p:sp>
      <p:sp>
        <p:nvSpPr>
          <p:cNvPr id="3" name="Text 1"/>
          <p:cNvSpPr/>
          <p:nvPr/>
        </p:nvSpPr>
        <p:spPr>
          <a:xfrm>
            <a:off x="1285875" y="693167"/>
            <a:ext cx="7029450" cy="127397"/>
          </a:xfrm>
          <a:prstGeom prst="rect">
            <a:avLst/>
          </a:prstGeom>
          <a:noFill/>
          <a:ln/>
        </p:spPr>
        <p:txBody>
          <a:bodyPr wrap="none" lIns="0" tIns="0" rIns="0" bIns="0" rtlCol="0" anchor="t"/>
          <a:lstStyle/>
          <a:p>
            <a:pPr algn="l" indent="0" marL="0">
              <a:lnSpc>
                <a:spcPct val="111000"/>
              </a:lnSpc>
              <a:buNone/>
            </a:pPr>
            <a:r>
              <a:rPr lang="en-US" sz="750" dirty="0">
                <a:solidFill>
                  <a:srgbClr val="403C4E"/>
                </a:solidFill>
                <a:latin typeface="Open Sans" pitchFamily="34" charset="0"/>
                <a:ea typeface="Open Sans" pitchFamily="34" charset="-122"/>
                <a:cs typeface="Open Sans" pitchFamily="34" charset="-120"/>
              </a:rPr>
              <a:t>It’s a strategic design choice, optimizing AI agent performance where human judgment, empathy, and nuanced understanding are critical.</a:t>
            </a:r>
            <a:endParaRPr lang="en-US" sz="750" dirty="0"/>
          </a:p>
        </p:txBody>
      </p:sp>
      <p:pic>
        <p:nvPicPr>
          <p:cNvPr id="4" name="Image 0" descr="preencoded.png">    </p:cNvPr>
          <p:cNvPicPr>
            <a:picLocks noChangeAspect="1"/>
          </p:cNvPicPr>
          <p:nvPr/>
        </p:nvPicPr>
        <p:blipFill>
          <a:blip r:embed="rId1"/>
          <a:stretch>
            <a:fillRect/>
          </a:stretch>
        </p:blipFill>
        <p:spPr>
          <a:xfrm>
            <a:off x="2743572" y="892522"/>
            <a:ext cx="3656781" cy="3656707"/>
          </a:xfrm>
          <a:prstGeom prst="rect">
            <a:avLst/>
          </a:prstGeom>
        </p:spPr>
      </p:pic>
      <p:sp>
        <p:nvSpPr>
          <p:cNvPr id="5" name="Text 2"/>
          <p:cNvSpPr/>
          <p:nvPr/>
        </p:nvSpPr>
        <p:spPr>
          <a:xfrm>
            <a:off x="3098750" y="1378225"/>
            <a:ext cx="1178264" cy="369684"/>
          </a:xfrm>
          <a:prstGeom prst="rect">
            <a:avLst/>
          </a:prstGeom>
          <a:noFill/>
          <a:ln/>
        </p:spPr>
        <p:txBody>
          <a:bodyPr wrap="square" lIns="0" tIns="0" rIns="0" bIns="0" rtlCol="0" anchor="t">
            <a:normAutofit/>
          </a:bodyPr>
          <a:lstStyle/>
          <a:p>
            <a:pPr algn="ctr" indent="0" marL="0">
              <a:lnSpc>
                <a:spcPct val="104000"/>
              </a:lnSpc>
              <a:buNone/>
            </a:pPr>
            <a:r>
              <a:rPr lang="en-US" sz="1150" b="1" dirty="0">
                <a:solidFill>
                  <a:srgbClr val="000000"/>
                </a:solidFill>
                <a:latin typeface="Merriweather Bold" pitchFamily="34" charset="0"/>
                <a:ea typeface="Merriweather Bold" pitchFamily="34" charset="-122"/>
                <a:cs typeface="Merriweather Bold" pitchFamily="34" charset="-120"/>
              </a:rPr>
              <a:t>High-Value Deals</a:t>
            </a:r>
            <a:endParaRPr lang="en-US" sz="1150" dirty="0"/>
          </a:p>
        </p:txBody>
      </p:sp>
      <p:sp>
        <p:nvSpPr>
          <p:cNvPr id="6" name="Text 3"/>
          <p:cNvSpPr/>
          <p:nvPr/>
        </p:nvSpPr>
        <p:spPr>
          <a:xfrm>
            <a:off x="3098750" y="1800486"/>
            <a:ext cx="1178264" cy="494144"/>
          </a:xfrm>
          <a:prstGeom prst="rect">
            <a:avLst/>
          </a:prstGeom>
          <a:noFill/>
          <a:ln/>
        </p:spPr>
        <p:txBody>
          <a:bodyPr wrap="square" lIns="0" tIns="0" rIns="0" bIns="0" rtlCol="0" anchor="t">
            <a:normAutofit/>
          </a:bodyPr>
          <a:lstStyle/>
          <a:p>
            <a:pPr algn="ctr" indent="0" marL="0">
              <a:lnSpc>
                <a:spcPct val="87000"/>
              </a:lnSpc>
              <a:buNone/>
            </a:pPr>
            <a:r>
              <a:rPr lang="en-US" sz="900" dirty="0">
                <a:solidFill>
                  <a:srgbClr val="000000"/>
                </a:solidFill>
                <a:latin typeface="Open Sans" pitchFamily="34" charset="0"/>
                <a:ea typeface="Open Sans" pitchFamily="34" charset="-122"/>
                <a:cs typeface="Open Sans" pitchFamily="34" charset="-120"/>
              </a:rPr>
              <a:t>Human review ensures tailored negotiation and risk checks.</a:t>
            </a:r>
            <a:endParaRPr lang="en-US" sz="900" dirty="0"/>
          </a:p>
        </p:txBody>
      </p:sp>
      <p:sp>
        <p:nvSpPr>
          <p:cNvPr id="7" name="Text 4"/>
          <p:cNvSpPr/>
          <p:nvPr/>
        </p:nvSpPr>
        <p:spPr>
          <a:xfrm>
            <a:off x="4873232" y="1439942"/>
            <a:ext cx="1178264" cy="369684"/>
          </a:xfrm>
          <a:prstGeom prst="rect">
            <a:avLst/>
          </a:prstGeom>
          <a:noFill/>
          <a:ln/>
        </p:spPr>
        <p:txBody>
          <a:bodyPr wrap="square" lIns="0" tIns="0" rIns="0" bIns="0" rtlCol="0" anchor="t">
            <a:normAutofit/>
          </a:bodyPr>
          <a:lstStyle/>
          <a:p>
            <a:pPr algn="ctr" indent="0" marL="0">
              <a:lnSpc>
                <a:spcPct val="104000"/>
              </a:lnSpc>
              <a:buNone/>
            </a:pPr>
            <a:r>
              <a:rPr lang="en-US" sz="1150" b="1" dirty="0">
                <a:solidFill>
                  <a:srgbClr val="000000"/>
                </a:solidFill>
                <a:latin typeface="Merriweather Bold" pitchFamily="34" charset="0"/>
                <a:ea typeface="Merriweather Bold" pitchFamily="34" charset="-122"/>
                <a:cs typeface="Merriweather Bold" pitchFamily="34" charset="-120"/>
              </a:rPr>
              <a:t>Ambiguous Intent</a:t>
            </a:r>
            <a:endParaRPr lang="en-US" sz="1150" dirty="0"/>
          </a:p>
        </p:txBody>
      </p:sp>
      <p:sp>
        <p:nvSpPr>
          <p:cNvPr id="8" name="Text 5"/>
          <p:cNvSpPr/>
          <p:nvPr/>
        </p:nvSpPr>
        <p:spPr>
          <a:xfrm>
            <a:off x="4873232" y="1862203"/>
            <a:ext cx="1178264" cy="370608"/>
          </a:xfrm>
          <a:prstGeom prst="rect">
            <a:avLst/>
          </a:prstGeom>
          <a:noFill/>
          <a:ln/>
        </p:spPr>
        <p:txBody>
          <a:bodyPr wrap="square" lIns="0" tIns="0" rIns="0" bIns="0" rtlCol="0" anchor="t">
            <a:normAutofit/>
          </a:bodyPr>
          <a:lstStyle/>
          <a:p>
            <a:pPr algn="ctr" indent="0" marL="0">
              <a:lnSpc>
                <a:spcPct val="87000"/>
              </a:lnSpc>
              <a:buNone/>
            </a:pPr>
            <a:r>
              <a:rPr lang="en-US" sz="900" dirty="0">
                <a:solidFill>
                  <a:srgbClr val="000000"/>
                </a:solidFill>
                <a:latin typeface="Open Sans" pitchFamily="34" charset="0"/>
                <a:ea typeface="Open Sans" pitchFamily="34" charset="-122"/>
                <a:cs typeface="Open Sans" pitchFamily="34" charset="-120"/>
              </a:rPr>
              <a:t>Humans clarify unclear requests and guide responses.</a:t>
            </a:r>
            <a:endParaRPr lang="en-US" sz="900" dirty="0"/>
          </a:p>
        </p:txBody>
      </p:sp>
      <p:sp>
        <p:nvSpPr>
          <p:cNvPr id="9" name="Text 6"/>
          <p:cNvSpPr/>
          <p:nvPr/>
        </p:nvSpPr>
        <p:spPr>
          <a:xfrm>
            <a:off x="3098853" y="3152604"/>
            <a:ext cx="1178264" cy="369684"/>
          </a:xfrm>
          <a:prstGeom prst="rect">
            <a:avLst/>
          </a:prstGeom>
          <a:noFill/>
          <a:ln/>
        </p:spPr>
        <p:txBody>
          <a:bodyPr wrap="square" lIns="0" tIns="0" rIns="0" bIns="0" rtlCol="0" anchor="t">
            <a:normAutofit/>
          </a:bodyPr>
          <a:lstStyle/>
          <a:p>
            <a:pPr algn="ctr" indent="0" marL="0">
              <a:lnSpc>
                <a:spcPct val="104000"/>
              </a:lnSpc>
              <a:buNone/>
            </a:pPr>
            <a:r>
              <a:rPr lang="en-US" sz="1150" b="1" dirty="0">
                <a:solidFill>
                  <a:srgbClr val="000000"/>
                </a:solidFill>
                <a:latin typeface="Merriweather Bold" pitchFamily="34" charset="0"/>
                <a:ea typeface="Merriweather Bold" pitchFamily="34" charset="-122"/>
                <a:cs typeface="Merriweather Bold" pitchFamily="34" charset="-120"/>
              </a:rPr>
              <a:t>Sensitive Objections</a:t>
            </a:r>
            <a:endParaRPr lang="en-US" sz="1150" dirty="0"/>
          </a:p>
        </p:txBody>
      </p:sp>
      <p:sp>
        <p:nvSpPr>
          <p:cNvPr id="10" name="Text 7"/>
          <p:cNvSpPr/>
          <p:nvPr/>
        </p:nvSpPr>
        <p:spPr>
          <a:xfrm>
            <a:off x="3098853" y="3574865"/>
            <a:ext cx="1178264" cy="494144"/>
          </a:xfrm>
          <a:prstGeom prst="rect">
            <a:avLst/>
          </a:prstGeom>
          <a:noFill/>
          <a:ln/>
        </p:spPr>
        <p:txBody>
          <a:bodyPr wrap="square" lIns="0" tIns="0" rIns="0" bIns="0" rtlCol="0" anchor="t">
            <a:normAutofit/>
          </a:bodyPr>
          <a:lstStyle/>
          <a:p>
            <a:pPr algn="ctr" indent="0" marL="0">
              <a:lnSpc>
                <a:spcPct val="87000"/>
              </a:lnSpc>
              <a:buNone/>
            </a:pPr>
            <a:r>
              <a:rPr lang="en-US" sz="900" dirty="0">
                <a:solidFill>
                  <a:srgbClr val="000000"/>
                </a:solidFill>
                <a:latin typeface="Open Sans" pitchFamily="34" charset="0"/>
                <a:ea typeface="Open Sans" pitchFamily="34" charset="-122"/>
                <a:cs typeface="Open Sans" pitchFamily="34" charset="-120"/>
              </a:rPr>
              <a:t>Empathy and judgment resolve delicate customer concerns.</a:t>
            </a:r>
            <a:endParaRPr lang="en-US" sz="900" dirty="0"/>
          </a:p>
        </p:txBody>
      </p:sp>
      <p:sp>
        <p:nvSpPr>
          <p:cNvPr id="11" name="Text 8"/>
          <p:cNvSpPr/>
          <p:nvPr/>
        </p:nvSpPr>
        <p:spPr>
          <a:xfrm>
            <a:off x="4873232" y="3214321"/>
            <a:ext cx="1178264" cy="369684"/>
          </a:xfrm>
          <a:prstGeom prst="rect">
            <a:avLst/>
          </a:prstGeom>
          <a:noFill/>
          <a:ln/>
        </p:spPr>
        <p:txBody>
          <a:bodyPr wrap="square" lIns="0" tIns="0" rIns="0" bIns="0" rtlCol="0" anchor="t">
            <a:normAutofit/>
          </a:bodyPr>
          <a:lstStyle/>
          <a:p>
            <a:pPr algn="ctr" indent="0" marL="0">
              <a:lnSpc>
                <a:spcPct val="104000"/>
              </a:lnSpc>
              <a:buNone/>
            </a:pPr>
            <a:r>
              <a:rPr lang="en-US" sz="1150" b="1" dirty="0">
                <a:solidFill>
                  <a:srgbClr val="000000"/>
                </a:solidFill>
                <a:latin typeface="Merriweather Bold" pitchFamily="34" charset="0"/>
                <a:ea typeface="Merriweather Bold" pitchFamily="34" charset="-122"/>
                <a:cs typeface="Merriweather Bold" pitchFamily="34" charset="-120"/>
              </a:rPr>
              <a:t>Escalation Scenarios</a:t>
            </a:r>
            <a:endParaRPr lang="en-US" sz="1150" dirty="0"/>
          </a:p>
        </p:txBody>
      </p:sp>
      <p:sp>
        <p:nvSpPr>
          <p:cNvPr id="12" name="Text 9"/>
          <p:cNvSpPr/>
          <p:nvPr/>
        </p:nvSpPr>
        <p:spPr>
          <a:xfrm>
            <a:off x="4873232" y="3636581"/>
            <a:ext cx="1178264" cy="370608"/>
          </a:xfrm>
          <a:prstGeom prst="rect">
            <a:avLst/>
          </a:prstGeom>
          <a:noFill/>
          <a:ln/>
        </p:spPr>
        <p:txBody>
          <a:bodyPr wrap="square" lIns="0" tIns="0" rIns="0" bIns="0" rtlCol="0" anchor="t">
            <a:normAutofit/>
          </a:bodyPr>
          <a:lstStyle/>
          <a:p>
            <a:pPr algn="ctr" indent="0" marL="0">
              <a:lnSpc>
                <a:spcPct val="87000"/>
              </a:lnSpc>
              <a:buNone/>
            </a:pPr>
            <a:r>
              <a:rPr lang="en-US" sz="900" dirty="0">
                <a:solidFill>
                  <a:srgbClr val="000000"/>
                </a:solidFill>
                <a:latin typeface="Open Sans" pitchFamily="34" charset="0"/>
                <a:ea typeface="Open Sans" pitchFamily="34" charset="-122"/>
                <a:cs typeface="Open Sans" pitchFamily="34" charset="-120"/>
              </a:rPr>
              <a:t>Humans intervene for complex or critical outcomes.</a:t>
            </a:r>
            <a:endParaRPr lang="en-US" sz="900" dirty="0"/>
          </a:p>
        </p:txBody>
      </p:sp>
      <p:sp>
        <p:nvSpPr>
          <p:cNvPr id="13" name="Text 10"/>
          <p:cNvSpPr/>
          <p:nvPr/>
        </p:nvSpPr>
        <p:spPr>
          <a:xfrm>
            <a:off x="1285875" y="4621188"/>
            <a:ext cx="6572250" cy="254794"/>
          </a:xfrm>
          <a:prstGeom prst="rect">
            <a:avLst/>
          </a:prstGeom>
          <a:noFill/>
          <a:ln/>
        </p:spPr>
        <p:txBody>
          <a:bodyPr wrap="square" lIns="0" tIns="0" rIns="0" bIns="0" rtlCol="0" anchor="t">
            <a:normAutofit/>
          </a:bodyPr>
          <a:lstStyle/>
          <a:p>
            <a:pPr algn="l" indent="0" marL="0">
              <a:lnSpc>
                <a:spcPct val="111000"/>
              </a:lnSpc>
              <a:buNone/>
            </a:pPr>
            <a:r>
              <a:rPr lang="en-US" sz="750" dirty="0">
                <a:solidFill>
                  <a:srgbClr val="403C4E"/>
                </a:solidFill>
                <a:latin typeface="Open Sans" pitchFamily="34" charset="0"/>
                <a:ea typeface="Open Sans" pitchFamily="34" charset="-122"/>
                <a:cs typeface="Open Sans" pitchFamily="34" charset="-120"/>
              </a:rPr>
              <a:t>By consciously integrating human oversight, Salespeak ensures agents operate within their optimal bounds, elevating critical interactions and building trust.</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1209452" y="296614"/>
            <a:ext cx="518592" cy="163562"/>
          </a:xfrm>
          <a:prstGeom prst="roundRect">
            <a:avLst>
              <a:gd name="adj" fmla="val 20022"/>
            </a:avLst>
          </a:prstGeom>
          <a:solidFill>
            <a:srgbClr val="FFD8CC"/>
          </a:solidFill>
          <a:ln/>
        </p:spPr>
      </p:sp>
      <p:sp>
        <p:nvSpPr>
          <p:cNvPr id="3" name="Text 1"/>
          <p:cNvSpPr/>
          <p:nvPr/>
        </p:nvSpPr>
        <p:spPr>
          <a:xfrm>
            <a:off x="1267867" y="325785"/>
            <a:ext cx="858962" cy="105221"/>
          </a:xfrm>
          <a:prstGeom prst="rect">
            <a:avLst/>
          </a:prstGeom>
          <a:noFill/>
          <a:ln/>
        </p:spPr>
        <p:txBody>
          <a:bodyPr wrap="none" lIns="0" tIns="0" rIns="0" bIns="0" rtlCol="0" anchor="t"/>
          <a:lstStyle/>
          <a:p>
            <a:pPr algn="l" indent="0" marL="0">
              <a:lnSpc>
                <a:spcPct val="112000"/>
              </a:lnSpc>
              <a:buNone/>
            </a:pPr>
            <a:r>
              <a:rPr lang="en-US" sz="600" dirty="0">
                <a:solidFill>
                  <a:srgbClr val="403C4E"/>
                </a:solidFill>
                <a:latin typeface="Open Sans" pitchFamily="34" charset="0"/>
                <a:ea typeface="Open Sans" pitchFamily="34" charset="-122"/>
                <a:cs typeface="Open Sans" pitchFamily="34" charset="-120"/>
              </a:rPr>
              <a:t>CHAPTER 5</a:t>
            </a:r>
            <a:endParaRPr lang="en-US" sz="600" dirty="0"/>
          </a:p>
        </p:txBody>
      </p:sp>
      <p:sp>
        <p:nvSpPr>
          <p:cNvPr id="4" name="Text 2"/>
          <p:cNvSpPr/>
          <p:nvPr/>
        </p:nvSpPr>
        <p:spPr>
          <a:xfrm>
            <a:off x="1776710" y="325785"/>
            <a:ext cx="1232892" cy="105221"/>
          </a:xfrm>
          <a:prstGeom prst="rect">
            <a:avLst/>
          </a:prstGeom>
          <a:noFill/>
          <a:ln/>
        </p:spPr>
        <p:txBody>
          <a:bodyPr wrap="none" lIns="0" tIns="0" rIns="0" bIns="0" rtlCol="0" anchor="t"/>
          <a:lstStyle/>
          <a:p>
            <a:pPr algn="l" indent="0" marL="0">
              <a:lnSpc>
                <a:spcPct val="112000"/>
              </a:lnSpc>
              <a:buNone/>
            </a:pPr>
            <a:r>
              <a:rPr lang="en-US" sz="600" dirty="0">
                <a:solidFill>
                  <a:srgbClr val="FFAD94"/>
                </a:solidFill>
                <a:latin typeface="Open Sans" pitchFamily="34" charset="0"/>
                <a:ea typeface="Open Sans" pitchFamily="34" charset="-122"/>
                <a:cs typeface="Open Sans" pitchFamily="34" charset="-120"/>
              </a:rPr>
              <a:t>QUALITY ASSURANCE</a:t>
            </a:r>
            <a:endParaRPr lang="en-US" sz="600" dirty="0"/>
          </a:p>
        </p:txBody>
      </p:sp>
      <p:sp>
        <p:nvSpPr>
          <p:cNvPr id="5" name="Text 3"/>
          <p:cNvSpPr/>
          <p:nvPr/>
        </p:nvSpPr>
        <p:spPr>
          <a:xfrm>
            <a:off x="1209452" y="486966"/>
            <a:ext cx="6408241" cy="304502"/>
          </a:xfrm>
          <a:prstGeom prst="rect">
            <a:avLst/>
          </a:prstGeom>
          <a:noFill/>
          <a:ln/>
        </p:spPr>
        <p:txBody>
          <a:bodyPr wrap="none" lIns="0" tIns="0" rIns="0" bIns="0" rtlCol="0" anchor="t"/>
          <a:lstStyle/>
          <a:p>
            <a:pPr algn="l" indent="0" marL="0">
              <a:lnSpc>
                <a:spcPct val="104000"/>
              </a:lnSpc>
              <a:buNone/>
            </a:pPr>
            <a:r>
              <a:rPr lang="en-US" sz="1900" b="1" dirty="0">
                <a:solidFill>
                  <a:srgbClr val="403C4E"/>
                </a:solidFill>
                <a:latin typeface="Merriweather Bold" pitchFamily="34" charset="0"/>
                <a:ea typeface="Merriweather Bold" pitchFamily="34" charset="-122"/>
                <a:cs typeface="Merriweather Bold" pitchFamily="34" charset="-120"/>
              </a:rPr>
              <a:t>Human-in-the-Loop + Automated Quality Control</a:t>
            </a:r>
            <a:endParaRPr lang="en-US" sz="1900" dirty="0"/>
          </a:p>
        </p:txBody>
      </p:sp>
      <p:sp>
        <p:nvSpPr>
          <p:cNvPr id="6" name="Text 4"/>
          <p:cNvSpPr/>
          <p:nvPr/>
        </p:nvSpPr>
        <p:spPr>
          <a:xfrm>
            <a:off x="1209452" y="891927"/>
            <a:ext cx="7182222" cy="131564"/>
          </a:xfrm>
          <a:prstGeom prst="rect">
            <a:avLst/>
          </a:prstGeom>
          <a:noFill/>
          <a:ln/>
        </p:spPr>
        <p:txBody>
          <a:bodyPr wrap="none" lIns="0" tIns="0" rIns="0" bIns="0" rtlCol="0" anchor="t"/>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Smart agents don’t just respond. They evaluate themselves, learning and adapting through a rigorous quality assurance framework.</a:t>
            </a:r>
            <a:endParaRPr lang="en-US" sz="750" dirty="0"/>
          </a:p>
        </p:txBody>
      </p:sp>
      <p:sp>
        <p:nvSpPr>
          <p:cNvPr id="7" name="Text 5"/>
          <p:cNvSpPr/>
          <p:nvPr/>
        </p:nvSpPr>
        <p:spPr>
          <a:xfrm>
            <a:off x="1209452" y="1098872"/>
            <a:ext cx="194890" cy="121816"/>
          </a:xfrm>
          <a:prstGeom prst="rect">
            <a:avLst/>
          </a:prstGeom>
          <a:noFill/>
          <a:ln/>
        </p:spPr>
        <p:txBody>
          <a:bodyPr wrap="none" lIns="0" tIns="0" rIns="0" bIns="0" rtlCol="0" anchor="ctr"/>
          <a:lstStyle/>
          <a:p>
            <a:pPr algn="l" indent="0" marL="0">
              <a:lnSpc>
                <a:spcPct val="100000"/>
              </a:lnSpc>
              <a:buNone/>
            </a:pPr>
            <a:r>
              <a:rPr lang="en-US" sz="750" dirty="0">
                <a:solidFill>
                  <a:srgbClr val="403C4E"/>
                </a:solidFill>
                <a:latin typeface="Merriweather Light" pitchFamily="34" charset="0"/>
                <a:ea typeface="Merriweather Light" pitchFamily="34" charset="-122"/>
                <a:cs typeface="Merriweather Light" pitchFamily="34" charset="-120"/>
              </a:rPr>
              <a:t>01</a:t>
            </a:r>
            <a:endParaRPr lang="en-US" sz="750" dirty="0"/>
          </a:p>
        </p:txBody>
      </p:sp>
      <p:sp>
        <p:nvSpPr>
          <p:cNvPr id="8" name="Shape 6"/>
          <p:cNvSpPr/>
          <p:nvPr/>
        </p:nvSpPr>
        <p:spPr>
          <a:xfrm>
            <a:off x="1209452" y="1250156"/>
            <a:ext cx="2197001" cy="14288"/>
          </a:xfrm>
          <a:prstGeom prst="rect">
            <a:avLst/>
          </a:prstGeom>
          <a:solidFill>
            <a:srgbClr val="FFAD94"/>
          </a:solidFill>
          <a:ln/>
        </p:spPr>
      </p:sp>
      <p:sp>
        <p:nvSpPr>
          <p:cNvPr id="9" name="Text 7"/>
          <p:cNvSpPr/>
          <p:nvPr/>
        </p:nvSpPr>
        <p:spPr>
          <a:xfrm>
            <a:off x="1209452" y="1327398"/>
            <a:ext cx="1423169"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Automatic Chat Scoring</a:t>
            </a:r>
            <a:endParaRPr lang="en-US" sz="950" dirty="0"/>
          </a:p>
        </p:txBody>
      </p:sp>
      <p:sp>
        <p:nvSpPr>
          <p:cNvPr id="10" name="Text 8"/>
          <p:cNvSpPr/>
          <p:nvPr/>
        </p:nvSpPr>
        <p:spPr>
          <a:xfrm>
            <a:off x="1209452" y="1519833"/>
            <a:ext cx="2197001" cy="131564"/>
          </a:xfrm>
          <a:prstGeom prst="rect">
            <a:avLst/>
          </a:prstGeom>
          <a:noFill/>
          <a:ln/>
        </p:spPr>
        <p:txBody>
          <a:bodyPr wrap="none" lIns="0" tIns="0" rIns="0" bIns="0" rtlCol="0" anchor="t"/>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Every conversation gets a score based on:</a:t>
            </a:r>
            <a:endParaRPr lang="en-US" sz="750" dirty="0"/>
          </a:p>
        </p:txBody>
      </p:sp>
      <p:sp>
        <p:nvSpPr>
          <p:cNvPr id="11" name="Text 9"/>
          <p:cNvSpPr/>
          <p:nvPr/>
        </p:nvSpPr>
        <p:spPr>
          <a:xfrm>
            <a:off x="1209452" y="1691580"/>
            <a:ext cx="2197001" cy="906587"/>
          </a:xfrm>
          <a:prstGeom prst="rect">
            <a:avLst/>
          </a:prstGeom>
          <a:noFill/>
          <a:ln/>
        </p:spPr>
        <p:txBody>
          <a:bodyPr wrap="square" lIns="0" tIns="0" rIns="0" bIns="0" rtlCol="0" anchor="t">
            <a:normAutofit/>
          </a:bodyPr>
          <a:lstStyle/>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Discovery completeness</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Goal progression</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Relevance of questions</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Context retention</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Objection handling quality</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Hallucination / fabrication detection</a:t>
            </a:r>
            <a:endParaRPr lang="en-US" sz="750" dirty="0"/>
          </a:p>
        </p:txBody>
      </p:sp>
      <p:sp>
        <p:nvSpPr>
          <p:cNvPr id="12" name="Text 10"/>
          <p:cNvSpPr/>
          <p:nvPr/>
        </p:nvSpPr>
        <p:spPr>
          <a:xfrm>
            <a:off x="1209452" y="2638351"/>
            <a:ext cx="2197001" cy="394692"/>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Score output includes an overall quality score (0–100), sub-scores per dimension, and a confidence level.</a:t>
            </a:r>
            <a:endParaRPr lang="en-US" sz="750" dirty="0"/>
          </a:p>
        </p:txBody>
      </p:sp>
      <p:sp>
        <p:nvSpPr>
          <p:cNvPr id="13" name="Text 11"/>
          <p:cNvSpPr/>
          <p:nvPr/>
        </p:nvSpPr>
        <p:spPr>
          <a:xfrm>
            <a:off x="3473425" y="1098872"/>
            <a:ext cx="194890" cy="121816"/>
          </a:xfrm>
          <a:prstGeom prst="rect">
            <a:avLst/>
          </a:prstGeom>
          <a:noFill/>
          <a:ln/>
        </p:spPr>
        <p:txBody>
          <a:bodyPr wrap="none" lIns="0" tIns="0" rIns="0" bIns="0" rtlCol="0" anchor="ctr"/>
          <a:lstStyle/>
          <a:p>
            <a:pPr algn="l" indent="0" marL="0">
              <a:lnSpc>
                <a:spcPct val="100000"/>
              </a:lnSpc>
              <a:buNone/>
            </a:pPr>
            <a:r>
              <a:rPr lang="en-US" sz="750" dirty="0">
                <a:solidFill>
                  <a:srgbClr val="403C4E"/>
                </a:solidFill>
                <a:latin typeface="Merriweather Light" pitchFamily="34" charset="0"/>
                <a:ea typeface="Merriweather Light" pitchFamily="34" charset="-122"/>
                <a:cs typeface="Merriweather Light" pitchFamily="34" charset="-120"/>
              </a:rPr>
              <a:t>02</a:t>
            </a:r>
            <a:endParaRPr lang="en-US" sz="750" dirty="0"/>
          </a:p>
        </p:txBody>
      </p:sp>
      <p:sp>
        <p:nvSpPr>
          <p:cNvPr id="14" name="Shape 12"/>
          <p:cNvSpPr/>
          <p:nvPr/>
        </p:nvSpPr>
        <p:spPr>
          <a:xfrm>
            <a:off x="3473425" y="1250156"/>
            <a:ext cx="2197001" cy="14288"/>
          </a:xfrm>
          <a:prstGeom prst="rect">
            <a:avLst/>
          </a:prstGeom>
          <a:solidFill>
            <a:srgbClr val="FFAD94"/>
          </a:solidFill>
          <a:ln/>
        </p:spPr>
      </p:sp>
      <p:sp>
        <p:nvSpPr>
          <p:cNvPr id="15" name="Text 13"/>
          <p:cNvSpPr/>
          <p:nvPr/>
        </p:nvSpPr>
        <p:spPr>
          <a:xfrm>
            <a:off x="3473425" y="1327398"/>
            <a:ext cx="1624161"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Slack Alerts for Low Scores</a:t>
            </a:r>
            <a:endParaRPr lang="en-US" sz="950" dirty="0"/>
          </a:p>
        </p:txBody>
      </p:sp>
      <p:sp>
        <p:nvSpPr>
          <p:cNvPr id="16" name="Text 14"/>
          <p:cNvSpPr/>
          <p:nvPr/>
        </p:nvSpPr>
        <p:spPr>
          <a:xfrm>
            <a:off x="3473425" y="1519833"/>
            <a:ext cx="2197001"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If a conversation score falls below a predefined threshold:</a:t>
            </a:r>
            <a:endParaRPr lang="en-US" sz="750" dirty="0"/>
          </a:p>
        </p:txBody>
      </p:sp>
      <p:sp>
        <p:nvSpPr>
          <p:cNvPr id="17" name="Text 15"/>
          <p:cNvSpPr/>
          <p:nvPr/>
        </p:nvSpPr>
        <p:spPr>
          <a:xfrm>
            <a:off x="3473425" y="1823145"/>
            <a:ext cx="2197001" cy="887909"/>
          </a:xfrm>
          <a:prstGeom prst="rect">
            <a:avLst/>
          </a:prstGeom>
          <a:noFill/>
          <a:ln/>
        </p:spPr>
        <p:txBody>
          <a:bodyPr wrap="square" lIns="0" tIns="0" rIns="0" bIns="0" rtlCol="0" anchor="t">
            <a:normAutofit/>
          </a:bodyPr>
          <a:lstStyle/>
          <a:p>
            <a:pPr algn="l" marL="342900" indent="-342900">
              <a:lnSpc>
                <a:spcPct val="113000"/>
              </a:lnSpc>
              <a:buSzPct val="100000"/>
              <a:buChar char="•"/>
            </a:pPr>
            <a:r>
              <a:rPr lang="en-US" sz="750" dirty="0">
                <a:solidFill>
                  <a:srgbClr val="000000"/>
                </a:solidFill>
                <a:latin typeface="Open Sans" pitchFamily="34" charset="0"/>
                <a:ea typeface="Open Sans" pitchFamily="34" charset="-122"/>
                <a:cs typeface="Open Sans" pitchFamily="34" charset="-120"/>
              </a:rPr>
              <a:t>🚨</a:t>
            </a:r>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 Slack notification sent to RevOps / AI owner</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Summary of the conversation</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Extracted state</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Where the agent failed</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Suggested improvement area</a:t>
            </a:r>
            <a:endParaRPr lang="en-US" sz="750" dirty="0"/>
          </a:p>
        </p:txBody>
      </p:sp>
      <p:sp>
        <p:nvSpPr>
          <p:cNvPr id="18" name="Text 16"/>
          <p:cNvSpPr/>
          <p:nvPr/>
        </p:nvSpPr>
        <p:spPr>
          <a:xfrm>
            <a:off x="3473425" y="2751237"/>
            <a:ext cx="2197001"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This system turns failures into visible, actionable events for rapid intervention.</a:t>
            </a:r>
            <a:endParaRPr lang="en-US" sz="750" dirty="0"/>
          </a:p>
        </p:txBody>
      </p:sp>
      <p:sp>
        <p:nvSpPr>
          <p:cNvPr id="19" name="Text 17"/>
          <p:cNvSpPr/>
          <p:nvPr/>
        </p:nvSpPr>
        <p:spPr>
          <a:xfrm>
            <a:off x="5737399" y="1098872"/>
            <a:ext cx="194890" cy="121816"/>
          </a:xfrm>
          <a:prstGeom prst="rect">
            <a:avLst/>
          </a:prstGeom>
          <a:noFill/>
          <a:ln/>
        </p:spPr>
        <p:txBody>
          <a:bodyPr wrap="none" lIns="0" tIns="0" rIns="0" bIns="0" rtlCol="0" anchor="ctr"/>
          <a:lstStyle/>
          <a:p>
            <a:pPr algn="l" indent="0" marL="0">
              <a:lnSpc>
                <a:spcPct val="100000"/>
              </a:lnSpc>
              <a:buNone/>
            </a:pPr>
            <a:r>
              <a:rPr lang="en-US" sz="750" dirty="0">
                <a:solidFill>
                  <a:srgbClr val="403C4E"/>
                </a:solidFill>
                <a:latin typeface="Merriweather Light" pitchFamily="34" charset="0"/>
                <a:ea typeface="Merriweather Light" pitchFamily="34" charset="-122"/>
                <a:cs typeface="Merriweather Light" pitchFamily="34" charset="-120"/>
              </a:rPr>
              <a:t>03</a:t>
            </a:r>
            <a:endParaRPr lang="en-US" sz="750" dirty="0"/>
          </a:p>
        </p:txBody>
      </p:sp>
      <p:sp>
        <p:nvSpPr>
          <p:cNvPr id="20" name="Shape 18"/>
          <p:cNvSpPr/>
          <p:nvPr/>
        </p:nvSpPr>
        <p:spPr>
          <a:xfrm>
            <a:off x="5737399" y="1250156"/>
            <a:ext cx="2197001" cy="14288"/>
          </a:xfrm>
          <a:prstGeom prst="rect">
            <a:avLst/>
          </a:prstGeom>
          <a:solidFill>
            <a:srgbClr val="FFAD94"/>
          </a:solidFill>
          <a:ln/>
        </p:spPr>
      </p:sp>
      <p:sp>
        <p:nvSpPr>
          <p:cNvPr id="21" name="Text 19"/>
          <p:cNvSpPr/>
          <p:nvPr/>
        </p:nvSpPr>
        <p:spPr>
          <a:xfrm>
            <a:off x="5737399" y="1327398"/>
            <a:ext cx="1282154"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Human Review Layer</a:t>
            </a:r>
            <a:endParaRPr lang="en-US" sz="950" dirty="0"/>
          </a:p>
        </p:txBody>
      </p:sp>
      <p:sp>
        <p:nvSpPr>
          <p:cNvPr id="22" name="Text 20"/>
          <p:cNvSpPr/>
          <p:nvPr/>
        </p:nvSpPr>
        <p:spPr>
          <a:xfrm>
            <a:off x="5737399" y="1519833"/>
            <a:ext cx="2197001"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Low-scoring conversations automatically enter a review queue. Reviewers see:</a:t>
            </a:r>
            <a:endParaRPr lang="en-US" sz="750" dirty="0"/>
          </a:p>
        </p:txBody>
      </p:sp>
      <p:sp>
        <p:nvSpPr>
          <p:cNvPr id="23" name="Text 21"/>
          <p:cNvSpPr/>
          <p:nvPr/>
        </p:nvSpPr>
        <p:spPr>
          <a:xfrm>
            <a:off x="5737399" y="1823145"/>
            <a:ext cx="2197001" cy="596578"/>
          </a:xfrm>
          <a:prstGeom prst="rect">
            <a:avLst/>
          </a:prstGeom>
          <a:noFill/>
          <a:ln/>
        </p:spPr>
        <p:txBody>
          <a:bodyPr wrap="square" lIns="0" tIns="0" rIns="0" bIns="0" rtlCol="0" anchor="t">
            <a:normAutofit/>
          </a:bodyPr>
          <a:lstStyle/>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Full trace (similar to LangSmith)</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Prompt version used</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Tool calls + memory state</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Evaluation breakdown</a:t>
            </a:r>
            <a:endParaRPr lang="en-US" sz="750" dirty="0"/>
          </a:p>
        </p:txBody>
      </p:sp>
      <p:sp>
        <p:nvSpPr>
          <p:cNvPr id="24" name="Text 22"/>
          <p:cNvSpPr/>
          <p:nvPr/>
        </p:nvSpPr>
        <p:spPr>
          <a:xfrm>
            <a:off x="5737399" y="2459906"/>
            <a:ext cx="2197001" cy="526256"/>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The human can then label the failure type, approve/override, suggest corrections, or mark as a training example, ensuring quality improves systematically.</a:t>
            </a:r>
            <a:endParaRPr lang="en-US" sz="750" dirty="0"/>
          </a:p>
        </p:txBody>
      </p:sp>
      <p:sp>
        <p:nvSpPr>
          <p:cNvPr id="25" name="Text 23"/>
          <p:cNvSpPr/>
          <p:nvPr/>
        </p:nvSpPr>
        <p:spPr>
          <a:xfrm>
            <a:off x="1209452" y="3173090"/>
            <a:ext cx="194890" cy="121816"/>
          </a:xfrm>
          <a:prstGeom prst="rect">
            <a:avLst/>
          </a:prstGeom>
          <a:noFill/>
          <a:ln/>
        </p:spPr>
        <p:txBody>
          <a:bodyPr wrap="none" lIns="0" tIns="0" rIns="0" bIns="0" rtlCol="0" anchor="ctr"/>
          <a:lstStyle/>
          <a:p>
            <a:pPr algn="l" indent="0" marL="0">
              <a:lnSpc>
                <a:spcPct val="100000"/>
              </a:lnSpc>
              <a:buNone/>
            </a:pPr>
            <a:r>
              <a:rPr lang="en-US" sz="750" dirty="0">
                <a:solidFill>
                  <a:srgbClr val="403C4E"/>
                </a:solidFill>
                <a:latin typeface="Merriweather Light" pitchFamily="34" charset="0"/>
                <a:ea typeface="Merriweather Light" pitchFamily="34" charset="-122"/>
                <a:cs typeface="Merriweather Light" pitchFamily="34" charset="-120"/>
              </a:rPr>
              <a:t>04</a:t>
            </a:r>
            <a:endParaRPr lang="en-US" sz="750" dirty="0"/>
          </a:p>
        </p:txBody>
      </p:sp>
      <p:sp>
        <p:nvSpPr>
          <p:cNvPr id="26" name="Shape 24"/>
          <p:cNvSpPr/>
          <p:nvPr/>
        </p:nvSpPr>
        <p:spPr>
          <a:xfrm>
            <a:off x="1209452" y="3324374"/>
            <a:ext cx="3328988" cy="14288"/>
          </a:xfrm>
          <a:prstGeom prst="rect">
            <a:avLst/>
          </a:prstGeom>
          <a:solidFill>
            <a:srgbClr val="FFAD94"/>
          </a:solidFill>
          <a:ln/>
        </p:spPr>
      </p:sp>
      <p:sp>
        <p:nvSpPr>
          <p:cNvPr id="27" name="Text 25"/>
          <p:cNvSpPr/>
          <p:nvPr/>
        </p:nvSpPr>
        <p:spPr>
          <a:xfrm>
            <a:off x="1209452" y="3401616"/>
            <a:ext cx="1530548"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Auto Prompt Suggestions</a:t>
            </a:r>
            <a:endParaRPr lang="en-US" sz="950" dirty="0"/>
          </a:p>
        </p:txBody>
      </p:sp>
      <p:sp>
        <p:nvSpPr>
          <p:cNvPr id="28" name="Text 26"/>
          <p:cNvSpPr/>
          <p:nvPr/>
        </p:nvSpPr>
        <p:spPr>
          <a:xfrm>
            <a:off x="1209452" y="3594050"/>
            <a:ext cx="3328988" cy="394692"/>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The system analyzes patterns from reviewed conversations (e.g., "Agent pitches too early," "Missing budget extraction," "Objection reframing weak") and generates:</a:t>
            </a:r>
            <a:endParaRPr lang="en-US" sz="750" dirty="0"/>
          </a:p>
        </p:txBody>
      </p:sp>
      <p:sp>
        <p:nvSpPr>
          <p:cNvPr id="29" name="Text 27"/>
          <p:cNvSpPr/>
          <p:nvPr/>
        </p:nvSpPr>
        <p:spPr>
          <a:xfrm>
            <a:off x="1209452" y="4028926"/>
            <a:ext cx="3328988" cy="441573"/>
          </a:xfrm>
          <a:prstGeom prst="rect">
            <a:avLst/>
          </a:prstGeom>
          <a:noFill/>
          <a:ln/>
        </p:spPr>
        <p:txBody>
          <a:bodyPr wrap="square" lIns="0" tIns="0" rIns="0" bIns="0" rtlCol="0" anchor="t">
            <a:normAutofit/>
          </a:bodyPr>
          <a:lstStyle/>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Suggested prompt adjustment</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Revised instruction snippet</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Structured diff vs. current prompt</a:t>
            </a:r>
            <a:endParaRPr lang="en-US" sz="750" dirty="0"/>
          </a:p>
        </p:txBody>
      </p:sp>
      <p:sp>
        <p:nvSpPr>
          <p:cNvPr id="30" name="Text 28"/>
          <p:cNvSpPr/>
          <p:nvPr/>
        </p:nvSpPr>
        <p:spPr>
          <a:xfrm>
            <a:off x="1209452" y="4510683"/>
            <a:ext cx="3328988"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Human approval leads to a versioned update, making prompts version-controlled assets, not guesswork.</a:t>
            </a:r>
            <a:endParaRPr lang="en-US" sz="750" dirty="0"/>
          </a:p>
        </p:txBody>
      </p:sp>
      <p:sp>
        <p:nvSpPr>
          <p:cNvPr id="31" name="Text 29"/>
          <p:cNvSpPr/>
          <p:nvPr/>
        </p:nvSpPr>
        <p:spPr>
          <a:xfrm>
            <a:off x="4605412" y="3173090"/>
            <a:ext cx="194890" cy="121816"/>
          </a:xfrm>
          <a:prstGeom prst="rect">
            <a:avLst/>
          </a:prstGeom>
          <a:noFill/>
          <a:ln/>
        </p:spPr>
        <p:txBody>
          <a:bodyPr wrap="none" lIns="0" tIns="0" rIns="0" bIns="0" rtlCol="0" anchor="ctr"/>
          <a:lstStyle/>
          <a:p>
            <a:pPr algn="l" indent="0" marL="0">
              <a:lnSpc>
                <a:spcPct val="100000"/>
              </a:lnSpc>
              <a:buNone/>
            </a:pPr>
            <a:r>
              <a:rPr lang="en-US" sz="750" dirty="0">
                <a:solidFill>
                  <a:srgbClr val="403C4E"/>
                </a:solidFill>
                <a:latin typeface="Merriweather Light" pitchFamily="34" charset="0"/>
                <a:ea typeface="Merriweather Light" pitchFamily="34" charset="-122"/>
                <a:cs typeface="Merriweather Light" pitchFamily="34" charset="-120"/>
              </a:rPr>
              <a:t>05</a:t>
            </a:r>
            <a:endParaRPr lang="en-US" sz="750" dirty="0"/>
          </a:p>
        </p:txBody>
      </p:sp>
      <p:sp>
        <p:nvSpPr>
          <p:cNvPr id="32" name="Shape 30"/>
          <p:cNvSpPr/>
          <p:nvPr/>
        </p:nvSpPr>
        <p:spPr>
          <a:xfrm>
            <a:off x="4605412" y="3324374"/>
            <a:ext cx="3328988" cy="14288"/>
          </a:xfrm>
          <a:prstGeom prst="rect">
            <a:avLst/>
          </a:prstGeom>
          <a:solidFill>
            <a:srgbClr val="FFAD94"/>
          </a:solidFill>
          <a:ln/>
        </p:spPr>
      </p:sp>
      <p:sp>
        <p:nvSpPr>
          <p:cNvPr id="33" name="Text 31"/>
          <p:cNvSpPr/>
          <p:nvPr/>
        </p:nvSpPr>
        <p:spPr>
          <a:xfrm>
            <a:off x="4605412" y="3401616"/>
            <a:ext cx="1454051" cy="152251"/>
          </a:xfrm>
          <a:prstGeom prst="rect">
            <a:avLst/>
          </a:prstGeom>
          <a:noFill/>
          <a:ln/>
        </p:spPr>
        <p:txBody>
          <a:bodyPr wrap="none" lIns="0" tIns="0" rIns="0" bIns="0" rtlCol="0" anchor="t"/>
          <a:lstStyle/>
          <a:p>
            <a:pPr algn="l" indent="0" marL="0">
              <a:lnSpc>
                <a:spcPct val="104000"/>
              </a:lnSpc>
              <a:buNone/>
            </a:pPr>
            <a:r>
              <a:rPr lang="en-US" sz="950" b="1" dirty="0">
                <a:solidFill>
                  <a:srgbClr val="403C4E"/>
                </a:solidFill>
                <a:latin typeface="Merriweather Bold" pitchFamily="34" charset="0"/>
                <a:ea typeface="Merriweather Bold" pitchFamily="34" charset="-122"/>
                <a:cs typeface="Merriweather Bold" pitchFamily="34" charset="-120"/>
              </a:rPr>
              <a:t>Auto “Retry &amp; Compare”</a:t>
            </a:r>
            <a:endParaRPr lang="en-US" sz="950" dirty="0"/>
          </a:p>
        </p:txBody>
      </p:sp>
      <p:sp>
        <p:nvSpPr>
          <p:cNvPr id="34" name="Text 32"/>
          <p:cNvSpPr/>
          <p:nvPr/>
        </p:nvSpPr>
        <p:spPr>
          <a:xfrm>
            <a:off x="4605412" y="3594050"/>
            <a:ext cx="3328988"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For identified failed chats, the system can automatically re-run the conversation with:</a:t>
            </a:r>
            <a:endParaRPr lang="en-US" sz="750" dirty="0"/>
          </a:p>
        </p:txBody>
      </p:sp>
      <p:sp>
        <p:nvSpPr>
          <p:cNvPr id="35" name="Text 33"/>
          <p:cNvSpPr/>
          <p:nvPr/>
        </p:nvSpPr>
        <p:spPr>
          <a:xfrm>
            <a:off x="4605412" y="3897362"/>
            <a:ext cx="3328988" cy="441573"/>
          </a:xfrm>
          <a:prstGeom prst="rect">
            <a:avLst/>
          </a:prstGeom>
          <a:noFill/>
          <a:ln/>
        </p:spPr>
        <p:txBody>
          <a:bodyPr wrap="square" lIns="0" tIns="0" rIns="0" bIns="0" rtlCol="0" anchor="t">
            <a:normAutofit/>
          </a:bodyPr>
          <a:lstStyle/>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An updated prompt</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A different model</a:t>
            </a:r>
            <a:endParaRPr lang="en-US" sz="750" dirty="0"/>
          </a:p>
          <a:p>
            <a:pPr algn="l" marL="342900" indent="-342900">
              <a:lnSpc>
                <a:spcPct val="113000"/>
              </a:lnSpc>
              <a:buSzPct val="100000"/>
              <a:buChar char="•"/>
            </a:pPr>
            <a:r>
              <a:rPr lang="en-US" sz="750" dirty="0">
                <a:solidFill>
                  <a:srgbClr val="403C4E"/>
                </a:solidFill>
                <a:latin typeface="Open Sans" pitchFamily="34" charset="0"/>
                <a:ea typeface="Open Sans" pitchFamily="34" charset="-122"/>
                <a:cs typeface="Open Sans" pitchFamily="34" charset="-120"/>
              </a:rPr>
              <a:t>Adjusted reasoning depth</a:t>
            </a:r>
            <a:endParaRPr lang="en-US" sz="750" dirty="0"/>
          </a:p>
        </p:txBody>
      </p:sp>
      <p:sp>
        <p:nvSpPr>
          <p:cNvPr id="36" name="Text 34"/>
          <p:cNvSpPr/>
          <p:nvPr/>
        </p:nvSpPr>
        <p:spPr>
          <a:xfrm>
            <a:off x="4605412" y="4379119"/>
            <a:ext cx="3328988" cy="263128"/>
          </a:xfrm>
          <a:prstGeom prst="rect">
            <a:avLst/>
          </a:prstGeom>
          <a:noFill/>
          <a:ln/>
        </p:spPr>
        <p:txBody>
          <a:bodyPr wrap="square" lIns="0" tIns="0" rIns="0" bIns="0" rtlCol="0" anchor="t">
            <a:normAutofit/>
          </a:bodyPr>
          <a:lstStyle/>
          <a:p>
            <a:pPr algn="l" indent="0" marL="0">
              <a:lnSpc>
                <a:spcPct val="113000"/>
              </a:lnSpc>
              <a:buNone/>
            </a:pPr>
            <a:r>
              <a:rPr lang="en-US" sz="750" dirty="0">
                <a:solidFill>
                  <a:srgbClr val="403C4E"/>
                </a:solidFill>
                <a:latin typeface="Open Sans" pitchFamily="34" charset="0"/>
                <a:ea typeface="Open Sans" pitchFamily="34" charset="-122"/>
                <a:cs typeface="Open Sans" pitchFamily="34" charset="-120"/>
              </a:rPr>
              <a:t>This allows for direct comparison of the score delta and latency delta, providing quantitative insights into improvements.</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45219" y="347588"/>
            <a:ext cx="4910658" cy="373782"/>
          </a:xfrm>
          <a:prstGeom prst="rect">
            <a:avLst/>
          </a:prstGeom>
          <a:noFill/>
          <a:ln/>
        </p:spPr>
        <p:txBody>
          <a:bodyPr wrap="none" lIns="0" tIns="0" rIns="0" bIns="0" rtlCol="0" anchor="t"/>
          <a:lstStyle/>
          <a:p>
            <a:pPr algn="l" indent="0" marL="0">
              <a:lnSpc>
                <a:spcPct val="104000"/>
              </a:lnSpc>
              <a:buNone/>
            </a:pPr>
            <a:r>
              <a:rPr lang="en-US" sz="2350" b="1" dirty="0">
                <a:solidFill>
                  <a:srgbClr val="403C4E"/>
                </a:solidFill>
                <a:latin typeface="Merriweather Bold" pitchFamily="34" charset="0"/>
                <a:ea typeface="Merriweather Bold" pitchFamily="34" charset="-122"/>
                <a:cs typeface="Merriweather Bold" pitchFamily="34" charset="-120"/>
              </a:rPr>
              <a:t>The Context Window Tradeoff</a:t>
            </a:r>
            <a:endParaRPr lang="en-US" sz="2350" dirty="0"/>
          </a:p>
        </p:txBody>
      </p:sp>
      <p:sp>
        <p:nvSpPr>
          <p:cNvPr id="3" name="Text 1"/>
          <p:cNvSpPr/>
          <p:nvPr/>
        </p:nvSpPr>
        <p:spPr>
          <a:xfrm>
            <a:off x="445219" y="923181"/>
            <a:ext cx="8253487"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403C4E"/>
                </a:solidFill>
                <a:latin typeface="Open Sans" pitchFamily="34" charset="0"/>
                <a:ea typeface="Open Sans" pitchFamily="34" charset="-122"/>
                <a:cs typeface="Open Sans" pitchFamily="34" charset="-120"/>
              </a:rPr>
              <a:t>Managing an AI agent's context window involves a critical balance between comprehensiveness and efficiency. Both "more" and "less" context come with distinct advantages and challenges.</a:t>
            </a:r>
            <a:endParaRPr lang="en-US" sz="900" dirty="0"/>
          </a:p>
        </p:txBody>
      </p:sp>
      <p:sp>
        <p:nvSpPr>
          <p:cNvPr id="4" name="Shape 2"/>
          <p:cNvSpPr/>
          <p:nvPr/>
        </p:nvSpPr>
        <p:spPr>
          <a:xfrm>
            <a:off x="359048" y="1389385"/>
            <a:ext cx="4153123" cy="1978000"/>
          </a:xfrm>
          <a:prstGeom prst="roundRect">
            <a:avLst>
              <a:gd name="adj" fmla="val 4354"/>
            </a:avLst>
          </a:prstGeom>
          <a:solidFill>
            <a:srgbClr val="FFAD94"/>
          </a:solidFill>
          <a:ln/>
        </p:spPr>
      </p:sp>
      <p:sp>
        <p:nvSpPr>
          <p:cNvPr id="5" name="Text 3"/>
          <p:cNvSpPr/>
          <p:nvPr/>
        </p:nvSpPr>
        <p:spPr>
          <a:xfrm>
            <a:off x="478631" y="1490290"/>
            <a:ext cx="2251397" cy="224210"/>
          </a:xfrm>
          <a:prstGeom prst="rect">
            <a:avLst/>
          </a:prstGeom>
          <a:noFill/>
          <a:ln/>
        </p:spPr>
        <p:txBody>
          <a:bodyPr wrap="none" lIns="0" tIns="0" rIns="0" bIns="0" rtlCol="0" anchor="t"/>
          <a:lstStyle/>
          <a:p>
            <a:pPr algn="l" indent="0" marL="0">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More Context</a:t>
            </a:r>
            <a:endParaRPr lang="en-US" sz="1400" dirty="0"/>
          </a:p>
        </p:txBody>
      </p:sp>
      <p:sp>
        <p:nvSpPr>
          <p:cNvPr id="6" name="Text 4"/>
          <p:cNvSpPr/>
          <p:nvPr/>
        </p:nvSpPr>
        <p:spPr>
          <a:xfrm>
            <a:off x="478631" y="1815405"/>
            <a:ext cx="3913956" cy="1516707"/>
          </a:xfrm>
          <a:prstGeom prst="rect">
            <a:avLst/>
          </a:prstGeom>
          <a:noFill/>
          <a:ln/>
        </p:spPr>
        <p:txBody>
          <a:bodyPr wrap="square" lIns="0" tIns="0" rIns="0" bIns="0" rtlCol="0" anchor="t">
            <a:normAutofit/>
          </a:bodyPr>
          <a:lstStyle/>
          <a:p>
            <a:pPr algn="l" marL="342900" indent="-342900">
              <a:lnSpc>
                <a:spcPct val="123000"/>
              </a:lnSpc>
              <a:buSzPct val="100000"/>
              <a:buChar char="•"/>
            </a:pPr>
            <a:r>
              <a:rPr lang="en-US" sz="900" b="1" dirty="0">
                <a:solidFill>
                  <a:srgbClr val="000000"/>
                </a:solidFill>
                <a:latin typeface="Open Sans" pitchFamily="34" charset="0"/>
                <a:ea typeface="Open Sans" pitchFamily="34" charset="-122"/>
                <a:cs typeface="Open Sans" pitchFamily="34" charset="-120"/>
              </a:rPr>
              <a:t>Better personalization:</a:t>
            </a:r>
            <a:pPr algn="l" marL="342900" indent="-342900">
              <a:lnSpc>
                <a:spcPct val="123000"/>
              </a:lnSpc>
              <a:buSzPct val="100000"/>
              <a:buChar char="•"/>
            </a:pPr>
            <a:r>
              <a:rPr lang="en-US" sz="900" dirty="0">
                <a:solidFill>
                  <a:srgbClr val="000000"/>
                </a:solidFill>
                <a:latin typeface="Open Sans" pitchFamily="34" charset="0"/>
                <a:ea typeface="Open Sans" pitchFamily="34" charset="-122"/>
                <a:cs typeface="Open Sans" pitchFamily="34" charset="-120"/>
              </a:rPr>
              <a:t> Agents can tailor responses more accurately with a richer understanding of past interactions.</a:t>
            </a:r>
            <a:endParaRPr lang="en-US" sz="900" dirty="0"/>
          </a:p>
          <a:p>
            <a:pPr algn="l" marL="342900" indent="-342900">
              <a:lnSpc>
                <a:spcPct val="123000"/>
              </a:lnSpc>
              <a:buSzPct val="100000"/>
              <a:buChar char="•"/>
            </a:pPr>
            <a:r>
              <a:rPr lang="en-US" sz="900" b="1" dirty="0">
                <a:solidFill>
                  <a:srgbClr val="000000"/>
                </a:solidFill>
                <a:latin typeface="Open Sans" pitchFamily="34" charset="0"/>
                <a:ea typeface="Open Sans" pitchFamily="34" charset="-122"/>
                <a:cs typeface="Open Sans" pitchFamily="34" charset="-120"/>
              </a:rPr>
              <a:t>Higher latency:</a:t>
            </a:r>
            <a:pPr algn="l" marL="342900" indent="-342900">
              <a:lnSpc>
                <a:spcPct val="123000"/>
              </a:lnSpc>
              <a:buSzPct val="100000"/>
              <a:buChar char="•"/>
            </a:pPr>
            <a:r>
              <a:rPr lang="en-US" sz="900" dirty="0">
                <a:solidFill>
                  <a:srgbClr val="000000"/>
                </a:solidFill>
                <a:latin typeface="Open Sans" pitchFamily="34" charset="0"/>
                <a:ea typeface="Open Sans" pitchFamily="34" charset="-122"/>
                <a:cs typeface="Open Sans" pitchFamily="34" charset="-120"/>
              </a:rPr>
              <a:t> Processing larger amounts of text takes more time, leading to slower response times.</a:t>
            </a:r>
            <a:endParaRPr lang="en-US" sz="900" dirty="0"/>
          </a:p>
          <a:p>
            <a:pPr algn="l" marL="342900" indent="-342900">
              <a:lnSpc>
                <a:spcPct val="123000"/>
              </a:lnSpc>
              <a:buSzPct val="100000"/>
              <a:buChar char="•"/>
            </a:pPr>
            <a:r>
              <a:rPr lang="en-US" sz="900" b="1" dirty="0">
                <a:solidFill>
                  <a:srgbClr val="000000"/>
                </a:solidFill>
                <a:latin typeface="Open Sans" pitchFamily="34" charset="0"/>
                <a:ea typeface="Open Sans" pitchFamily="34" charset="-122"/>
                <a:cs typeface="Open Sans" pitchFamily="34" charset="-120"/>
              </a:rPr>
              <a:t>More token cost:</a:t>
            </a:r>
            <a:pPr algn="l" marL="342900" indent="-342900">
              <a:lnSpc>
                <a:spcPct val="123000"/>
              </a:lnSpc>
              <a:buSzPct val="100000"/>
              <a:buChar char="•"/>
            </a:pPr>
            <a:r>
              <a:rPr lang="en-US" sz="900" dirty="0">
                <a:solidFill>
                  <a:srgbClr val="000000"/>
                </a:solidFill>
                <a:latin typeface="Open Sans" pitchFamily="34" charset="0"/>
                <a:ea typeface="Open Sans" pitchFamily="34" charset="-122"/>
                <a:cs typeface="Open Sans" pitchFamily="34" charset="-120"/>
              </a:rPr>
              <a:t> Increased context means higher API costs, impacting operational budgets.</a:t>
            </a:r>
            <a:endParaRPr lang="en-US" sz="900" dirty="0"/>
          </a:p>
          <a:p>
            <a:pPr algn="l" marL="342900" indent="-342900">
              <a:lnSpc>
                <a:spcPct val="123000"/>
              </a:lnSpc>
              <a:buSzPct val="100000"/>
              <a:buChar char="•"/>
            </a:pPr>
            <a:r>
              <a:rPr lang="en-US" sz="900" b="1" dirty="0">
                <a:solidFill>
                  <a:srgbClr val="000000"/>
                </a:solidFill>
                <a:latin typeface="Open Sans" pitchFamily="34" charset="0"/>
                <a:ea typeface="Open Sans" pitchFamily="34" charset="-122"/>
                <a:cs typeface="Open Sans" pitchFamily="34" charset="-120"/>
              </a:rPr>
              <a:t>More confusion risk:</a:t>
            </a:r>
            <a:pPr algn="l" marL="342900" indent="-342900">
              <a:lnSpc>
                <a:spcPct val="123000"/>
              </a:lnSpc>
              <a:buSzPct val="100000"/>
              <a:buChar char="•"/>
            </a:pPr>
            <a:r>
              <a:rPr lang="en-US" sz="900" dirty="0">
                <a:solidFill>
                  <a:srgbClr val="000000"/>
                </a:solidFill>
                <a:latin typeface="Open Sans" pitchFamily="34" charset="0"/>
                <a:ea typeface="Open Sans" pitchFamily="34" charset="-122"/>
                <a:cs typeface="Open Sans" pitchFamily="34" charset="-120"/>
              </a:rPr>
              <a:t> Irrelevant information can dilute focus, potentially leading to less accurate or more generic responses.</a:t>
            </a:r>
            <a:endParaRPr lang="en-US" sz="900" dirty="0"/>
          </a:p>
        </p:txBody>
      </p:sp>
      <p:sp>
        <p:nvSpPr>
          <p:cNvPr id="7" name="Text 5"/>
          <p:cNvSpPr/>
          <p:nvPr/>
        </p:nvSpPr>
        <p:spPr>
          <a:xfrm>
            <a:off x="4722614" y="1490290"/>
            <a:ext cx="2251397" cy="224210"/>
          </a:xfrm>
          <a:prstGeom prst="rect">
            <a:avLst/>
          </a:prstGeom>
          <a:noFill/>
          <a:ln/>
        </p:spPr>
        <p:txBody>
          <a:bodyPr wrap="none" lIns="0" tIns="0" rIns="0" bIns="0" rtlCol="0" anchor="t"/>
          <a:lstStyle/>
          <a:p>
            <a:pPr algn="l" indent="0" marL="0">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Less Context</a:t>
            </a:r>
            <a:endParaRPr lang="en-US" sz="1400" dirty="0"/>
          </a:p>
        </p:txBody>
      </p:sp>
      <p:sp>
        <p:nvSpPr>
          <p:cNvPr id="8" name="Text 6"/>
          <p:cNvSpPr/>
          <p:nvPr/>
        </p:nvSpPr>
        <p:spPr>
          <a:xfrm>
            <a:off x="4722614" y="1815405"/>
            <a:ext cx="3980780" cy="1516707"/>
          </a:xfrm>
          <a:prstGeom prst="rect">
            <a:avLst/>
          </a:prstGeom>
          <a:noFill/>
          <a:ln/>
        </p:spPr>
        <p:txBody>
          <a:bodyPr wrap="square" lIns="0" tIns="0" rIns="0" bIns="0" rtlCol="0" anchor="t">
            <a:normAutofit/>
          </a:bodyPr>
          <a:lstStyle/>
          <a:p>
            <a:pPr algn="l" marL="342900" indent="-342900">
              <a:lnSpc>
                <a:spcPct val="123000"/>
              </a:lnSpc>
              <a:buSzPct val="100000"/>
              <a:buChar char="•"/>
            </a:pPr>
            <a:r>
              <a:rPr lang="en-US" sz="900" b="1" dirty="0">
                <a:solidFill>
                  <a:srgbClr val="000000"/>
                </a:solidFill>
                <a:latin typeface="Open Sans" pitchFamily="34" charset="0"/>
                <a:ea typeface="Open Sans" pitchFamily="34" charset="-122"/>
                <a:cs typeface="Open Sans" pitchFamily="34" charset="-120"/>
              </a:rPr>
              <a:t>Faster:</a:t>
            </a:r>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 Reduced processing loads result in quicker response times, improving user experience.</a:t>
            </a:r>
            <a:endParaRPr lang="en-US" sz="900" dirty="0"/>
          </a:p>
          <a:p>
            <a:pPr algn="l" marL="342900" indent="-342900">
              <a:lnSpc>
                <a:spcPct val="123000"/>
              </a:lnSpc>
              <a:buSzPct val="100000"/>
              <a:buChar char="•"/>
            </a:pPr>
            <a:r>
              <a:rPr lang="en-US" sz="900" b="1" dirty="0">
                <a:solidFill>
                  <a:srgbClr val="000000"/>
                </a:solidFill>
                <a:latin typeface="Open Sans" pitchFamily="34" charset="0"/>
                <a:ea typeface="Open Sans" pitchFamily="34" charset="-122"/>
                <a:cs typeface="Open Sans" pitchFamily="34" charset="-120"/>
              </a:rPr>
              <a:t>Cheaper:</a:t>
            </a:r>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 Lower token usage directly translates to decreased operational costs.</a:t>
            </a:r>
            <a:endParaRPr lang="en-US" sz="900" dirty="0"/>
          </a:p>
          <a:p>
            <a:pPr algn="l" marL="342900" indent="-342900">
              <a:lnSpc>
                <a:spcPct val="123000"/>
              </a:lnSpc>
              <a:buSzPct val="100000"/>
              <a:buChar char="•"/>
            </a:pPr>
            <a:r>
              <a:rPr lang="en-US" sz="900" b="1" dirty="0">
                <a:solidFill>
                  <a:srgbClr val="000000"/>
                </a:solidFill>
                <a:latin typeface="Open Sans" pitchFamily="34" charset="0"/>
                <a:ea typeface="Open Sans" pitchFamily="34" charset="-122"/>
                <a:cs typeface="Open Sans" pitchFamily="34" charset="-120"/>
              </a:rPr>
              <a:t>More hallucination:</a:t>
            </a:r>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 Lack of sufficient information can cause agents to generate incorrect or fabricated details.</a:t>
            </a:r>
            <a:endParaRPr lang="en-US" sz="900" dirty="0"/>
          </a:p>
          <a:p>
            <a:pPr algn="l" marL="342900" indent="-342900">
              <a:lnSpc>
                <a:spcPct val="123000"/>
              </a:lnSpc>
              <a:buSzPct val="100000"/>
              <a:buChar char="•"/>
            </a:pPr>
            <a:r>
              <a:rPr lang="en-US" sz="900" b="1" dirty="0">
                <a:solidFill>
                  <a:srgbClr val="000000"/>
                </a:solidFill>
                <a:latin typeface="Open Sans" pitchFamily="34" charset="0"/>
                <a:ea typeface="Open Sans" pitchFamily="34" charset="-122"/>
                <a:cs typeface="Open Sans" pitchFamily="34" charset="-120"/>
              </a:rPr>
              <a:t>Less continuity:</a:t>
            </a:r>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 Agents may struggle to maintain a consistent understanding of the conversation over time.</a:t>
            </a:r>
            <a:endParaRPr lang="en-US" sz="900" dirty="0"/>
          </a:p>
        </p:txBody>
      </p:sp>
      <p:sp>
        <p:nvSpPr>
          <p:cNvPr id="9" name="Text 7"/>
          <p:cNvSpPr/>
          <p:nvPr/>
        </p:nvSpPr>
        <p:spPr>
          <a:xfrm>
            <a:off x="445219" y="3480867"/>
            <a:ext cx="8253487"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403C4E"/>
                </a:solidFill>
                <a:latin typeface="Open Sans" pitchFamily="34" charset="0"/>
                <a:ea typeface="Open Sans" pitchFamily="34" charset="-122"/>
                <a:cs typeface="Open Sans" pitchFamily="34" charset="-120"/>
              </a:rPr>
              <a:t>Smart agents overcome this dilemma by optimizing memory management, extracting only the most critical information to maintain context without overloading the system.</a:t>
            </a:r>
            <a:endParaRPr lang="en-US" sz="900" dirty="0"/>
          </a:p>
        </p:txBody>
      </p:sp>
      <p:sp>
        <p:nvSpPr>
          <p:cNvPr id="10" name="Shape 8"/>
          <p:cNvSpPr/>
          <p:nvPr/>
        </p:nvSpPr>
        <p:spPr>
          <a:xfrm>
            <a:off x="445219" y="3947071"/>
            <a:ext cx="4076254" cy="848767"/>
          </a:xfrm>
          <a:prstGeom prst="roundRect">
            <a:avLst>
              <a:gd name="adj" fmla="val 33823"/>
            </a:avLst>
          </a:prstGeom>
          <a:solidFill>
            <a:srgbClr val="FFD8CC"/>
          </a:solidFill>
          <a:ln w="4763">
            <a:solidFill>
              <a:srgbClr val="E5BEB2"/>
            </a:solidFill>
            <a:prstDash val="solid"/>
          </a:ln>
        </p:spPr>
      </p:sp>
      <p:sp>
        <p:nvSpPr>
          <p:cNvPr id="11" name="Text 9"/>
          <p:cNvSpPr/>
          <p:nvPr/>
        </p:nvSpPr>
        <p:spPr>
          <a:xfrm>
            <a:off x="569565" y="4071417"/>
            <a:ext cx="1689571" cy="186854"/>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Summarize Past Turns</a:t>
            </a:r>
            <a:endParaRPr lang="en-US" sz="1150" dirty="0"/>
          </a:p>
        </p:txBody>
      </p:sp>
      <p:sp>
        <p:nvSpPr>
          <p:cNvPr id="12" name="Text 10"/>
          <p:cNvSpPr/>
          <p:nvPr/>
        </p:nvSpPr>
        <p:spPr>
          <a:xfrm>
            <a:off x="569565" y="4318769"/>
            <a:ext cx="3827562"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403C4E"/>
                </a:solidFill>
                <a:latin typeface="Open Sans" pitchFamily="34" charset="0"/>
                <a:ea typeface="Open Sans" pitchFamily="34" charset="-122"/>
                <a:cs typeface="Open Sans" pitchFamily="34" charset="-120"/>
              </a:rPr>
              <a:t>Condensing chat history into key takeaways, maintaining flow without all the raw text.</a:t>
            </a:r>
            <a:endParaRPr lang="en-US" sz="900" dirty="0"/>
          </a:p>
        </p:txBody>
      </p:sp>
      <p:sp>
        <p:nvSpPr>
          <p:cNvPr id="13" name="Shape 11"/>
          <p:cNvSpPr/>
          <p:nvPr/>
        </p:nvSpPr>
        <p:spPr>
          <a:xfrm>
            <a:off x="4622378" y="3947071"/>
            <a:ext cx="4076328" cy="848767"/>
          </a:xfrm>
          <a:prstGeom prst="roundRect">
            <a:avLst>
              <a:gd name="adj" fmla="val 33823"/>
            </a:avLst>
          </a:prstGeom>
          <a:solidFill>
            <a:srgbClr val="FFD8CC"/>
          </a:solidFill>
          <a:ln w="4763">
            <a:solidFill>
              <a:srgbClr val="E5BEB2"/>
            </a:solidFill>
            <a:prstDash val="solid"/>
          </a:ln>
        </p:spPr>
      </p:sp>
      <p:sp>
        <p:nvSpPr>
          <p:cNvPr id="14" name="Text 12"/>
          <p:cNvSpPr/>
          <p:nvPr/>
        </p:nvSpPr>
        <p:spPr>
          <a:xfrm>
            <a:off x="4746724" y="4071417"/>
            <a:ext cx="1873076" cy="186854"/>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Store Structured Memory</a:t>
            </a:r>
            <a:endParaRPr lang="en-US" sz="1150" dirty="0"/>
          </a:p>
        </p:txBody>
      </p:sp>
      <p:sp>
        <p:nvSpPr>
          <p:cNvPr id="15" name="Text 13"/>
          <p:cNvSpPr/>
          <p:nvPr/>
        </p:nvSpPr>
        <p:spPr>
          <a:xfrm>
            <a:off x="4746724" y="4318769"/>
            <a:ext cx="3827636"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403C4E"/>
                </a:solidFill>
                <a:latin typeface="Open Sans" pitchFamily="34" charset="0"/>
                <a:ea typeface="Open Sans" pitchFamily="34" charset="-122"/>
                <a:cs typeface="Open Sans" pitchFamily="34" charset="-120"/>
              </a:rPr>
              <a:t>Extracting and organizing vital data points into predefined fields for efficient recall.</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96119" y="1082129"/>
            <a:ext cx="754484" cy="266402"/>
          </a:xfrm>
          <a:prstGeom prst="roundRect">
            <a:avLst>
              <a:gd name="adj" fmla="val 17880"/>
            </a:avLst>
          </a:prstGeom>
          <a:solidFill>
            <a:srgbClr val="FFD8CC"/>
          </a:solidFill>
          <a:ln/>
        </p:spPr>
      </p:sp>
      <p:sp>
        <p:nvSpPr>
          <p:cNvPr id="3" name="Text 1"/>
          <p:cNvSpPr/>
          <p:nvPr/>
        </p:nvSpPr>
        <p:spPr>
          <a:xfrm>
            <a:off x="581174" y="1124620"/>
            <a:ext cx="1041574" cy="181421"/>
          </a:xfrm>
          <a:prstGeom prst="rect">
            <a:avLst/>
          </a:prstGeom>
          <a:noFill/>
          <a:ln/>
        </p:spPr>
        <p:txBody>
          <a:bodyPr wrap="none" lIns="0" tIns="0" rIns="0" bIns="0" rtlCol="0" anchor="t"/>
          <a:lstStyle/>
          <a:p>
            <a:pPr algn="l" indent="0" marL="0">
              <a:lnSpc>
                <a:spcPct val="133000"/>
              </a:lnSpc>
              <a:buNone/>
            </a:pPr>
            <a:r>
              <a:rPr lang="en-US" sz="850" dirty="0">
                <a:solidFill>
                  <a:srgbClr val="403C4E"/>
                </a:solidFill>
                <a:latin typeface="Open Sans" pitchFamily="34" charset="0"/>
                <a:ea typeface="Open Sans" pitchFamily="34" charset="-122"/>
                <a:cs typeface="Open Sans" pitchFamily="34" charset="-120"/>
              </a:rPr>
              <a:t>CHAPTER 5</a:t>
            </a:r>
            <a:endParaRPr lang="en-US" sz="850" dirty="0"/>
          </a:p>
        </p:txBody>
      </p:sp>
      <p:sp>
        <p:nvSpPr>
          <p:cNvPr id="4" name="Text 2"/>
          <p:cNvSpPr/>
          <p:nvPr/>
        </p:nvSpPr>
        <p:spPr>
          <a:xfrm>
            <a:off x="1321445" y="1124620"/>
            <a:ext cx="1727820" cy="181421"/>
          </a:xfrm>
          <a:prstGeom prst="rect">
            <a:avLst/>
          </a:prstGeom>
          <a:noFill/>
          <a:ln/>
        </p:spPr>
        <p:txBody>
          <a:bodyPr wrap="none" lIns="0" tIns="0" rIns="0" bIns="0" rtlCol="0" anchor="t"/>
          <a:lstStyle/>
          <a:p>
            <a:pPr algn="l" indent="0" marL="0">
              <a:lnSpc>
                <a:spcPct val="133000"/>
              </a:lnSpc>
              <a:buNone/>
            </a:pPr>
            <a:r>
              <a:rPr lang="en-US" sz="850" dirty="0">
                <a:solidFill>
                  <a:srgbClr val="FFAD94"/>
                </a:solidFill>
                <a:latin typeface="Open Sans" pitchFamily="34" charset="0"/>
                <a:ea typeface="Open Sans" pitchFamily="34" charset="-122"/>
                <a:cs typeface="Open Sans" pitchFamily="34" charset="-120"/>
              </a:rPr>
              <a:t>CONTEXT ENGINEERING</a:t>
            </a:r>
            <a:endParaRPr lang="en-US" sz="850" dirty="0"/>
          </a:p>
        </p:txBody>
      </p:sp>
      <p:sp>
        <p:nvSpPr>
          <p:cNvPr id="5" name="Text 3"/>
          <p:cNvSpPr/>
          <p:nvPr/>
        </p:nvSpPr>
        <p:spPr>
          <a:xfrm>
            <a:off x="496119" y="1405235"/>
            <a:ext cx="4917058" cy="442987"/>
          </a:xfrm>
          <a:prstGeom prst="rect">
            <a:avLst/>
          </a:prstGeom>
          <a:noFill/>
          <a:ln/>
        </p:spPr>
        <p:txBody>
          <a:bodyPr wrap="none" lIns="0" tIns="0" rIns="0" bIns="0" rtlCol="0" anchor="t"/>
          <a:lstStyle/>
          <a:p>
            <a:pPr algn="l" indent="0" marL="0">
              <a:lnSpc>
                <a:spcPct val="104000"/>
              </a:lnSpc>
              <a:buNone/>
            </a:pPr>
            <a:r>
              <a:rPr lang="en-US" sz="2750" b="1" dirty="0">
                <a:solidFill>
                  <a:srgbClr val="403C4E"/>
                </a:solidFill>
                <a:latin typeface="Merriweather Bold" pitchFamily="34" charset="0"/>
                <a:ea typeface="Merriweather Bold" pitchFamily="34" charset="-122"/>
                <a:cs typeface="Merriweather Bold" pitchFamily="34" charset="-120"/>
              </a:rPr>
              <a:t>Context, Context, Context</a:t>
            </a:r>
            <a:endParaRPr lang="en-US" sz="2750" dirty="0"/>
          </a:p>
        </p:txBody>
      </p:sp>
      <p:sp>
        <p:nvSpPr>
          <p:cNvPr id="6" name="Text 4"/>
          <p:cNvSpPr/>
          <p:nvPr/>
        </p:nvSpPr>
        <p:spPr>
          <a:xfrm>
            <a:off x="496119" y="2060823"/>
            <a:ext cx="8151763" cy="613097"/>
          </a:xfrm>
          <a:prstGeom prst="rect">
            <a:avLst/>
          </a:prstGeom>
          <a:noFill/>
          <a:ln/>
        </p:spPr>
        <p:txBody>
          <a:bodyPr wrap="square" lIns="0" tIns="0" rIns="0" bIns="0" rtlCol="0" anchor="t"/>
          <a:lstStyle/>
          <a:p>
            <a:pPr algn="l" indent="0" marL="0">
              <a:lnSpc>
                <a:spcPct val="133000"/>
              </a:lnSpc>
              <a:spcAft>
                <a:spcPts val="1250"/>
              </a:spcAft>
              <a:buNone/>
            </a:pPr>
            <a:r>
              <a:rPr lang="en-US" sz="1100" dirty="0">
                <a:solidFill>
                  <a:srgbClr val="403C4E"/>
                </a:solidFill>
                <a:latin typeface="Open Sans" pitchFamily="34" charset="0"/>
                <a:ea typeface="Open Sans" pitchFamily="34" charset="-122"/>
                <a:cs typeface="Open Sans" pitchFamily="34" charset="-120"/>
              </a:rPr>
              <a:t>Most agents fail because: They don’t have the right context — or they have too much.</a:t>
            </a:r>
            <a:endParaRPr lang="en-US" sz="1100" dirty="0"/>
          </a:p>
          <a:p>
            <a:pPr algn="l" indent="0" marL="0">
              <a:lnSpc>
                <a:spcPct val="133000"/>
              </a:lnSpc>
              <a:buNone/>
            </a:pPr>
            <a:r>
              <a:rPr lang="en-US" sz="1100" dirty="0">
                <a:solidFill>
                  <a:srgbClr val="403C4E"/>
                </a:solidFill>
                <a:latin typeface="Open Sans" pitchFamily="34" charset="0"/>
                <a:ea typeface="Open Sans" pitchFamily="34" charset="-122"/>
                <a:cs typeface="Open Sans" pitchFamily="34" charset="-120"/>
              </a:rPr>
              <a:t>Context engineering is:</a:t>
            </a:r>
            <a:endParaRPr lang="en-US" sz="1100" dirty="0"/>
          </a:p>
        </p:txBody>
      </p:sp>
      <p:sp>
        <p:nvSpPr>
          <p:cNvPr id="7" name="Shape 5"/>
          <p:cNvSpPr/>
          <p:nvPr/>
        </p:nvSpPr>
        <p:spPr>
          <a:xfrm>
            <a:off x="496119" y="2833390"/>
            <a:ext cx="4004965" cy="543074"/>
          </a:xfrm>
          <a:prstGeom prst="roundRect">
            <a:avLst>
              <a:gd name="adj" fmla="val 16837"/>
            </a:avLst>
          </a:prstGeom>
          <a:solidFill>
            <a:srgbClr val="FFFFFF"/>
          </a:solidFill>
          <a:ln w="19050">
            <a:solidFill>
              <a:srgbClr val="E5BEB2"/>
            </a:solidFill>
            <a:prstDash val="solid"/>
          </a:ln>
        </p:spPr>
      </p:sp>
      <p:sp>
        <p:nvSpPr>
          <p:cNvPr id="8" name="Shape 6"/>
          <p:cNvSpPr/>
          <p:nvPr/>
        </p:nvSpPr>
        <p:spPr>
          <a:xfrm>
            <a:off x="477069" y="2833390"/>
            <a:ext cx="76200" cy="543074"/>
          </a:xfrm>
          <a:prstGeom prst="roundRect">
            <a:avLst>
              <a:gd name="adj" fmla="val 78140"/>
            </a:avLst>
          </a:prstGeom>
          <a:solidFill>
            <a:srgbClr val="FFAD94"/>
          </a:solidFill>
          <a:ln/>
        </p:spPr>
      </p:sp>
      <p:sp>
        <p:nvSpPr>
          <p:cNvPr id="9" name="Text 7"/>
          <p:cNvSpPr/>
          <p:nvPr/>
        </p:nvSpPr>
        <p:spPr>
          <a:xfrm>
            <a:off x="714077" y="2994199"/>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What to Include</a:t>
            </a:r>
            <a:endParaRPr lang="en-US" sz="1350" dirty="0"/>
          </a:p>
        </p:txBody>
      </p:sp>
      <p:sp>
        <p:nvSpPr>
          <p:cNvPr id="10" name="Shape 8"/>
          <p:cNvSpPr/>
          <p:nvPr/>
        </p:nvSpPr>
        <p:spPr>
          <a:xfrm>
            <a:off x="4642842" y="2833390"/>
            <a:ext cx="4005039" cy="543074"/>
          </a:xfrm>
          <a:prstGeom prst="roundRect">
            <a:avLst>
              <a:gd name="adj" fmla="val 16837"/>
            </a:avLst>
          </a:prstGeom>
          <a:solidFill>
            <a:srgbClr val="FFFFFF"/>
          </a:solidFill>
          <a:ln w="19050">
            <a:solidFill>
              <a:srgbClr val="E5BEB2"/>
            </a:solidFill>
            <a:prstDash val="solid"/>
          </a:ln>
        </p:spPr>
      </p:sp>
      <p:sp>
        <p:nvSpPr>
          <p:cNvPr id="11" name="Shape 9"/>
          <p:cNvSpPr/>
          <p:nvPr/>
        </p:nvSpPr>
        <p:spPr>
          <a:xfrm>
            <a:off x="4623792" y="2833390"/>
            <a:ext cx="76200" cy="543074"/>
          </a:xfrm>
          <a:prstGeom prst="roundRect">
            <a:avLst>
              <a:gd name="adj" fmla="val 78140"/>
            </a:avLst>
          </a:prstGeom>
          <a:solidFill>
            <a:srgbClr val="FFAD94"/>
          </a:solidFill>
          <a:ln/>
        </p:spPr>
      </p:sp>
      <p:sp>
        <p:nvSpPr>
          <p:cNvPr id="12" name="Text 10"/>
          <p:cNvSpPr/>
          <p:nvPr/>
        </p:nvSpPr>
        <p:spPr>
          <a:xfrm>
            <a:off x="4860801" y="2994199"/>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What to Exclude</a:t>
            </a:r>
            <a:endParaRPr lang="en-US" sz="1350" dirty="0"/>
          </a:p>
        </p:txBody>
      </p:sp>
      <p:sp>
        <p:nvSpPr>
          <p:cNvPr id="13" name="Shape 11"/>
          <p:cNvSpPr/>
          <p:nvPr/>
        </p:nvSpPr>
        <p:spPr>
          <a:xfrm>
            <a:off x="496119" y="3518222"/>
            <a:ext cx="4004965" cy="543074"/>
          </a:xfrm>
          <a:prstGeom prst="roundRect">
            <a:avLst>
              <a:gd name="adj" fmla="val 16837"/>
            </a:avLst>
          </a:prstGeom>
          <a:solidFill>
            <a:srgbClr val="FFFFFF"/>
          </a:solidFill>
          <a:ln w="19050">
            <a:solidFill>
              <a:srgbClr val="E5BEB2"/>
            </a:solidFill>
            <a:prstDash val="solid"/>
          </a:ln>
        </p:spPr>
      </p:sp>
      <p:sp>
        <p:nvSpPr>
          <p:cNvPr id="14" name="Shape 12"/>
          <p:cNvSpPr/>
          <p:nvPr/>
        </p:nvSpPr>
        <p:spPr>
          <a:xfrm>
            <a:off x="477069" y="3518222"/>
            <a:ext cx="76200" cy="543074"/>
          </a:xfrm>
          <a:prstGeom prst="roundRect">
            <a:avLst>
              <a:gd name="adj" fmla="val 78140"/>
            </a:avLst>
          </a:prstGeom>
          <a:solidFill>
            <a:srgbClr val="FFAD94"/>
          </a:solidFill>
          <a:ln/>
        </p:spPr>
      </p:sp>
      <p:sp>
        <p:nvSpPr>
          <p:cNvPr id="15" name="Text 13"/>
          <p:cNvSpPr/>
          <p:nvPr/>
        </p:nvSpPr>
        <p:spPr>
          <a:xfrm>
            <a:off x="714077" y="3679031"/>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How to Structure It</a:t>
            </a:r>
            <a:endParaRPr lang="en-US" sz="1350" dirty="0"/>
          </a:p>
        </p:txBody>
      </p:sp>
      <p:sp>
        <p:nvSpPr>
          <p:cNvPr id="16" name="Shape 14"/>
          <p:cNvSpPr/>
          <p:nvPr/>
        </p:nvSpPr>
        <p:spPr>
          <a:xfrm>
            <a:off x="4642842" y="3518222"/>
            <a:ext cx="4005039" cy="543074"/>
          </a:xfrm>
          <a:prstGeom prst="roundRect">
            <a:avLst>
              <a:gd name="adj" fmla="val 16837"/>
            </a:avLst>
          </a:prstGeom>
          <a:solidFill>
            <a:srgbClr val="FFFFFF"/>
          </a:solidFill>
          <a:ln w="19050">
            <a:solidFill>
              <a:srgbClr val="E5BEB2"/>
            </a:solidFill>
            <a:prstDash val="solid"/>
          </a:ln>
        </p:spPr>
      </p:sp>
      <p:sp>
        <p:nvSpPr>
          <p:cNvPr id="17" name="Shape 15"/>
          <p:cNvSpPr/>
          <p:nvPr/>
        </p:nvSpPr>
        <p:spPr>
          <a:xfrm>
            <a:off x="4623792" y="3518222"/>
            <a:ext cx="76200" cy="543074"/>
          </a:xfrm>
          <a:prstGeom prst="roundRect">
            <a:avLst>
              <a:gd name="adj" fmla="val 78140"/>
            </a:avLst>
          </a:prstGeom>
          <a:solidFill>
            <a:srgbClr val="FFAD94"/>
          </a:solidFill>
          <a:ln/>
        </p:spPr>
      </p:sp>
      <p:sp>
        <p:nvSpPr>
          <p:cNvPr id="18" name="Text 16"/>
          <p:cNvSpPr/>
          <p:nvPr/>
        </p:nvSpPr>
        <p:spPr>
          <a:xfrm>
            <a:off x="4860801" y="3679031"/>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When to Refresh It</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45219" y="482054"/>
            <a:ext cx="636538" cy="212824"/>
          </a:xfrm>
          <a:prstGeom prst="roundRect">
            <a:avLst>
              <a:gd name="adj" fmla="val 18885"/>
            </a:avLst>
          </a:prstGeom>
          <a:solidFill>
            <a:srgbClr val="FFD8CC"/>
          </a:solidFill>
          <a:ln/>
        </p:spPr>
      </p:sp>
      <p:sp>
        <p:nvSpPr>
          <p:cNvPr id="3" name="Text 1"/>
          <p:cNvSpPr/>
          <p:nvPr/>
        </p:nvSpPr>
        <p:spPr>
          <a:xfrm>
            <a:off x="516954" y="517922"/>
            <a:ext cx="950268" cy="141089"/>
          </a:xfrm>
          <a:prstGeom prst="rect">
            <a:avLst/>
          </a:prstGeom>
          <a:noFill/>
          <a:ln/>
        </p:spPr>
        <p:txBody>
          <a:bodyPr wrap="none" lIns="0" tIns="0" rIns="0" bIns="0" rtlCol="0" anchor="t"/>
          <a:lstStyle/>
          <a:p>
            <a:pPr algn="l" indent="0" marL="0">
              <a:lnSpc>
                <a:spcPct val="123000"/>
              </a:lnSpc>
              <a:buNone/>
            </a:pPr>
            <a:r>
              <a:rPr lang="en-US" sz="750" dirty="0">
                <a:solidFill>
                  <a:srgbClr val="403C4E"/>
                </a:solidFill>
                <a:latin typeface="Open Sans" pitchFamily="34" charset="0"/>
                <a:ea typeface="Open Sans" pitchFamily="34" charset="-122"/>
                <a:cs typeface="Open Sans" pitchFamily="34" charset="-120"/>
              </a:rPr>
              <a:t>CHAPTER 5</a:t>
            </a:r>
            <a:endParaRPr lang="en-US" sz="750" dirty="0"/>
          </a:p>
        </p:txBody>
      </p:sp>
      <p:sp>
        <p:nvSpPr>
          <p:cNvPr id="4" name="Text 2"/>
          <p:cNvSpPr/>
          <p:nvPr/>
        </p:nvSpPr>
        <p:spPr>
          <a:xfrm>
            <a:off x="1141512" y="517922"/>
            <a:ext cx="1529283" cy="141089"/>
          </a:xfrm>
          <a:prstGeom prst="rect">
            <a:avLst/>
          </a:prstGeom>
          <a:noFill/>
          <a:ln/>
        </p:spPr>
        <p:txBody>
          <a:bodyPr wrap="none" lIns="0" tIns="0" rIns="0" bIns="0" rtlCol="0" anchor="t"/>
          <a:lstStyle/>
          <a:p>
            <a:pPr algn="l" indent="0" marL="0">
              <a:lnSpc>
                <a:spcPct val="123000"/>
              </a:lnSpc>
              <a:buNone/>
            </a:pPr>
            <a:r>
              <a:rPr lang="en-US" sz="750" dirty="0">
                <a:solidFill>
                  <a:srgbClr val="FFAD94"/>
                </a:solidFill>
                <a:latin typeface="Open Sans" pitchFamily="34" charset="0"/>
                <a:ea typeface="Open Sans" pitchFamily="34" charset="-122"/>
                <a:cs typeface="Open Sans" pitchFamily="34" charset="-120"/>
              </a:rPr>
              <a:t>CONTEXT ENGINEERING</a:t>
            </a:r>
            <a:endParaRPr lang="en-US" sz="750" dirty="0"/>
          </a:p>
        </p:txBody>
      </p:sp>
      <p:sp>
        <p:nvSpPr>
          <p:cNvPr id="5" name="Text 3"/>
          <p:cNvSpPr/>
          <p:nvPr/>
        </p:nvSpPr>
        <p:spPr>
          <a:xfrm>
            <a:off x="445219" y="735211"/>
            <a:ext cx="5800725" cy="373782"/>
          </a:xfrm>
          <a:prstGeom prst="rect">
            <a:avLst/>
          </a:prstGeom>
          <a:noFill/>
          <a:ln/>
        </p:spPr>
        <p:txBody>
          <a:bodyPr wrap="none" lIns="0" tIns="0" rIns="0" bIns="0" rtlCol="0" anchor="t"/>
          <a:lstStyle/>
          <a:p>
            <a:pPr algn="l" indent="0" marL="0">
              <a:lnSpc>
                <a:spcPct val="104000"/>
              </a:lnSpc>
              <a:buNone/>
            </a:pPr>
            <a:r>
              <a:rPr lang="en-US" sz="2350" b="1" dirty="0">
                <a:solidFill>
                  <a:srgbClr val="403C4E"/>
                </a:solidFill>
                <a:latin typeface="Merriweather Bold" pitchFamily="34" charset="0"/>
                <a:ea typeface="Merriweather Bold" pitchFamily="34" charset="-122"/>
                <a:cs typeface="Merriweather Bold" pitchFamily="34" charset="-120"/>
              </a:rPr>
              <a:t>Understanding the Types of Context</a:t>
            </a:r>
            <a:endParaRPr lang="en-US" sz="2350" dirty="0"/>
          </a:p>
        </p:txBody>
      </p:sp>
      <p:sp>
        <p:nvSpPr>
          <p:cNvPr id="6" name="Text 4"/>
          <p:cNvSpPr/>
          <p:nvPr/>
        </p:nvSpPr>
        <p:spPr>
          <a:xfrm>
            <a:off x="445219" y="1260351"/>
            <a:ext cx="8698781" cy="176361"/>
          </a:xfrm>
          <a:prstGeom prst="rect">
            <a:avLst/>
          </a:prstGeom>
          <a:noFill/>
          <a:ln/>
        </p:spPr>
        <p:txBody>
          <a:bodyPr wrap="none" lIns="0" tIns="0" rIns="0" bIns="0" rtlCol="0" anchor="t"/>
          <a:lstStyle/>
          <a:p>
            <a:pPr algn="l" indent="0" marL="0">
              <a:lnSpc>
                <a:spcPct val="123000"/>
              </a:lnSpc>
              <a:buNone/>
            </a:pPr>
            <a:r>
              <a:rPr lang="en-US" sz="900" dirty="0">
                <a:solidFill>
                  <a:srgbClr val="403C4E"/>
                </a:solidFill>
                <a:latin typeface="Open Sans" pitchFamily="34" charset="0"/>
                <a:ea typeface="Open Sans" pitchFamily="34" charset="-122"/>
                <a:cs typeface="Open Sans" pitchFamily="34" charset="-120"/>
              </a:rPr>
              <a:t>Effective AI agents thrive on a rich, multi-dimensional understanding of their operating environment. We categorize context into four essential types:</a:t>
            </a:r>
            <a:endParaRPr lang="en-US" sz="900" dirty="0"/>
          </a:p>
        </p:txBody>
      </p:sp>
      <p:sp>
        <p:nvSpPr>
          <p:cNvPr id="7" name="Shape 5"/>
          <p:cNvSpPr/>
          <p:nvPr/>
        </p:nvSpPr>
        <p:spPr>
          <a:xfrm>
            <a:off x="445219" y="1550194"/>
            <a:ext cx="4076254" cy="1272034"/>
          </a:xfrm>
          <a:prstGeom prst="roundRect">
            <a:avLst>
              <a:gd name="adj" fmla="val 3949"/>
            </a:avLst>
          </a:prstGeom>
          <a:solidFill>
            <a:srgbClr val="FFD8CC"/>
          </a:solidFill>
          <a:ln w="4763">
            <a:solidFill>
              <a:srgbClr val="E5BEB2"/>
            </a:solidFill>
            <a:prstDash val="solid"/>
          </a:ln>
        </p:spPr>
      </p:sp>
      <p:sp>
        <p:nvSpPr>
          <p:cNvPr id="8" name="Text 6"/>
          <p:cNvSpPr/>
          <p:nvPr/>
        </p:nvSpPr>
        <p:spPr>
          <a:xfrm>
            <a:off x="569565" y="1674540"/>
            <a:ext cx="1495202" cy="186854"/>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Static Context</a:t>
            </a:r>
            <a:endParaRPr lang="en-US" sz="1150" dirty="0"/>
          </a:p>
        </p:txBody>
      </p:sp>
      <p:sp>
        <p:nvSpPr>
          <p:cNvPr id="9" name="Text 7"/>
          <p:cNvSpPr/>
          <p:nvPr/>
        </p:nvSpPr>
        <p:spPr>
          <a:xfrm>
            <a:off x="569565" y="1921892"/>
            <a:ext cx="3827562" cy="775990"/>
          </a:xfrm>
          <a:prstGeom prst="rect">
            <a:avLst/>
          </a:prstGeom>
          <a:noFill/>
          <a:ln/>
        </p:spPr>
        <p:txBody>
          <a:bodyPr wrap="square" lIns="0" tIns="0" rIns="0" bIns="0" rtlCol="0" anchor="t">
            <a:normAutofit/>
          </a:bodyPr>
          <a:lstStyle/>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Product Information: Features, benefits, and specifications.</a:t>
            </a:r>
            <a:endParaRPr lang="en-US" sz="900" dirty="0"/>
          </a:p>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Pricing Structures: Details on costs, plans, and discounts.</a:t>
            </a:r>
            <a:endParaRPr lang="en-US" sz="900" dirty="0"/>
          </a:p>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Company Positioning: Brand messaging, values, and competitive differentiators.</a:t>
            </a:r>
            <a:endParaRPr lang="en-US" sz="900" dirty="0"/>
          </a:p>
        </p:txBody>
      </p:sp>
      <p:sp>
        <p:nvSpPr>
          <p:cNvPr id="10" name="Shape 8"/>
          <p:cNvSpPr/>
          <p:nvPr/>
        </p:nvSpPr>
        <p:spPr>
          <a:xfrm>
            <a:off x="4622378" y="1550194"/>
            <a:ext cx="4076328" cy="1272034"/>
          </a:xfrm>
          <a:prstGeom prst="roundRect">
            <a:avLst>
              <a:gd name="adj" fmla="val 3949"/>
            </a:avLst>
          </a:prstGeom>
          <a:solidFill>
            <a:srgbClr val="FFD8CC"/>
          </a:solidFill>
          <a:ln w="4763">
            <a:solidFill>
              <a:srgbClr val="E5BEB2"/>
            </a:solidFill>
            <a:prstDash val="solid"/>
          </a:ln>
        </p:spPr>
      </p:sp>
      <p:sp>
        <p:nvSpPr>
          <p:cNvPr id="11" name="Text 9"/>
          <p:cNvSpPr/>
          <p:nvPr/>
        </p:nvSpPr>
        <p:spPr>
          <a:xfrm>
            <a:off x="4746724" y="1674540"/>
            <a:ext cx="2294706" cy="186854"/>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Dynamic Conversation Context</a:t>
            </a:r>
            <a:endParaRPr lang="en-US" sz="1150" dirty="0"/>
          </a:p>
        </p:txBody>
      </p:sp>
      <p:sp>
        <p:nvSpPr>
          <p:cNvPr id="12" name="Text 10"/>
          <p:cNvSpPr/>
          <p:nvPr/>
        </p:nvSpPr>
        <p:spPr>
          <a:xfrm>
            <a:off x="4746724" y="1921892"/>
            <a:ext cx="3827636" cy="775990"/>
          </a:xfrm>
          <a:prstGeom prst="rect">
            <a:avLst/>
          </a:prstGeom>
          <a:noFill/>
          <a:ln/>
        </p:spPr>
        <p:txBody>
          <a:bodyPr wrap="square" lIns="0" tIns="0" rIns="0" bIns="0" rtlCol="0" anchor="t">
            <a:normAutofit/>
          </a:bodyPr>
          <a:lstStyle/>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Chat History: The ongoing dialogue between agent and buyer.</a:t>
            </a:r>
            <a:endParaRPr lang="en-US" sz="900" dirty="0"/>
          </a:p>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Extracted Fields: Key data points identified from the conversation (e.g., pain points, budget).</a:t>
            </a:r>
            <a:endParaRPr lang="en-US" sz="900" dirty="0"/>
          </a:p>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Current Stage: Where the buyer is in the sales journey.</a:t>
            </a:r>
            <a:endParaRPr lang="en-US" sz="900" dirty="0"/>
          </a:p>
        </p:txBody>
      </p:sp>
      <p:sp>
        <p:nvSpPr>
          <p:cNvPr id="13" name="Shape 11"/>
          <p:cNvSpPr/>
          <p:nvPr/>
        </p:nvSpPr>
        <p:spPr>
          <a:xfrm>
            <a:off x="445219" y="2923133"/>
            <a:ext cx="4076254" cy="1448395"/>
          </a:xfrm>
          <a:prstGeom prst="roundRect">
            <a:avLst>
              <a:gd name="adj" fmla="val 3469"/>
            </a:avLst>
          </a:prstGeom>
          <a:solidFill>
            <a:srgbClr val="FFD8CC"/>
          </a:solidFill>
          <a:ln w="4763">
            <a:solidFill>
              <a:srgbClr val="E5BEB2"/>
            </a:solidFill>
            <a:prstDash val="solid"/>
          </a:ln>
        </p:spPr>
      </p:sp>
      <p:sp>
        <p:nvSpPr>
          <p:cNvPr id="14" name="Text 12"/>
          <p:cNvSpPr/>
          <p:nvPr/>
        </p:nvSpPr>
        <p:spPr>
          <a:xfrm>
            <a:off x="569565" y="3047479"/>
            <a:ext cx="1495202" cy="186854"/>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External Context</a:t>
            </a:r>
            <a:endParaRPr lang="en-US" sz="1150" dirty="0"/>
          </a:p>
        </p:txBody>
      </p:sp>
      <p:sp>
        <p:nvSpPr>
          <p:cNvPr id="15" name="Text 13"/>
          <p:cNvSpPr/>
          <p:nvPr/>
        </p:nvSpPr>
        <p:spPr>
          <a:xfrm>
            <a:off x="569565" y="3294831"/>
            <a:ext cx="3827562" cy="599629"/>
          </a:xfrm>
          <a:prstGeom prst="rect">
            <a:avLst/>
          </a:prstGeom>
          <a:noFill/>
          <a:ln/>
        </p:spPr>
        <p:txBody>
          <a:bodyPr wrap="square" lIns="0" tIns="0" rIns="0" bIns="0" rtlCol="0" anchor="t">
            <a:normAutofit/>
          </a:bodyPr>
          <a:lstStyle/>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CRM Data: Customer relationship management records.</a:t>
            </a:r>
            <a:endParaRPr lang="en-US" sz="900" dirty="0"/>
          </a:p>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Account Metadata: Company size, industry, past interactions.</a:t>
            </a:r>
            <a:endParaRPr lang="en-US" sz="900" dirty="0"/>
          </a:p>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Industry Signals: Market trends and competitor insights.</a:t>
            </a:r>
            <a:endParaRPr lang="en-US" sz="900" dirty="0"/>
          </a:p>
        </p:txBody>
      </p:sp>
      <p:sp>
        <p:nvSpPr>
          <p:cNvPr id="16" name="Shape 14"/>
          <p:cNvSpPr/>
          <p:nvPr/>
        </p:nvSpPr>
        <p:spPr>
          <a:xfrm>
            <a:off x="4622378" y="2923133"/>
            <a:ext cx="4076328" cy="1448395"/>
          </a:xfrm>
          <a:prstGeom prst="roundRect">
            <a:avLst>
              <a:gd name="adj" fmla="val 3469"/>
            </a:avLst>
          </a:prstGeom>
          <a:solidFill>
            <a:srgbClr val="FFD8CC"/>
          </a:solidFill>
          <a:ln w="4763">
            <a:solidFill>
              <a:srgbClr val="E5BEB2"/>
            </a:solidFill>
            <a:prstDash val="solid"/>
          </a:ln>
        </p:spPr>
      </p:sp>
      <p:sp>
        <p:nvSpPr>
          <p:cNvPr id="17" name="Text 15"/>
          <p:cNvSpPr/>
          <p:nvPr/>
        </p:nvSpPr>
        <p:spPr>
          <a:xfrm>
            <a:off x="4746724" y="3047479"/>
            <a:ext cx="1495202" cy="186854"/>
          </a:xfrm>
          <a:prstGeom prst="rect">
            <a:avLst/>
          </a:prstGeom>
          <a:noFill/>
          <a:ln/>
        </p:spPr>
        <p:txBody>
          <a:bodyPr wrap="none" lIns="0" tIns="0" rIns="0" bIns="0" rtlCol="0" anchor="t"/>
          <a:lstStyle/>
          <a:p>
            <a:pPr algn="l" indent="0" marL="0">
              <a:lnSpc>
                <a:spcPct val="104000"/>
              </a:lnSpc>
              <a:buNone/>
            </a:pPr>
            <a:r>
              <a:rPr lang="en-US" sz="1150" b="1" dirty="0">
                <a:solidFill>
                  <a:srgbClr val="403C4E"/>
                </a:solidFill>
                <a:latin typeface="Merriweather Bold" pitchFamily="34" charset="0"/>
                <a:ea typeface="Merriweather Bold" pitchFamily="34" charset="-122"/>
                <a:cs typeface="Merriweather Bold" pitchFamily="34" charset="-120"/>
              </a:rPr>
              <a:t>Strategic Context</a:t>
            </a:r>
            <a:endParaRPr lang="en-US" sz="1150" dirty="0"/>
          </a:p>
        </p:txBody>
      </p:sp>
      <p:sp>
        <p:nvSpPr>
          <p:cNvPr id="18" name="Text 16"/>
          <p:cNvSpPr/>
          <p:nvPr/>
        </p:nvSpPr>
        <p:spPr>
          <a:xfrm>
            <a:off x="4746724" y="3294831"/>
            <a:ext cx="3827636" cy="952351"/>
          </a:xfrm>
          <a:prstGeom prst="rect">
            <a:avLst/>
          </a:prstGeom>
          <a:noFill/>
          <a:ln/>
        </p:spPr>
        <p:txBody>
          <a:bodyPr wrap="square" lIns="0" tIns="0" rIns="0" bIns="0" rtlCol="0" anchor="t">
            <a:normAutofit/>
          </a:bodyPr>
          <a:lstStyle/>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Current Objective: The agent's immediate goal in the interaction.</a:t>
            </a:r>
            <a:endParaRPr lang="en-US" sz="900" dirty="0"/>
          </a:p>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Allowed Actions: Permitted behaviors and responses for the agent.</a:t>
            </a:r>
            <a:endParaRPr lang="en-US" sz="900" dirty="0"/>
          </a:p>
          <a:p>
            <a:pPr algn="l" marL="342900" indent="-342900">
              <a:lnSpc>
                <a:spcPct val="123000"/>
              </a:lnSpc>
              <a:buSzPct val="100000"/>
              <a:buChar char="•"/>
            </a:pPr>
            <a:r>
              <a:rPr lang="en-US" sz="900" dirty="0">
                <a:solidFill>
                  <a:srgbClr val="403C4E"/>
                </a:solidFill>
                <a:latin typeface="Open Sans" pitchFamily="34" charset="0"/>
                <a:ea typeface="Open Sans" pitchFamily="34" charset="-122"/>
                <a:cs typeface="Open Sans" pitchFamily="34" charset="-120"/>
              </a:rPr>
              <a:t>Guardrails: Ethical and operational boundaries for agent behavior.</a:t>
            </a:r>
            <a:endParaRPr lang="en-US" sz="900" dirty="0"/>
          </a:p>
        </p:txBody>
      </p:sp>
      <p:sp>
        <p:nvSpPr>
          <p:cNvPr id="19" name="Text 17"/>
          <p:cNvSpPr/>
          <p:nvPr/>
        </p:nvSpPr>
        <p:spPr>
          <a:xfrm>
            <a:off x="445219" y="4485010"/>
            <a:ext cx="8698781" cy="176361"/>
          </a:xfrm>
          <a:prstGeom prst="rect">
            <a:avLst/>
          </a:prstGeom>
          <a:noFill/>
          <a:ln/>
        </p:spPr>
        <p:txBody>
          <a:bodyPr wrap="none" lIns="0" tIns="0" rIns="0" bIns="0" rtlCol="0" anchor="t"/>
          <a:lstStyle/>
          <a:p>
            <a:pPr algn="l" indent="0" marL="0">
              <a:lnSpc>
                <a:spcPct val="123000"/>
              </a:lnSpc>
              <a:buNone/>
            </a:pPr>
            <a:r>
              <a:rPr lang="en-US" sz="900" dirty="0">
                <a:solidFill>
                  <a:srgbClr val="403C4E"/>
                </a:solidFill>
                <a:latin typeface="Open Sans" pitchFamily="34" charset="0"/>
                <a:ea typeface="Open Sans" pitchFamily="34" charset="-122"/>
                <a:cs typeface="Open Sans" pitchFamily="34" charset="-120"/>
              </a:rPr>
              <a:t>Mastering the integration of these context types allows agents to deliver highly relevant, precise, and strategic interactions.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88379" y="759693"/>
            <a:ext cx="881807" cy="260821"/>
          </a:xfrm>
          <a:prstGeom prst="roundRect">
            <a:avLst>
              <a:gd name="adj" fmla="val 17978"/>
            </a:avLst>
          </a:prstGeom>
          <a:solidFill>
            <a:srgbClr val="FFD8CC"/>
          </a:solidFill>
          <a:ln/>
        </p:spPr>
      </p:sp>
      <p:sp>
        <p:nvSpPr>
          <p:cNvPr id="3" name="Text 1"/>
          <p:cNvSpPr/>
          <p:nvPr/>
        </p:nvSpPr>
        <p:spPr>
          <a:xfrm>
            <a:off x="572095" y="801514"/>
            <a:ext cx="1171575" cy="177180"/>
          </a:xfrm>
          <a:prstGeom prst="rect">
            <a:avLst/>
          </a:prstGeom>
          <a:noFill/>
          <a:ln/>
        </p:spPr>
        <p:txBody>
          <a:bodyPr wrap="none" lIns="0" tIns="0" rIns="0" bIns="0" rtlCol="0" anchor="t"/>
          <a:lstStyle/>
          <a:p>
            <a:pPr algn="l" indent="0" marL="0">
              <a:lnSpc>
                <a:spcPct val="132000"/>
              </a:lnSpc>
              <a:buNone/>
            </a:pPr>
            <a:r>
              <a:rPr lang="en-US" sz="850" dirty="0">
                <a:solidFill>
                  <a:srgbClr val="403C4E"/>
                </a:solidFill>
                <a:latin typeface="Open Sans" pitchFamily="34" charset="0"/>
                <a:ea typeface="Open Sans" pitchFamily="34" charset="-122"/>
                <a:cs typeface="Open Sans" pitchFamily="34" charset="-120"/>
              </a:rPr>
              <a:t>CONCLUSION</a:t>
            </a:r>
            <a:endParaRPr lang="en-US" sz="850" dirty="0"/>
          </a:p>
        </p:txBody>
      </p:sp>
      <p:sp>
        <p:nvSpPr>
          <p:cNvPr id="4" name="Text 2"/>
          <p:cNvSpPr/>
          <p:nvPr/>
        </p:nvSpPr>
        <p:spPr>
          <a:xfrm>
            <a:off x="1439912" y="801514"/>
            <a:ext cx="1002506" cy="177180"/>
          </a:xfrm>
          <a:prstGeom prst="rect">
            <a:avLst/>
          </a:prstGeom>
          <a:noFill/>
          <a:ln/>
        </p:spPr>
        <p:txBody>
          <a:bodyPr wrap="none" lIns="0" tIns="0" rIns="0" bIns="0" rtlCol="0" anchor="t"/>
          <a:lstStyle/>
          <a:p>
            <a:pPr algn="l" indent="0" marL="0">
              <a:lnSpc>
                <a:spcPct val="132000"/>
              </a:lnSpc>
              <a:buNone/>
            </a:pPr>
            <a:r>
              <a:rPr lang="en-US" sz="850" dirty="0">
                <a:solidFill>
                  <a:srgbClr val="FFAD94"/>
                </a:solidFill>
                <a:latin typeface="Open Sans" pitchFamily="34" charset="0"/>
                <a:ea typeface="Open Sans" pitchFamily="34" charset="-122"/>
                <a:cs typeface="Open Sans" pitchFamily="34" charset="-120"/>
              </a:rPr>
              <a:t>SUMMARY</a:t>
            </a:r>
            <a:endParaRPr lang="en-US" sz="850" dirty="0"/>
          </a:p>
        </p:txBody>
      </p:sp>
      <p:sp>
        <p:nvSpPr>
          <p:cNvPr id="5" name="Text 3"/>
          <p:cNvSpPr/>
          <p:nvPr/>
        </p:nvSpPr>
        <p:spPr>
          <a:xfrm>
            <a:off x="488379" y="1075432"/>
            <a:ext cx="8494068" cy="436066"/>
          </a:xfrm>
          <a:prstGeom prst="rect">
            <a:avLst/>
          </a:prstGeom>
          <a:noFill/>
          <a:ln/>
        </p:spPr>
        <p:txBody>
          <a:bodyPr wrap="none" lIns="0" tIns="0" rIns="0" bIns="0" rtlCol="0" anchor="t"/>
          <a:lstStyle/>
          <a:p>
            <a:pPr algn="l" indent="0" marL="0">
              <a:lnSpc>
                <a:spcPct val="104000"/>
              </a:lnSpc>
              <a:buNone/>
            </a:pPr>
            <a:r>
              <a:rPr lang="en-US" sz="2700" b="1" dirty="0">
                <a:solidFill>
                  <a:srgbClr val="403C4E"/>
                </a:solidFill>
                <a:latin typeface="Merriweather Bold" pitchFamily="34" charset="0"/>
                <a:ea typeface="Merriweather Bold" pitchFamily="34" charset="-122"/>
                <a:cs typeface="Merriweather Bold" pitchFamily="34" charset="-120"/>
              </a:rPr>
              <a:t>Key Takeaways for Humanized AI Sales Agents</a:t>
            </a:r>
            <a:endParaRPr lang="en-US" sz="2700" dirty="0"/>
          </a:p>
        </p:txBody>
      </p:sp>
      <p:sp>
        <p:nvSpPr>
          <p:cNvPr id="6" name="Text 4"/>
          <p:cNvSpPr/>
          <p:nvPr/>
        </p:nvSpPr>
        <p:spPr>
          <a:xfrm>
            <a:off x="488379" y="1717551"/>
            <a:ext cx="8624441" cy="221456"/>
          </a:xfrm>
          <a:prstGeom prst="rect">
            <a:avLst/>
          </a:prstGeom>
          <a:noFill/>
          <a:ln/>
        </p:spPr>
        <p:txBody>
          <a:bodyPr wrap="none" lIns="0" tIns="0" rIns="0" bIns="0" rtlCol="0" anchor="t"/>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To truly humanize your AI sales agent and drive superior results, focus on these critical pillars:</a:t>
            </a:r>
            <a:endParaRPr lang="en-US" sz="1050" dirty="0"/>
          </a:p>
        </p:txBody>
      </p:sp>
      <p:sp>
        <p:nvSpPr>
          <p:cNvPr id="7" name="Shape 5"/>
          <p:cNvSpPr/>
          <p:nvPr/>
        </p:nvSpPr>
        <p:spPr>
          <a:xfrm>
            <a:off x="488379" y="2093491"/>
            <a:ext cx="2630835" cy="1914302"/>
          </a:xfrm>
          <a:prstGeom prst="roundRect">
            <a:avLst>
              <a:gd name="adj" fmla="val 3062"/>
            </a:avLst>
          </a:prstGeom>
          <a:solidFill>
            <a:srgbClr val="FFD8CC"/>
          </a:solidFill>
          <a:ln w="4763">
            <a:solidFill>
              <a:srgbClr val="E5BEB2"/>
            </a:solidFill>
            <a:prstDash val="solid"/>
          </a:ln>
        </p:spPr>
      </p:sp>
      <p:sp>
        <p:nvSpPr>
          <p:cNvPr id="8" name="Text 6"/>
          <p:cNvSpPr/>
          <p:nvPr/>
        </p:nvSpPr>
        <p:spPr>
          <a:xfrm>
            <a:off x="632668" y="2237780"/>
            <a:ext cx="2342257" cy="436066"/>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Design for Human-Like Behavior</a:t>
            </a:r>
            <a:endParaRPr lang="en-US" sz="1350" dirty="0"/>
          </a:p>
        </p:txBody>
      </p:sp>
      <p:sp>
        <p:nvSpPr>
          <p:cNvPr id="9" name="Text 7"/>
          <p:cNvSpPr/>
          <p:nvPr/>
        </p:nvSpPr>
        <p:spPr>
          <a:xfrm>
            <a:off x="632668" y="2756222"/>
            <a:ext cx="2342257" cy="1107281"/>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Move beyond rigid scripts by systematically modeling human sales behaviors, focusing on adaptive discovery and dynamic conversational flow.</a:t>
            </a:r>
            <a:endParaRPr lang="en-US" sz="1050" dirty="0"/>
          </a:p>
        </p:txBody>
      </p:sp>
      <p:sp>
        <p:nvSpPr>
          <p:cNvPr id="10" name="Shape 8"/>
          <p:cNvSpPr/>
          <p:nvPr/>
        </p:nvSpPr>
        <p:spPr>
          <a:xfrm>
            <a:off x="3256583" y="2093491"/>
            <a:ext cx="2630835" cy="1914302"/>
          </a:xfrm>
          <a:prstGeom prst="roundRect">
            <a:avLst>
              <a:gd name="adj" fmla="val 3062"/>
            </a:avLst>
          </a:prstGeom>
          <a:solidFill>
            <a:srgbClr val="FFD8CC"/>
          </a:solidFill>
          <a:ln w="4763">
            <a:solidFill>
              <a:srgbClr val="E5BEB2"/>
            </a:solidFill>
            <a:prstDash val="solid"/>
          </a:ln>
        </p:spPr>
      </p:sp>
      <p:sp>
        <p:nvSpPr>
          <p:cNvPr id="11" name="Text 9"/>
          <p:cNvSpPr/>
          <p:nvPr/>
        </p:nvSpPr>
        <p:spPr>
          <a:xfrm>
            <a:off x="3400871" y="2237780"/>
            <a:ext cx="2342257" cy="436066"/>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Embrace Continuous Improvement</a:t>
            </a:r>
            <a:endParaRPr lang="en-US" sz="1350" dirty="0"/>
          </a:p>
        </p:txBody>
      </p:sp>
      <p:sp>
        <p:nvSpPr>
          <p:cNvPr id="12" name="Text 10"/>
          <p:cNvSpPr/>
          <p:nvPr/>
        </p:nvSpPr>
        <p:spPr>
          <a:xfrm>
            <a:off x="3400871" y="2756222"/>
            <a:ext cx="2342257" cy="1107281"/>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Implement automated quality assurance, human-in-the-loop processes, and data-driven prompt optimization to constantly refine agent performance.</a:t>
            </a:r>
            <a:endParaRPr lang="en-US" sz="1050" dirty="0"/>
          </a:p>
        </p:txBody>
      </p:sp>
      <p:sp>
        <p:nvSpPr>
          <p:cNvPr id="13" name="Shape 11"/>
          <p:cNvSpPr/>
          <p:nvPr/>
        </p:nvSpPr>
        <p:spPr>
          <a:xfrm>
            <a:off x="6024786" y="2093491"/>
            <a:ext cx="2630835" cy="1914302"/>
          </a:xfrm>
          <a:prstGeom prst="roundRect">
            <a:avLst>
              <a:gd name="adj" fmla="val 3062"/>
            </a:avLst>
          </a:prstGeom>
          <a:solidFill>
            <a:srgbClr val="FFD8CC"/>
          </a:solidFill>
          <a:ln w="4763">
            <a:solidFill>
              <a:srgbClr val="E5BEB2"/>
            </a:solidFill>
            <a:prstDash val="solid"/>
          </a:ln>
        </p:spPr>
      </p:sp>
      <p:sp>
        <p:nvSpPr>
          <p:cNvPr id="14" name="Text 12"/>
          <p:cNvSpPr/>
          <p:nvPr/>
        </p:nvSpPr>
        <p:spPr>
          <a:xfrm>
            <a:off x="6169075" y="2237780"/>
            <a:ext cx="2342257" cy="436066"/>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403C4E"/>
                </a:solidFill>
                <a:latin typeface="Merriweather Bold" pitchFamily="34" charset="0"/>
                <a:ea typeface="Merriweather Bold" pitchFamily="34" charset="-122"/>
                <a:cs typeface="Merriweather Bold" pitchFamily="34" charset="-120"/>
              </a:rPr>
              <a:t>Master Context Engineering</a:t>
            </a:r>
            <a:endParaRPr lang="en-US" sz="1350" dirty="0"/>
          </a:p>
        </p:txBody>
      </p:sp>
      <p:sp>
        <p:nvSpPr>
          <p:cNvPr id="15" name="Text 13"/>
          <p:cNvSpPr/>
          <p:nvPr/>
        </p:nvSpPr>
        <p:spPr>
          <a:xfrm>
            <a:off x="6169075" y="2756222"/>
            <a:ext cx="2342257" cy="1107281"/>
          </a:xfrm>
          <a:prstGeom prst="rect">
            <a:avLst/>
          </a:prstGeom>
          <a:noFill/>
          <a:ln/>
        </p:spPr>
        <p:txBody>
          <a:bodyPr wrap="square" lIns="0" tIns="0" rIns="0" bIns="0" rtlCol="0" anchor="t">
            <a:normAutofit/>
          </a:bodyPr>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Strategically manage and integrate static, dynamic, external, and strategic context to enable intelligent, relevant, and personalized interactions.</a:t>
            </a:r>
            <a:endParaRPr lang="en-US" sz="1050" dirty="0"/>
          </a:p>
        </p:txBody>
      </p:sp>
      <p:sp>
        <p:nvSpPr>
          <p:cNvPr id="16" name="Text 14"/>
          <p:cNvSpPr/>
          <p:nvPr/>
        </p:nvSpPr>
        <p:spPr>
          <a:xfrm>
            <a:off x="488379" y="4162276"/>
            <a:ext cx="8624441" cy="221456"/>
          </a:xfrm>
          <a:prstGeom prst="rect">
            <a:avLst/>
          </a:prstGeom>
          <a:noFill/>
          <a:ln/>
        </p:spPr>
        <p:txBody>
          <a:bodyPr wrap="none" lIns="0" tIns="0" rIns="0" bIns="0" rtlCol="0" anchor="t"/>
          <a:lstStyle/>
          <a:p>
            <a:pPr algn="l" indent="0" marL="0">
              <a:lnSpc>
                <a:spcPct val="132000"/>
              </a:lnSpc>
              <a:buNone/>
            </a:pPr>
            <a:r>
              <a:rPr lang="en-US" sz="1050" dirty="0">
                <a:solidFill>
                  <a:srgbClr val="403C4E"/>
                </a:solidFill>
                <a:latin typeface="Open Sans" pitchFamily="34" charset="0"/>
                <a:ea typeface="Open Sans" pitchFamily="34" charset="-122"/>
                <a:cs typeface="Open Sans" pitchFamily="34" charset="-120"/>
              </a:rPr>
              <a:t>By adopting these principles, you can transform your AI from a mere chatbot into a high-performing, human-like sales agent.</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8066" y="336426"/>
            <a:ext cx="7947794" cy="447057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80182" y="331366"/>
            <a:ext cx="7183562" cy="4040684"/>
          </a:xfrm>
          <a:prstGeom prst="rect">
            <a:avLst/>
          </a:prstGeom>
        </p:spPr>
      </p:pic>
      <p:sp>
        <p:nvSpPr>
          <p:cNvPr id="3" name="Text 0"/>
          <p:cNvSpPr/>
          <p:nvPr/>
        </p:nvSpPr>
        <p:spPr>
          <a:xfrm>
            <a:off x="980182" y="4486721"/>
            <a:ext cx="3059906" cy="325338"/>
          </a:xfrm>
          <a:prstGeom prst="rect">
            <a:avLst/>
          </a:prstGeom>
          <a:noFill/>
          <a:ln/>
        </p:spPr>
        <p:txBody>
          <a:bodyPr wrap="none" lIns="0" tIns="0" rIns="0" bIns="0" rtlCol="0" anchor="t"/>
          <a:lstStyle/>
          <a:p>
            <a:pPr algn="l" indent="0" marL="0">
              <a:lnSpc>
                <a:spcPct val="104000"/>
              </a:lnSpc>
              <a:buNone/>
            </a:pP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80182" y="331366"/>
            <a:ext cx="7183562" cy="4040684"/>
          </a:xfrm>
          <a:prstGeom prst="rect">
            <a:avLst/>
          </a:prstGeom>
        </p:spPr>
      </p:pic>
      <p:sp>
        <p:nvSpPr>
          <p:cNvPr id="3" name="Text 0"/>
          <p:cNvSpPr/>
          <p:nvPr/>
        </p:nvSpPr>
        <p:spPr>
          <a:xfrm>
            <a:off x="980182" y="4486721"/>
            <a:ext cx="3059906" cy="325338"/>
          </a:xfrm>
          <a:prstGeom prst="rect">
            <a:avLst/>
          </a:prstGeom>
          <a:noFill/>
          <a:ln/>
        </p:spPr>
        <p:txBody>
          <a:bodyPr wrap="none" lIns="0" tIns="0" rIns="0" bIns="0" rtlCol="0" anchor="t"/>
          <a:lstStyle/>
          <a:p>
            <a:pPr algn="l" indent="0" marL="0">
              <a:lnSpc>
                <a:spcPct val="104000"/>
              </a:lnSpc>
              <a:buNone/>
            </a:pP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447898"/>
            <a:ext cx="4125069" cy="42477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2026-05-25T02:09:04Z</dcterms:created>
  <dcterms:modified xsi:type="dcterms:W3CDTF">2026-05-25T02:09:04Z</dcterms:modified>
</cp:coreProperties>
</file>