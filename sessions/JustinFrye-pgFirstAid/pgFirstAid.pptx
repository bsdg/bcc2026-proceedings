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8288000" cy="10287000"/>
  <p:notesSz cx="10287000" cy="18288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5760"/>
        <p:guide pos="324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87062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620343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7525612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5608240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7090689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059471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02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0893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6531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663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44327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4839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80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8035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6918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460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8767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87935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8306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4280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912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5366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9920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3784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0929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23117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8115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32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053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9062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258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2507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0651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68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9475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75773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554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7661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0151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060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470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3055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2690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2579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4006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8348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9881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607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816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25188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5182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994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0870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190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media1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media2.svg"/><Relationship Id="rId5" Type="http://schemas.openxmlformats.org/officeDocument/2006/relationships/image" Target="../media/image9.png"/><Relationship Id="rId6" Type="http://schemas.openxmlformats.org/officeDocument/2006/relationships/image" Target="../media/media3.sv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729113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1626587038" name="Text 1"/>
          <p:cNvSpPr/>
          <p:nvPr/>
        </p:nvSpPr>
        <p:spPr bwMode="auto">
          <a:xfrm>
            <a:off x="14683740" y="466725"/>
            <a:ext cx="25374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Boise Code Camp · 2026</a:t>
            </a:r>
            <a:endParaRPr lang="en-US" sz="1500"/>
          </a:p>
        </p:txBody>
      </p:sp>
      <p:sp>
        <p:nvSpPr>
          <p:cNvPr id="1920168717" name="Text 3"/>
          <p:cNvSpPr/>
          <p:nvPr/>
        </p:nvSpPr>
        <p:spPr bwMode="auto">
          <a:xfrm>
            <a:off x="1143000" y="445389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64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OPEN SOURCE · POSTGRES HEALTH CHECKS</a:t>
            </a:r>
            <a:endParaRPr lang="en-US" sz="1650"/>
          </a:p>
        </p:txBody>
      </p:sp>
      <p:sp>
        <p:nvSpPr>
          <p:cNvPr id="730669834" name="Text 4"/>
          <p:cNvSpPr/>
          <p:nvPr/>
        </p:nvSpPr>
        <p:spPr bwMode="auto">
          <a:xfrm>
            <a:off x="1143000" y="5187315"/>
            <a:ext cx="16482060" cy="2369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18000" b="1" spc="-180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pgFirstAid</a:t>
            </a:r>
            <a:endParaRPr lang="en-US" sz="18000"/>
          </a:p>
        </p:txBody>
      </p:sp>
      <p:sp>
        <p:nvSpPr>
          <p:cNvPr id="844097689" name="Text 5"/>
          <p:cNvSpPr/>
          <p:nvPr/>
        </p:nvSpPr>
        <p:spPr bwMode="auto">
          <a:xfrm>
            <a:off x="1143000" y="7976235"/>
            <a:ext cx="1648206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>
                <a:solidFill>
                  <a:srgbClr val="D5C4A1"/>
                </a:solidFill>
                <a:latin typeface="JetBrains Mono"/>
                <a:ea typeface="JetBrains Mono"/>
                <a:cs typeface="JetBrains Mono"/>
              </a:rPr>
              <a:t>$ speaker · </a:t>
            </a:r>
            <a:r>
              <a:rPr lang="en-US" sz="2400" b="1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Justin Frye </a:t>
            </a:r>
            <a:r>
              <a:rPr lang="en-US" sz="2400">
                <a:solidFill>
                  <a:srgbClr val="D5C4A1"/>
                </a:solidFill>
                <a:latin typeface="JetBrains Mono"/>
                <a:ea typeface="JetBrains Mono"/>
                <a:cs typeface="JetBrains Mono"/>
              </a:rPr>
              <a:t>// randoneering, llc</a:t>
            </a:r>
            <a:endParaRPr lang="en-US" sz="2400"/>
          </a:p>
        </p:txBody>
      </p:sp>
      <p:sp>
        <p:nvSpPr>
          <p:cNvPr id="419332376" name="Text 6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01 / 16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525600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929612734" name="Text 1"/>
          <p:cNvSpPr/>
          <p:nvPr/>
        </p:nvSpPr>
        <p:spPr bwMode="auto">
          <a:xfrm>
            <a:off x="15460980" y="466725"/>
            <a:ext cx="17602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02 · SCHEDULE</a:t>
            </a:r>
            <a:endParaRPr lang="en-US" sz="1500"/>
          </a:p>
        </p:txBody>
      </p:sp>
      <p:sp>
        <p:nvSpPr>
          <p:cNvPr id="1764234778" name="Text 2"/>
          <p:cNvSpPr/>
          <p:nvPr/>
        </p:nvSpPr>
        <p:spPr bwMode="auto">
          <a:xfrm>
            <a:off x="1143000" y="167640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31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AGENDA</a:t>
            </a:r>
            <a:endParaRPr lang="en-US" sz="1650"/>
          </a:p>
        </p:txBody>
      </p:sp>
      <p:sp>
        <p:nvSpPr>
          <p:cNvPr id="1394974703" name="Text 3"/>
          <p:cNvSpPr/>
          <p:nvPr/>
        </p:nvSpPr>
        <p:spPr bwMode="auto">
          <a:xfrm>
            <a:off x="1143000" y="2105025"/>
            <a:ext cx="164820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7200" b="1" spc="-72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Schedule.</a:t>
            </a:r>
            <a:endParaRPr lang="en-US" sz="7200"/>
          </a:p>
        </p:txBody>
      </p:sp>
      <p:sp>
        <p:nvSpPr>
          <p:cNvPr id="1634389337" name="Shape 4"/>
          <p:cNvSpPr/>
          <p:nvPr/>
        </p:nvSpPr>
        <p:spPr bwMode="auto">
          <a:xfrm>
            <a:off x="1143000" y="3408045"/>
            <a:ext cx="160020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163370483" name="Shape 5"/>
          <p:cNvSpPr/>
          <p:nvPr/>
        </p:nvSpPr>
        <p:spPr bwMode="auto">
          <a:xfrm>
            <a:off x="1143000" y="4608195"/>
            <a:ext cx="17145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131491060" name="Text 6"/>
          <p:cNvSpPr/>
          <p:nvPr/>
        </p:nvSpPr>
        <p:spPr bwMode="auto">
          <a:xfrm>
            <a:off x="1143000" y="3646170"/>
            <a:ext cx="17907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08:30</a:t>
            </a:r>
            <a:endParaRPr lang="en-US" sz="2400"/>
          </a:p>
        </p:txBody>
      </p:sp>
      <p:sp>
        <p:nvSpPr>
          <p:cNvPr id="1205467675" name="Shape 7"/>
          <p:cNvSpPr/>
          <p:nvPr/>
        </p:nvSpPr>
        <p:spPr bwMode="auto">
          <a:xfrm>
            <a:off x="2857500" y="4608195"/>
            <a:ext cx="142875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155030498" name="Text 9"/>
          <p:cNvSpPr/>
          <p:nvPr/>
        </p:nvSpPr>
        <p:spPr bwMode="auto">
          <a:xfrm flipH="0" flipV="0">
            <a:off x="2503712" y="4131945"/>
            <a:ext cx="4522982" cy="285750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60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50-min sessions · 10-min breaks</a:t>
            </a:r>
            <a:endParaRPr lang="en-US" sz="1500"/>
          </a:p>
        </p:txBody>
      </p:sp>
      <p:sp>
        <p:nvSpPr>
          <p:cNvPr id="1667625985" name="Shape 10"/>
          <p:cNvSpPr/>
          <p:nvPr/>
        </p:nvSpPr>
        <p:spPr bwMode="auto">
          <a:xfrm>
            <a:off x="1143000" y="5808345"/>
            <a:ext cx="17145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1304971577" name="Text 11"/>
          <p:cNvSpPr/>
          <p:nvPr/>
        </p:nvSpPr>
        <p:spPr bwMode="auto">
          <a:xfrm>
            <a:off x="1143000" y="4846320"/>
            <a:ext cx="17907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09:30</a:t>
            </a:r>
            <a:endParaRPr lang="en-US" sz="2400"/>
          </a:p>
        </p:txBody>
      </p:sp>
      <p:sp>
        <p:nvSpPr>
          <p:cNvPr id="1756086049" name="Shape 12"/>
          <p:cNvSpPr/>
          <p:nvPr/>
        </p:nvSpPr>
        <p:spPr bwMode="auto">
          <a:xfrm>
            <a:off x="2857500" y="5808345"/>
            <a:ext cx="142875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63577085" name="Text 13"/>
          <p:cNvSpPr/>
          <p:nvPr/>
        </p:nvSpPr>
        <p:spPr bwMode="auto">
          <a:xfrm flipH="0" flipV="0">
            <a:off x="2503713" y="3646170"/>
            <a:ext cx="3294321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700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Sessions</a:t>
            </a:r>
            <a:endParaRPr lang="en-US" sz="2700"/>
          </a:p>
        </p:txBody>
      </p:sp>
      <p:sp>
        <p:nvSpPr>
          <p:cNvPr id="1241783373" name="Text 14"/>
          <p:cNvSpPr/>
          <p:nvPr/>
        </p:nvSpPr>
        <p:spPr bwMode="auto">
          <a:xfrm>
            <a:off x="2503712" y="5332095"/>
            <a:ext cx="147161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60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50 min</a:t>
            </a:r>
            <a:endParaRPr lang="en-US" sz="1500"/>
          </a:p>
        </p:txBody>
      </p:sp>
      <p:sp>
        <p:nvSpPr>
          <p:cNvPr id="180825187" name="Shape 15"/>
          <p:cNvSpPr/>
          <p:nvPr/>
        </p:nvSpPr>
        <p:spPr bwMode="auto">
          <a:xfrm>
            <a:off x="1143000" y="7008495"/>
            <a:ext cx="17145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968397643" name="Text 16"/>
          <p:cNvSpPr/>
          <p:nvPr/>
        </p:nvSpPr>
        <p:spPr bwMode="auto">
          <a:xfrm>
            <a:off x="1143000" y="6046470"/>
            <a:ext cx="17907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10:30</a:t>
            </a:r>
            <a:endParaRPr lang="en-US" sz="2400"/>
          </a:p>
        </p:txBody>
      </p:sp>
      <p:sp>
        <p:nvSpPr>
          <p:cNvPr id="786583726" name="Shape 17"/>
          <p:cNvSpPr/>
          <p:nvPr/>
        </p:nvSpPr>
        <p:spPr bwMode="auto">
          <a:xfrm>
            <a:off x="2857500" y="7008495"/>
            <a:ext cx="142875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823777050" name="Text 18"/>
          <p:cNvSpPr/>
          <p:nvPr/>
        </p:nvSpPr>
        <p:spPr bwMode="auto">
          <a:xfrm flipH="0" flipV="0">
            <a:off x="2503713" y="6046470"/>
            <a:ext cx="2151321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700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Session</a:t>
            </a:r>
            <a:endParaRPr lang="en-US" sz="2700"/>
          </a:p>
        </p:txBody>
      </p:sp>
      <p:sp>
        <p:nvSpPr>
          <p:cNvPr id="1357731408" name="Text 19"/>
          <p:cNvSpPr/>
          <p:nvPr/>
        </p:nvSpPr>
        <p:spPr bwMode="auto">
          <a:xfrm>
            <a:off x="2503712" y="6532245"/>
            <a:ext cx="147161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60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50 min</a:t>
            </a:r>
            <a:endParaRPr lang="en-US" sz="1500"/>
          </a:p>
        </p:txBody>
      </p:sp>
      <p:sp>
        <p:nvSpPr>
          <p:cNvPr id="1985105714" name="Shape 20"/>
          <p:cNvSpPr/>
          <p:nvPr/>
        </p:nvSpPr>
        <p:spPr bwMode="auto">
          <a:xfrm>
            <a:off x="1143000" y="8208645"/>
            <a:ext cx="17145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1363331659" name="Text 21"/>
          <p:cNvSpPr/>
          <p:nvPr/>
        </p:nvSpPr>
        <p:spPr bwMode="auto">
          <a:xfrm>
            <a:off x="1143000" y="7246620"/>
            <a:ext cx="17907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11:30</a:t>
            </a:r>
            <a:endParaRPr lang="en-US" sz="2400"/>
          </a:p>
        </p:txBody>
      </p:sp>
      <p:sp>
        <p:nvSpPr>
          <p:cNvPr id="2026762410" name="Shape 22"/>
          <p:cNvSpPr/>
          <p:nvPr/>
        </p:nvSpPr>
        <p:spPr bwMode="auto">
          <a:xfrm>
            <a:off x="2857500" y="8208645"/>
            <a:ext cx="142875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1394638315" name="Text 23"/>
          <p:cNvSpPr/>
          <p:nvPr/>
        </p:nvSpPr>
        <p:spPr bwMode="auto">
          <a:xfrm flipH="0" flipV="0">
            <a:off x="2503713" y="7246620"/>
            <a:ext cx="179753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700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Lunch</a:t>
            </a:r>
            <a:endParaRPr lang="en-US" sz="2700"/>
          </a:p>
        </p:txBody>
      </p:sp>
      <p:sp>
        <p:nvSpPr>
          <p:cNvPr id="1747993646" name="Text 24"/>
          <p:cNvSpPr/>
          <p:nvPr/>
        </p:nvSpPr>
        <p:spPr bwMode="auto">
          <a:xfrm>
            <a:off x="2503712" y="7732395"/>
            <a:ext cx="147161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60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90 min · on your own</a:t>
            </a:r>
            <a:endParaRPr lang="en-US" sz="1500"/>
          </a:p>
        </p:txBody>
      </p:sp>
      <p:sp>
        <p:nvSpPr>
          <p:cNvPr id="46916931" name="Shape 25"/>
          <p:cNvSpPr/>
          <p:nvPr/>
        </p:nvSpPr>
        <p:spPr bwMode="auto">
          <a:xfrm>
            <a:off x="1143000" y="9123045"/>
            <a:ext cx="17145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1100012463" name="Text 26"/>
          <p:cNvSpPr/>
          <p:nvPr/>
        </p:nvSpPr>
        <p:spPr bwMode="auto">
          <a:xfrm>
            <a:off x="1143000" y="8446770"/>
            <a:ext cx="17907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13:00</a:t>
            </a:r>
            <a:endParaRPr lang="en-US" sz="2400"/>
          </a:p>
        </p:txBody>
      </p:sp>
      <p:sp>
        <p:nvSpPr>
          <p:cNvPr id="306273691" name="Shape 27"/>
          <p:cNvSpPr/>
          <p:nvPr/>
        </p:nvSpPr>
        <p:spPr bwMode="auto">
          <a:xfrm>
            <a:off x="2857500" y="9123045"/>
            <a:ext cx="142875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506903383" name="Text 28"/>
          <p:cNvSpPr/>
          <p:nvPr/>
        </p:nvSpPr>
        <p:spPr bwMode="auto">
          <a:xfrm>
            <a:off x="2505074" y="8446770"/>
            <a:ext cx="1471612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700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Session</a:t>
            </a:r>
            <a:endParaRPr lang="en-US" sz="2700"/>
          </a:p>
        </p:txBody>
      </p:sp>
      <p:sp>
        <p:nvSpPr>
          <p:cNvPr id="1621683761" name="Shape 29"/>
          <p:cNvSpPr/>
          <p:nvPr/>
        </p:nvSpPr>
        <p:spPr bwMode="auto">
          <a:xfrm>
            <a:off x="1143000" y="10037445"/>
            <a:ext cx="17145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1332501891" name="Text 30"/>
          <p:cNvSpPr/>
          <p:nvPr/>
        </p:nvSpPr>
        <p:spPr bwMode="auto">
          <a:xfrm>
            <a:off x="1143000" y="9361170"/>
            <a:ext cx="17907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14:00</a:t>
            </a:r>
            <a:endParaRPr lang="en-US" sz="2400"/>
          </a:p>
        </p:txBody>
      </p:sp>
      <p:sp>
        <p:nvSpPr>
          <p:cNvPr id="778295439" name="Shape 31"/>
          <p:cNvSpPr/>
          <p:nvPr/>
        </p:nvSpPr>
        <p:spPr bwMode="auto">
          <a:xfrm>
            <a:off x="2857500" y="10037445"/>
            <a:ext cx="142875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2133329251" name="Text 32"/>
          <p:cNvSpPr/>
          <p:nvPr/>
        </p:nvSpPr>
        <p:spPr bwMode="auto">
          <a:xfrm>
            <a:off x="2505074" y="9324974"/>
            <a:ext cx="1471612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700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Closing panel</a:t>
            </a:r>
            <a:endParaRPr lang="en-US" sz="2700"/>
          </a:p>
        </p:txBody>
      </p:sp>
      <p:sp>
        <p:nvSpPr>
          <p:cNvPr id="973514888" name="Text 33"/>
          <p:cNvSpPr/>
          <p:nvPr/>
        </p:nvSpPr>
        <p:spPr bwMode="auto">
          <a:xfrm>
            <a:off x="163285" y="9913618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02 / 16</a:t>
            </a:r>
            <a:endParaRPr lang="en-US" sz="1350"/>
          </a:p>
        </p:txBody>
      </p:sp>
      <p:sp>
        <p:nvSpPr>
          <p:cNvPr id="2135999442" name="Text 13"/>
          <p:cNvSpPr/>
          <p:nvPr/>
        </p:nvSpPr>
        <p:spPr bwMode="auto">
          <a:xfrm flipH="0" flipV="0">
            <a:off x="2503713" y="4846320"/>
            <a:ext cx="329432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700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Sessions</a:t>
            </a:r>
            <a:endParaRPr lang="en-US" sz="2700"/>
          </a:p>
        </p:txBody>
      </p:sp>
      <p:pic>
        <p:nvPicPr>
          <p:cNvPr id="1938200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919607" y="2282734"/>
            <a:ext cx="7383235" cy="7383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868425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1985027" name="Text 1"/>
          <p:cNvSpPr/>
          <p:nvPr/>
        </p:nvSpPr>
        <p:spPr bwMode="auto">
          <a:xfrm>
            <a:off x="15590520" y="466725"/>
            <a:ext cx="16306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03 · SECTION</a:t>
            </a:r>
            <a:endParaRPr lang="en-US" sz="1500"/>
          </a:p>
        </p:txBody>
      </p:sp>
      <p:sp>
        <p:nvSpPr>
          <p:cNvPr id="1687230608" name="Text 3"/>
          <p:cNvSpPr/>
          <p:nvPr/>
        </p:nvSpPr>
        <p:spPr bwMode="auto">
          <a:xfrm flipH="0" flipV="0">
            <a:off x="1904999" y="3705224"/>
            <a:ext cx="9875885" cy="2175509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25399" tIns="25399" rIns="25399" bIns="25399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 algn="l">
              <a:lnSpc>
                <a:spcPct val="102000"/>
              </a:lnSpc>
              <a:buNone/>
              <a:defRPr/>
            </a:pPr>
            <a:endParaRPr lang="en-US" sz="16500"/>
          </a:p>
        </p:txBody>
      </p:sp>
      <p:sp>
        <p:nvSpPr>
          <p:cNvPr id="1687146064" name="Text 5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03 / 16</a:t>
            </a:r>
            <a:endParaRPr lang="en-US" sz="1350"/>
          </a:p>
        </p:txBody>
      </p:sp>
      <p:pic>
        <p:nvPicPr>
          <p:cNvPr id="28883730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57357" y="776560"/>
            <a:ext cx="15823713" cy="89008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832303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1521056192" name="Text 1"/>
          <p:cNvSpPr/>
          <p:nvPr/>
        </p:nvSpPr>
        <p:spPr bwMode="auto">
          <a:xfrm>
            <a:off x="15460980" y="466725"/>
            <a:ext cx="17602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04 · SPONSORS</a:t>
            </a:r>
            <a:endParaRPr lang="en-US" sz="1500"/>
          </a:p>
        </p:txBody>
      </p:sp>
      <p:sp>
        <p:nvSpPr>
          <p:cNvPr id="1516857507" name="Text 2"/>
          <p:cNvSpPr/>
          <p:nvPr/>
        </p:nvSpPr>
        <p:spPr bwMode="auto">
          <a:xfrm>
            <a:off x="1143000" y="167640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31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GRATITUDE</a:t>
            </a:r>
            <a:endParaRPr lang="en-US" sz="1650"/>
          </a:p>
        </p:txBody>
      </p:sp>
      <p:sp>
        <p:nvSpPr>
          <p:cNvPr id="1424052354" name="Text 3"/>
          <p:cNvSpPr/>
          <p:nvPr/>
        </p:nvSpPr>
        <p:spPr bwMode="auto">
          <a:xfrm>
            <a:off x="1143000" y="2105025"/>
            <a:ext cx="164820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7200" b="1" spc="-72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pgFirstAid sponsors.</a:t>
            </a:r>
            <a:endParaRPr lang="en-US" sz="7200"/>
          </a:p>
        </p:txBody>
      </p:sp>
      <p:sp>
        <p:nvSpPr>
          <p:cNvPr id="716939971" name="Shape 6"/>
          <p:cNvSpPr/>
          <p:nvPr/>
        </p:nvSpPr>
        <p:spPr bwMode="auto">
          <a:xfrm>
            <a:off x="6553200" y="3598545"/>
            <a:ext cx="5181600" cy="2095500"/>
          </a:xfrm>
          <a:prstGeom prst="roundRect">
            <a:avLst>
              <a:gd name="adj" fmla="val 1818"/>
            </a:avLst>
          </a:prstGeom>
          <a:ln w="19050">
            <a:solidFill>
              <a:srgbClr val="504945"/>
            </a:solidFill>
            <a:prstDash val="dash"/>
          </a:ln>
        </p:spPr>
      </p:sp>
      <p:sp>
        <p:nvSpPr>
          <p:cNvPr id="1964117171" name="Shape 8"/>
          <p:cNvSpPr/>
          <p:nvPr/>
        </p:nvSpPr>
        <p:spPr bwMode="auto">
          <a:xfrm>
            <a:off x="11963400" y="3598545"/>
            <a:ext cx="5181600" cy="2095500"/>
          </a:xfrm>
          <a:prstGeom prst="roundRect">
            <a:avLst>
              <a:gd name="adj" fmla="val 1818"/>
            </a:avLst>
          </a:prstGeom>
          <a:ln w="19050">
            <a:solidFill>
              <a:srgbClr val="504945"/>
            </a:solidFill>
            <a:prstDash val="dash"/>
          </a:ln>
        </p:spPr>
      </p:sp>
      <p:sp>
        <p:nvSpPr>
          <p:cNvPr id="1538802411" name="Shape 12"/>
          <p:cNvSpPr/>
          <p:nvPr/>
        </p:nvSpPr>
        <p:spPr bwMode="auto">
          <a:xfrm>
            <a:off x="6553200" y="5922645"/>
            <a:ext cx="5181600" cy="2095500"/>
          </a:xfrm>
          <a:prstGeom prst="roundRect">
            <a:avLst>
              <a:gd name="adj" fmla="val 1818"/>
            </a:avLst>
          </a:prstGeom>
          <a:ln w="19050">
            <a:solidFill>
              <a:srgbClr val="504945"/>
            </a:solidFill>
            <a:prstDash val="dash"/>
          </a:ln>
        </p:spPr>
      </p:sp>
      <p:sp>
        <p:nvSpPr>
          <p:cNvPr id="675059149" name="Shape 14"/>
          <p:cNvSpPr/>
          <p:nvPr/>
        </p:nvSpPr>
        <p:spPr bwMode="auto">
          <a:xfrm>
            <a:off x="11963400" y="5922645"/>
            <a:ext cx="5181600" cy="2095500"/>
          </a:xfrm>
          <a:prstGeom prst="roundRect">
            <a:avLst>
              <a:gd name="adj" fmla="val 1818"/>
            </a:avLst>
          </a:prstGeom>
          <a:ln w="19050">
            <a:solidFill>
              <a:srgbClr val="504945"/>
            </a:solidFill>
            <a:prstDash val="dash"/>
          </a:ln>
        </p:spPr>
      </p:sp>
      <p:sp>
        <p:nvSpPr>
          <p:cNvPr id="2142113273" name="Text 16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04 / 16</a:t>
            </a:r>
            <a:endParaRPr lang="en-US" sz="1350"/>
          </a:p>
        </p:txBody>
      </p:sp>
      <p:pic>
        <p:nvPicPr>
          <p:cNvPr id="547513370" name="Picture 9" descr="osllogo-white_dark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196233" y="5694044"/>
            <a:ext cx="4715932" cy="2430297"/>
          </a:xfrm>
          <a:prstGeom prst="rect">
            <a:avLst/>
          </a:prstGeom>
        </p:spPr>
      </p:pic>
      <p:pic>
        <p:nvPicPr>
          <p:cNvPr id="630183813" name="Picture 1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082259" y="4103264"/>
            <a:ext cx="3789146" cy="1086060"/>
          </a:xfrm>
          <a:prstGeom prst="rect">
            <a:avLst/>
          </a:prstGeom>
        </p:spPr>
      </p:pic>
      <p:pic>
        <p:nvPicPr>
          <p:cNvPr id="368238714" name="Picture 1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230336" y="6203408"/>
            <a:ext cx="3827326" cy="1325561"/>
          </a:xfrm>
          <a:prstGeom prst="rect">
            <a:avLst/>
          </a:prstGeom>
        </p:spPr>
      </p:pic>
      <p:pic>
        <p:nvPicPr>
          <p:cNvPr id="533347803" name="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 flipH="0" flipV="0">
            <a:off x="12712303" y="4274820"/>
            <a:ext cx="3683791" cy="742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313147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1540463401" name="Text 1"/>
          <p:cNvSpPr/>
          <p:nvPr/>
        </p:nvSpPr>
        <p:spPr bwMode="auto">
          <a:xfrm>
            <a:off x="15849600" y="466725"/>
            <a:ext cx="1371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05 · INTRO</a:t>
            </a:r>
            <a:endParaRPr lang="en-US" sz="1500"/>
          </a:p>
        </p:txBody>
      </p:sp>
      <p:sp>
        <p:nvSpPr>
          <p:cNvPr id="1910596293" name="Text 2"/>
          <p:cNvSpPr/>
          <p:nvPr/>
        </p:nvSpPr>
        <p:spPr bwMode="auto">
          <a:xfrm>
            <a:off x="1143000" y="167640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31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ABOUT</a:t>
            </a:r>
            <a:endParaRPr lang="en-US" sz="1650"/>
          </a:p>
        </p:txBody>
      </p:sp>
      <p:sp>
        <p:nvSpPr>
          <p:cNvPr id="1324975739" name="Text 3"/>
          <p:cNvSpPr/>
          <p:nvPr/>
        </p:nvSpPr>
        <p:spPr bwMode="auto">
          <a:xfrm>
            <a:off x="1143000" y="2105025"/>
            <a:ext cx="164820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7200" b="1" spc="-72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Who is this guy?</a:t>
            </a:r>
            <a:endParaRPr lang="en-US" sz="7200"/>
          </a:p>
        </p:txBody>
      </p:sp>
      <p:sp>
        <p:nvSpPr>
          <p:cNvPr id="1246058992" name="Text 4"/>
          <p:cNvSpPr/>
          <p:nvPr/>
        </p:nvSpPr>
        <p:spPr bwMode="auto">
          <a:xfrm>
            <a:off x="1485900" y="3649028"/>
            <a:ext cx="450084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Forever junk-drawer sysadmin</a:t>
            </a:r>
            <a:endParaRPr lang="en-US" sz="2400"/>
          </a:p>
        </p:txBody>
      </p:sp>
      <p:sp>
        <p:nvSpPr>
          <p:cNvPr id="1027498083" name="Text 5"/>
          <p:cNvSpPr/>
          <p:nvPr/>
        </p:nvSpPr>
        <p:spPr bwMode="auto">
          <a:xfrm>
            <a:off x="1485900" y="4128135"/>
            <a:ext cx="16128873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 spc="33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self-described, perpetually accurate</a:t>
            </a:r>
            <a:endParaRPr lang="en-US" sz="1650"/>
          </a:p>
        </p:txBody>
      </p:sp>
      <p:sp>
        <p:nvSpPr>
          <p:cNvPr id="109913734" name="Text 6"/>
          <p:cNvSpPr/>
          <p:nvPr/>
        </p:nvSpPr>
        <p:spPr bwMode="auto">
          <a:xfrm>
            <a:off x="1485900" y="4624388"/>
            <a:ext cx="1613916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Data Engineer at RxBenefits, Inc.</a:t>
            </a:r>
            <a:endParaRPr lang="en-US" sz="2400"/>
          </a:p>
        </p:txBody>
      </p:sp>
      <p:sp>
        <p:nvSpPr>
          <p:cNvPr id="2066974890" name="Text 7"/>
          <p:cNvSpPr/>
          <p:nvPr/>
        </p:nvSpPr>
        <p:spPr bwMode="auto">
          <a:xfrm>
            <a:off x="1485900" y="5268277"/>
            <a:ext cx="1613916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Still trying to grasp </a:t>
            </a:r>
            <a:r>
              <a:rPr lang="en-US" sz="2400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pg_toast</a:t>
            </a:r>
            <a:endParaRPr lang="en-US" sz="2400"/>
          </a:p>
        </p:txBody>
      </p:sp>
      <p:sp>
        <p:nvSpPr>
          <p:cNvPr id="1118138888" name="Text 8"/>
          <p:cNvSpPr/>
          <p:nvPr/>
        </p:nvSpPr>
        <p:spPr bwMode="auto">
          <a:xfrm>
            <a:off x="1485900" y="5912168"/>
            <a:ext cx="1613916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Midwest native, living outside Boise, Idaho</a:t>
            </a:r>
            <a:endParaRPr lang="en-US" sz="2400"/>
          </a:p>
        </p:txBody>
      </p:sp>
      <p:sp>
        <p:nvSpPr>
          <p:cNvPr id="1623124081" name="Text 9"/>
          <p:cNvSpPr/>
          <p:nvPr/>
        </p:nvSpPr>
        <p:spPr bwMode="auto">
          <a:xfrm>
            <a:off x="1485900" y="6556057"/>
            <a:ext cx="1613916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Open source evangelist</a:t>
            </a:r>
            <a:endParaRPr lang="en-US" sz="2400"/>
          </a:p>
        </p:txBody>
      </p:sp>
      <p:sp>
        <p:nvSpPr>
          <p:cNvPr id="1689913703" name="Text 10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05 / 16</a:t>
            </a:r>
            <a:endParaRPr lang="en-US" sz="1350"/>
          </a:p>
        </p:txBody>
      </p:sp>
      <p:pic>
        <p:nvPicPr>
          <p:cNvPr id="8918172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501465" y="2890384"/>
            <a:ext cx="4506230" cy="4506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590785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888380536" name="Text 1"/>
          <p:cNvSpPr/>
          <p:nvPr/>
        </p:nvSpPr>
        <p:spPr bwMode="auto">
          <a:xfrm>
            <a:off x="15201900" y="466725"/>
            <a:ext cx="2019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06 · BACKGROUND</a:t>
            </a:r>
            <a:endParaRPr lang="en-US" sz="1500"/>
          </a:p>
        </p:txBody>
      </p:sp>
      <p:sp>
        <p:nvSpPr>
          <p:cNvPr id="1443785717" name="Text 2"/>
          <p:cNvSpPr/>
          <p:nvPr/>
        </p:nvSpPr>
        <p:spPr bwMode="auto">
          <a:xfrm>
            <a:off x="1143000" y="167640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31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BACKGROUND</a:t>
            </a:r>
            <a:endParaRPr lang="en-US" sz="1650"/>
          </a:p>
        </p:txBody>
      </p:sp>
      <p:sp>
        <p:nvSpPr>
          <p:cNvPr id="1329907087" name="Text 3"/>
          <p:cNvSpPr/>
          <p:nvPr/>
        </p:nvSpPr>
        <p:spPr bwMode="auto">
          <a:xfrm>
            <a:off x="1143000" y="2105025"/>
            <a:ext cx="164820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7200" b="1" spc="-72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The toolbox before this one.</a:t>
            </a:r>
            <a:endParaRPr lang="en-US" sz="7200"/>
          </a:p>
        </p:txBody>
      </p:sp>
      <p:sp>
        <p:nvSpPr>
          <p:cNvPr id="1913576100" name="Shape 4"/>
          <p:cNvSpPr/>
          <p:nvPr/>
        </p:nvSpPr>
        <p:spPr bwMode="auto">
          <a:xfrm>
            <a:off x="1143000" y="3598545"/>
            <a:ext cx="1581150" cy="409575"/>
          </a:xfrm>
          <a:prstGeom prst="roundRect">
            <a:avLst>
              <a:gd name="adj" fmla="val 4651"/>
            </a:avLst>
          </a:prstGeom>
          <a:ln w="9525">
            <a:solidFill>
              <a:srgbClr val="504945"/>
            </a:solidFill>
            <a:prstDash val="solid"/>
          </a:ln>
        </p:spPr>
      </p:sp>
      <p:sp>
        <p:nvSpPr>
          <p:cNvPr id="1877083281" name="Text 5"/>
          <p:cNvSpPr/>
          <p:nvPr/>
        </p:nvSpPr>
        <p:spPr bwMode="auto">
          <a:xfrm>
            <a:off x="1304925" y="3665220"/>
            <a:ext cx="1333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SQL SERVER</a:t>
            </a:r>
            <a:endParaRPr lang="en-US" sz="1650"/>
          </a:p>
        </p:txBody>
      </p:sp>
      <p:sp>
        <p:nvSpPr>
          <p:cNvPr id="474010682" name="Text 6"/>
          <p:cNvSpPr/>
          <p:nvPr/>
        </p:nvSpPr>
        <p:spPr bwMode="auto">
          <a:xfrm>
            <a:off x="1485900" y="4401503"/>
            <a:ext cx="161559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Brent Ozar</a:t>
            </a:r>
            <a:endParaRPr lang="en-US" sz="2400"/>
          </a:p>
        </p:txBody>
      </p:sp>
      <p:sp>
        <p:nvSpPr>
          <p:cNvPr id="76557584" name="Text 7"/>
          <p:cNvSpPr/>
          <p:nvPr/>
        </p:nvSpPr>
        <p:spPr bwMode="auto">
          <a:xfrm>
            <a:off x="1485900" y="4880610"/>
            <a:ext cx="7495413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 spc="33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FirstResponderKit</a:t>
            </a:r>
            <a:endParaRPr lang="en-US" sz="1650"/>
          </a:p>
        </p:txBody>
      </p:sp>
      <p:sp>
        <p:nvSpPr>
          <p:cNvPr id="1726811616" name="Text 8"/>
          <p:cNvSpPr/>
          <p:nvPr/>
        </p:nvSpPr>
        <p:spPr bwMode="auto">
          <a:xfrm>
            <a:off x="1485900" y="5427345"/>
            <a:ext cx="227155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sp_whoisactive</a:t>
            </a:r>
            <a:endParaRPr lang="en-US" sz="2400"/>
          </a:p>
        </p:txBody>
      </p:sp>
      <p:sp>
        <p:nvSpPr>
          <p:cNvPr id="380994208" name="Text 9"/>
          <p:cNvSpPr/>
          <p:nvPr/>
        </p:nvSpPr>
        <p:spPr bwMode="auto">
          <a:xfrm>
            <a:off x="1485900" y="5906452"/>
            <a:ext cx="7495413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 spc="33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Adam Machanic</a:t>
            </a:r>
            <a:endParaRPr lang="en-US" sz="1650"/>
          </a:p>
        </p:txBody>
      </p:sp>
      <p:sp>
        <p:nvSpPr>
          <p:cNvPr id="1334495568" name="Text 10"/>
          <p:cNvSpPr/>
          <p:nvPr/>
        </p:nvSpPr>
        <p:spPr bwMode="auto">
          <a:xfrm>
            <a:off x="1485900" y="6453188"/>
            <a:ext cx="219725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Ola Hallengren</a:t>
            </a:r>
            <a:endParaRPr lang="en-US" sz="2400"/>
          </a:p>
        </p:txBody>
      </p:sp>
      <p:sp>
        <p:nvSpPr>
          <p:cNvPr id="1106920147" name="Text 11"/>
          <p:cNvSpPr/>
          <p:nvPr/>
        </p:nvSpPr>
        <p:spPr bwMode="auto">
          <a:xfrm>
            <a:off x="1485900" y="6932295"/>
            <a:ext cx="7495413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 spc="33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Maintenance Plan</a:t>
            </a:r>
            <a:endParaRPr lang="en-US" sz="1650"/>
          </a:p>
        </p:txBody>
      </p:sp>
      <p:sp>
        <p:nvSpPr>
          <p:cNvPr id="1361489408" name="Shape 12"/>
          <p:cNvSpPr/>
          <p:nvPr/>
        </p:nvSpPr>
        <p:spPr bwMode="auto">
          <a:xfrm>
            <a:off x="9525000" y="3598545"/>
            <a:ext cx="3592830" cy="409575"/>
          </a:xfrm>
          <a:prstGeom prst="roundRect">
            <a:avLst>
              <a:gd name="adj" fmla="val 4651"/>
            </a:avLst>
          </a:prstGeom>
          <a:ln w="9525">
            <a:solidFill>
              <a:srgbClr val="FABD2F"/>
            </a:solidFill>
            <a:prstDash val="solid"/>
          </a:ln>
        </p:spPr>
      </p:sp>
      <p:sp>
        <p:nvSpPr>
          <p:cNvPr id="691967405" name="Text 13"/>
          <p:cNvSpPr/>
          <p:nvPr/>
        </p:nvSpPr>
        <p:spPr bwMode="auto">
          <a:xfrm>
            <a:off x="9686925" y="3665220"/>
            <a:ext cx="3376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POSTGRES / MYSQL / MARIADB</a:t>
            </a:r>
            <a:endParaRPr lang="en-US" sz="1650"/>
          </a:p>
        </p:txBody>
      </p:sp>
      <p:sp>
        <p:nvSpPr>
          <p:cNvPr id="1734152107" name="Text 14"/>
          <p:cNvSpPr/>
          <p:nvPr/>
        </p:nvSpPr>
        <p:spPr bwMode="auto">
          <a:xfrm>
            <a:off x="9867900" y="4351020"/>
            <a:ext cx="750570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Extensions</a:t>
            </a:r>
            <a:endParaRPr lang="en-US" sz="2400"/>
          </a:p>
        </p:txBody>
      </p:sp>
      <p:sp>
        <p:nvSpPr>
          <p:cNvPr id="1439012997" name="Text 15"/>
          <p:cNvSpPr/>
          <p:nvPr/>
        </p:nvSpPr>
        <p:spPr bwMode="auto">
          <a:xfrm>
            <a:off x="9867900" y="4994910"/>
            <a:ext cx="750570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Monitoring tools</a:t>
            </a:r>
            <a:endParaRPr lang="en-US" sz="2400"/>
          </a:p>
        </p:txBody>
      </p:sp>
      <p:sp>
        <p:nvSpPr>
          <p:cNvPr id="1294028" name="Text 16"/>
          <p:cNvSpPr/>
          <p:nvPr/>
        </p:nvSpPr>
        <p:spPr bwMode="auto">
          <a:xfrm>
            <a:off x="9867900" y="5689282"/>
            <a:ext cx="112347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928374"/>
                </a:solidFill>
                <a:latin typeface="Inter"/>
                <a:ea typeface="Inter"/>
                <a:cs typeface="Inter"/>
              </a:rPr>
              <a:t>But.....?</a:t>
            </a:r>
            <a:endParaRPr lang="en-US" sz="2400"/>
          </a:p>
        </p:txBody>
      </p:sp>
      <p:sp>
        <p:nvSpPr>
          <p:cNvPr id="1552679546" name="Text 17"/>
          <p:cNvSpPr/>
          <p:nvPr/>
        </p:nvSpPr>
        <p:spPr bwMode="auto">
          <a:xfrm>
            <a:off x="9867900" y="6168390"/>
            <a:ext cx="7495413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 spc="33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Nothing quite like the SQL Server kit.</a:t>
            </a:r>
            <a:endParaRPr lang="en-US" sz="1650"/>
          </a:p>
        </p:txBody>
      </p:sp>
      <p:sp>
        <p:nvSpPr>
          <p:cNvPr id="1969017910" name="Text 18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06 / 16</a:t>
            </a:r>
            <a:endParaRPr lang="en-US" sz="1350"/>
          </a:p>
        </p:txBody>
      </p:sp>
      <p:sp>
        <p:nvSpPr>
          <p:cNvPr id="475961608" name="Text 10"/>
          <p:cNvSpPr/>
          <p:nvPr/>
        </p:nvSpPr>
        <p:spPr bwMode="auto">
          <a:xfrm>
            <a:off x="1485900" y="7473688"/>
            <a:ext cx="2197258" cy="409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CheckDB</a:t>
            </a:r>
            <a:endParaRPr lang="en-US" sz="2400"/>
          </a:p>
        </p:txBody>
      </p:sp>
      <p:sp>
        <p:nvSpPr>
          <p:cNvPr id="224627159" name="Text 11"/>
          <p:cNvSpPr/>
          <p:nvPr/>
        </p:nvSpPr>
        <p:spPr bwMode="auto">
          <a:xfrm>
            <a:off x="1485900" y="8013080"/>
            <a:ext cx="7495412" cy="362901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 spc="32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Paul S. Randal</a:t>
            </a:r>
            <a:endParaRPr lang="en-US" sz="16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781222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1927730958" name="Text 1"/>
          <p:cNvSpPr/>
          <p:nvPr/>
        </p:nvSpPr>
        <p:spPr bwMode="auto">
          <a:xfrm>
            <a:off x="15460980" y="466725"/>
            <a:ext cx="17602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07 · FEATURES</a:t>
            </a:r>
            <a:endParaRPr lang="en-US" sz="1500"/>
          </a:p>
        </p:txBody>
      </p:sp>
      <p:sp>
        <p:nvSpPr>
          <p:cNvPr id="2034643684" name="Text 2"/>
          <p:cNvSpPr/>
          <p:nvPr/>
        </p:nvSpPr>
        <p:spPr bwMode="auto">
          <a:xfrm>
            <a:off x="1143000" y="167640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31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PGFIRSTAID · FEATURES</a:t>
            </a:r>
            <a:endParaRPr lang="en-US" sz="1650"/>
          </a:p>
        </p:txBody>
      </p:sp>
      <p:sp>
        <p:nvSpPr>
          <p:cNvPr id="1045592893" name="Text 3"/>
          <p:cNvSpPr/>
          <p:nvPr/>
        </p:nvSpPr>
        <p:spPr bwMode="auto">
          <a:xfrm>
            <a:off x="1143000" y="2105025"/>
            <a:ext cx="164820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7200" b="1" spc="-72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What it does.</a:t>
            </a:r>
            <a:endParaRPr lang="en-US" sz="7200"/>
          </a:p>
        </p:txBody>
      </p:sp>
      <p:sp>
        <p:nvSpPr>
          <p:cNvPr id="308222993" name="Text 4"/>
          <p:cNvSpPr/>
          <p:nvPr/>
        </p:nvSpPr>
        <p:spPr bwMode="auto">
          <a:xfrm>
            <a:off x="1485900" y="3649028"/>
            <a:ext cx="287062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Zero dependencies</a:t>
            </a:r>
            <a:endParaRPr lang="en-US" sz="2400"/>
          </a:p>
        </p:txBody>
      </p:sp>
      <p:sp>
        <p:nvSpPr>
          <p:cNvPr id="336630521" name="Text 5"/>
          <p:cNvSpPr/>
          <p:nvPr/>
        </p:nvSpPr>
        <p:spPr bwMode="auto">
          <a:xfrm>
            <a:off x="1485900" y="4128135"/>
            <a:ext cx="16128873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 spc="33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Pure SQL — no extensions required to start</a:t>
            </a:r>
            <a:endParaRPr lang="en-US" sz="1650"/>
          </a:p>
        </p:txBody>
      </p:sp>
      <p:sp>
        <p:nvSpPr>
          <p:cNvPr id="1897078607" name="Text 6"/>
          <p:cNvSpPr/>
          <p:nvPr/>
        </p:nvSpPr>
        <p:spPr bwMode="auto">
          <a:xfrm>
            <a:off x="1485900" y="4674870"/>
            <a:ext cx="373462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Actionable health checks</a:t>
            </a:r>
            <a:endParaRPr lang="en-US" sz="2400"/>
          </a:p>
        </p:txBody>
      </p:sp>
      <p:sp>
        <p:nvSpPr>
          <p:cNvPr id="1066210505" name="Text 7"/>
          <p:cNvSpPr/>
          <p:nvPr/>
        </p:nvSpPr>
        <p:spPr bwMode="auto">
          <a:xfrm>
            <a:off x="1485900" y="5153977"/>
            <a:ext cx="16128873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 spc="33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Each result tells you what to do next</a:t>
            </a:r>
            <a:endParaRPr lang="en-US" sz="1650"/>
          </a:p>
        </p:txBody>
      </p:sp>
      <p:sp>
        <p:nvSpPr>
          <p:cNvPr id="741654257" name="Text 8"/>
          <p:cNvSpPr/>
          <p:nvPr/>
        </p:nvSpPr>
        <p:spPr bwMode="auto">
          <a:xfrm>
            <a:off x="1485900" y="5650230"/>
            <a:ext cx="1613916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Prioritized list by severity, out of the box</a:t>
            </a:r>
            <a:endParaRPr lang="en-US" sz="2400"/>
          </a:p>
        </p:txBody>
      </p:sp>
      <p:sp>
        <p:nvSpPr>
          <p:cNvPr id="193865270" name="Text 9"/>
          <p:cNvSpPr/>
          <p:nvPr/>
        </p:nvSpPr>
        <p:spPr bwMode="auto">
          <a:xfrm>
            <a:off x="1485900" y="6294120"/>
            <a:ext cx="1613916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Views for on-prem and managed instances</a:t>
            </a:r>
            <a:endParaRPr lang="en-US" sz="2400"/>
          </a:p>
        </p:txBody>
      </p:sp>
      <p:sp>
        <p:nvSpPr>
          <p:cNvPr id="2014110892" name="Text 10"/>
          <p:cNvSpPr/>
          <p:nvPr/>
        </p:nvSpPr>
        <p:spPr bwMode="auto">
          <a:xfrm>
            <a:off x="1485900" y="6938010"/>
            <a:ext cx="1613916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Recommendations + documentation links inline</a:t>
            </a:r>
            <a:endParaRPr lang="en-US" sz="2400"/>
          </a:p>
        </p:txBody>
      </p:sp>
      <p:sp>
        <p:nvSpPr>
          <p:cNvPr id="160237679" name="Text 11"/>
          <p:cNvSpPr/>
          <p:nvPr/>
        </p:nvSpPr>
        <p:spPr bwMode="auto">
          <a:xfrm>
            <a:off x="1485900" y="7581899"/>
            <a:ext cx="1613916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Optional: deeper checks with </a:t>
            </a:r>
            <a:r>
              <a:rPr lang="en-US" sz="2400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pg_stat_statements</a:t>
            </a:r>
            <a:endParaRPr lang="en-US" sz="2400"/>
          </a:p>
        </p:txBody>
      </p:sp>
      <p:sp>
        <p:nvSpPr>
          <p:cNvPr id="159275256" name="Text 12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07 / 16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927746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1505028471" name="Text 1"/>
          <p:cNvSpPr/>
          <p:nvPr/>
        </p:nvSpPr>
        <p:spPr bwMode="auto">
          <a:xfrm>
            <a:off x="15201900" y="466725"/>
            <a:ext cx="2019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08 · PRINCIPLES</a:t>
            </a:r>
            <a:endParaRPr lang="en-US" sz="1500"/>
          </a:p>
        </p:txBody>
      </p:sp>
      <p:sp>
        <p:nvSpPr>
          <p:cNvPr id="923985445" name="Text 2"/>
          <p:cNvSpPr/>
          <p:nvPr/>
        </p:nvSpPr>
        <p:spPr bwMode="auto">
          <a:xfrm>
            <a:off x="1143000" y="167640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31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CORE PRINCIPLES</a:t>
            </a:r>
            <a:endParaRPr lang="en-US" sz="1650"/>
          </a:p>
        </p:txBody>
      </p:sp>
      <p:sp>
        <p:nvSpPr>
          <p:cNvPr id="1237692380" name="Text 3"/>
          <p:cNvSpPr/>
          <p:nvPr/>
        </p:nvSpPr>
        <p:spPr bwMode="auto">
          <a:xfrm>
            <a:off x="1143000" y="2105025"/>
            <a:ext cx="164820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7200" b="1" spc="-72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Built for everyone in the room.</a:t>
            </a:r>
            <a:endParaRPr lang="en-US" sz="7200"/>
          </a:p>
        </p:txBody>
      </p:sp>
      <p:sp>
        <p:nvSpPr>
          <p:cNvPr id="1214052573" name="Text 4"/>
          <p:cNvSpPr/>
          <p:nvPr/>
        </p:nvSpPr>
        <p:spPr bwMode="auto">
          <a:xfrm>
            <a:off x="929639" y="3598544"/>
            <a:ext cx="78486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850" b="1">
                <a:solidFill>
                  <a:srgbClr val="FABD2F"/>
                </a:solidFill>
                <a:latin typeface="IBM Plex Sans Condensed"/>
                <a:ea typeface="IBM Plex Sans Condensed"/>
                <a:cs typeface="IBM Plex Sans Condensed"/>
              </a:rPr>
              <a:t>Broad target audience</a:t>
            </a:r>
            <a:endParaRPr lang="en-US" sz="2850"/>
          </a:p>
        </p:txBody>
      </p:sp>
      <p:sp>
        <p:nvSpPr>
          <p:cNvPr id="2070557835" name="Text 5"/>
          <p:cNvSpPr/>
          <p:nvPr/>
        </p:nvSpPr>
        <p:spPr bwMode="auto">
          <a:xfrm>
            <a:off x="929640" y="4227195"/>
            <a:ext cx="7909560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Developers</a:t>
            </a:r>
            <a:endParaRPr lang="en-US" sz="2400"/>
          </a:p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DBA / DBE</a:t>
            </a:r>
            <a:endParaRPr lang="en-US" sz="2400"/>
          </a:p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SREs</a:t>
            </a:r>
            <a:endParaRPr lang="en-US" sz="2400"/>
          </a:p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DevOps</a:t>
            </a:r>
            <a:endParaRPr lang="en-US" sz="2400"/>
          </a:p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ITOps</a:t>
            </a:r>
            <a:endParaRPr lang="en-US" sz="2400"/>
          </a:p>
        </p:txBody>
      </p:sp>
      <p:sp>
        <p:nvSpPr>
          <p:cNvPr id="218151793" name="Text 6"/>
          <p:cNvSpPr/>
          <p:nvPr/>
        </p:nvSpPr>
        <p:spPr bwMode="auto">
          <a:xfrm>
            <a:off x="9311639" y="3598544"/>
            <a:ext cx="78486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850" b="1">
                <a:solidFill>
                  <a:srgbClr val="FABD2F"/>
                </a:solidFill>
                <a:latin typeface="IBM Plex Sans Condensed"/>
                <a:ea typeface="IBM Plex Sans Condensed"/>
                <a:cs typeface="IBM Plex Sans Condensed"/>
              </a:rPr>
              <a:t>Zero dependencies</a:t>
            </a:r>
            <a:endParaRPr lang="en-US" sz="2850"/>
          </a:p>
        </p:txBody>
      </p:sp>
      <p:sp>
        <p:nvSpPr>
          <p:cNvPr id="1785636193" name="Text 7"/>
          <p:cNvSpPr/>
          <p:nvPr/>
        </p:nvSpPr>
        <p:spPr bwMode="auto">
          <a:xfrm>
            <a:off x="9311640" y="4227195"/>
            <a:ext cx="7909560" cy="1798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Operates on existing system tables and views</a:t>
            </a:r>
            <a:endParaRPr lang="en-US" sz="2400"/>
          </a:p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Lowers the barrier of entry</a:t>
            </a:r>
            <a:endParaRPr lang="en-US" sz="2400"/>
          </a:p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Hit the ground running on first execution</a:t>
            </a:r>
            <a:endParaRPr lang="en-US" sz="2400"/>
          </a:p>
        </p:txBody>
      </p:sp>
      <p:sp>
        <p:nvSpPr>
          <p:cNvPr id="2114152055" name="Text 8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08 / 16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971116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1918621336" name="Text 1"/>
          <p:cNvSpPr/>
          <p:nvPr/>
        </p:nvSpPr>
        <p:spPr bwMode="auto">
          <a:xfrm>
            <a:off x="14813280" y="466725"/>
            <a:ext cx="24079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09 · HEALTH CHECKS</a:t>
            </a:r>
            <a:endParaRPr lang="en-US" sz="1500"/>
          </a:p>
        </p:txBody>
      </p:sp>
      <p:sp>
        <p:nvSpPr>
          <p:cNvPr id="1729572277" name="Text 2"/>
          <p:cNvSpPr/>
          <p:nvPr/>
        </p:nvSpPr>
        <p:spPr bwMode="auto">
          <a:xfrm>
            <a:off x="1143000" y="167640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31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HEALTH CHECKS · SEVERITY</a:t>
            </a:r>
            <a:endParaRPr lang="en-US" sz="1650"/>
          </a:p>
        </p:txBody>
      </p:sp>
      <p:sp>
        <p:nvSpPr>
          <p:cNvPr id="1008706589" name="Text 3"/>
          <p:cNvSpPr/>
          <p:nvPr/>
        </p:nvSpPr>
        <p:spPr bwMode="auto">
          <a:xfrm>
            <a:off x="1143000" y="2105025"/>
            <a:ext cx="164820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7200" b="1" spc="-72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Five severity levels.</a:t>
            </a:r>
            <a:endParaRPr lang="en-US" sz="7200"/>
          </a:p>
        </p:txBody>
      </p:sp>
      <p:sp>
        <p:nvSpPr>
          <p:cNvPr id="1180158555" name="Shape 4"/>
          <p:cNvSpPr/>
          <p:nvPr/>
        </p:nvSpPr>
        <p:spPr bwMode="auto">
          <a:xfrm>
            <a:off x="1143000" y="4417695"/>
            <a:ext cx="160020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1615964678" name="Shape 5"/>
          <p:cNvSpPr/>
          <p:nvPr/>
        </p:nvSpPr>
        <p:spPr bwMode="auto">
          <a:xfrm>
            <a:off x="1143000" y="3731894"/>
            <a:ext cx="1714500" cy="476250"/>
          </a:xfrm>
          <a:prstGeom prst="roundRect">
            <a:avLst>
              <a:gd name="adj" fmla="val 4000"/>
            </a:avLst>
          </a:prstGeom>
          <a:ln w="9525">
            <a:solidFill>
              <a:srgbClr val="F42C3E"/>
            </a:solidFill>
            <a:prstDash val="solid"/>
          </a:ln>
        </p:spPr>
      </p:sp>
      <p:sp>
        <p:nvSpPr>
          <p:cNvPr id="1462524843" name="Text 6"/>
          <p:cNvSpPr/>
          <p:nvPr/>
        </p:nvSpPr>
        <p:spPr bwMode="auto">
          <a:xfrm>
            <a:off x="1285875" y="3817620"/>
            <a:ext cx="1428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spc="72">
                <a:solidFill>
                  <a:srgbClr val="F42C3E"/>
                </a:solidFill>
                <a:latin typeface="JetBrains Mono"/>
                <a:ea typeface="JetBrains Mono"/>
                <a:cs typeface="JetBrains Mono"/>
              </a:rPr>
              <a:t>CRITICAL</a:t>
            </a:r>
            <a:endParaRPr lang="en-US" sz="1800"/>
          </a:p>
        </p:txBody>
      </p:sp>
      <p:sp>
        <p:nvSpPr>
          <p:cNvPr id="375516506" name="Text 7"/>
          <p:cNvSpPr/>
          <p:nvPr/>
        </p:nvSpPr>
        <p:spPr bwMode="auto">
          <a:xfrm>
            <a:off x="3162300" y="3784281"/>
            <a:ext cx="1440218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>
                <a:solidFill>
                  <a:srgbClr val="D5C4A1"/>
                </a:solidFill>
                <a:latin typeface="Inter"/>
                <a:ea typeface="Inter"/>
                <a:cs typeface="Inter"/>
              </a:rPr>
              <a:t>Tables without primary keys</a:t>
            </a:r>
            <a:endParaRPr lang="en-US" sz="2400"/>
          </a:p>
        </p:txBody>
      </p:sp>
      <p:sp>
        <p:nvSpPr>
          <p:cNvPr id="117706753" name="Shape 8"/>
          <p:cNvSpPr/>
          <p:nvPr/>
        </p:nvSpPr>
        <p:spPr bwMode="auto">
          <a:xfrm>
            <a:off x="1143000" y="5322570"/>
            <a:ext cx="160020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568367272" name="Shape 9"/>
          <p:cNvSpPr/>
          <p:nvPr/>
        </p:nvSpPr>
        <p:spPr bwMode="auto">
          <a:xfrm>
            <a:off x="1143000" y="4636770"/>
            <a:ext cx="1714500" cy="476250"/>
          </a:xfrm>
          <a:prstGeom prst="roundRect">
            <a:avLst>
              <a:gd name="adj" fmla="val 4000"/>
            </a:avLst>
          </a:prstGeom>
          <a:ln w="9525">
            <a:solidFill>
              <a:srgbClr val="FE8019"/>
            </a:solidFill>
            <a:prstDash val="solid"/>
          </a:ln>
        </p:spPr>
      </p:sp>
      <p:sp>
        <p:nvSpPr>
          <p:cNvPr id="507048084" name="Text 10"/>
          <p:cNvSpPr/>
          <p:nvPr/>
        </p:nvSpPr>
        <p:spPr bwMode="auto">
          <a:xfrm>
            <a:off x="1285875" y="4722495"/>
            <a:ext cx="1428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spc="72">
                <a:solidFill>
                  <a:srgbClr val="FE8019"/>
                </a:solidFill>
                <a:latin typeface="JetBrains Mono"/>
                <a:ea typeface="JetBrains Mono"/>
                <a:cs typeface="JetBrains Mono"/>
              </a:rPr>
              <a:t>HIGH</a:t>
            </a:r>
            <a:endParaRPr lang="en-US" sz="1800"/>
          </a:p>
        </p:txBody>
      </p:sp>
      <p:sp>
        <p:nvSpPr>
          <p:cNvPr id="1218232695" name="Text 11"/>
          <p:cNvSpPr/>
          <p:nvPr/>
        </p:nvSpPr>
        <p:spPr bwMode="auto">
          <a:xfrm>
            <a:off x="3162300" y="4689157"/>
            <a:ext cx="1440218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>
                <a:solidFill>
                  <a:srgbClr val="D5C4A1"/>
                </a:solidFill>
                <a:latin typeface="Inter"/>
                <a:ea typeface="Inter"/>
                <a:cs typeface="Inter"/>
              </a:rPr>
              <a:t>Tables larger than </a:t>
            </a:r>
            <a:r>
              <a:rPr lang="en-US" sz="1950">
                <a:solidFill>
                  <a:srgbClr val="EBDBB2"/>
                </a:solidFill>
                <a:highlight>
                  <a:srgbClr val="282828"/>
                </a:highlight>
                <a:latin typeface="JetBrains Mono"/>
                <a:ea typeface="JetBrains Mono"/>
                <a:cs typeface="JetBrains Mono"/>
              </a:rPr>
              <a:t>100 GB</a:t>
            </a:r>
            <a:endParaRPr lang="en-US" sz="2400"/>
          </a:p>
        </p:txBody>
      </p:sp>
      <p:sp>
        <p:nvSpPr>
          <p:cNvPr id="808164973" name="Shape 12"/>
          <p:cNvSpPr/>
          <p:nvPr/>
        </p:nvSpPr>
        <p:spPr bwMode="auto">
          <a:xfrm>
            <a:off x="1143000" y="6227445"/>
            <a:ext cx="160020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668704260" name="Shape 13"/>
          <p:cNvSpPr/>
          <p:nvPr/>
        </p:nvSpPr>
        <p:spPr bwMode="auto">
          <a:xfrm>
            <a:off x="1143000" y="5541645"/>
            <a:ext cx="1714500" cy="476250"/>
          </a:xfrm>
          <a:prstGeom prst="roundRect">
            <a:avLst>
              <a:gd name="adj" fmla="val 4000"/>
            </a:avLst>
          </a:prstGeom>
          <a:ln w="9525">
            <a:solidFill>
              <a:srgbClr val="FABD2F"/>
            </a:solidFill>
            <a:prstDash val="solid"/>
          </a:ln>
        </p:spPr>
      </p:sp>
      <p:sp>
        <p:nvSpPr>
          <p:cNvPr id="112654930" name="Text 14"/>
          <p:cNvSpPr/>
          <p:nvPr/>
        </p:nvSpPr>
        <p:spPr bwMode="auto">
          <a:xfrm>
            <a:off x="1285875" y="5627370"/>
            <a:ext cx="1428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spc="72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MEDIUM</a:t>
            </a:r>
            <a:endParaRPr lang="en-US" sz="1800"/>
          </a:p>
        </p:txBody>
      </p:sp>
      <p:sp>
        <p:nvSpPr>
          <p:cNvPr id="148506287" name="Text 15"/>
          <p:cNvSpPr/>
          <p:nvPr/>
        </p:nvSpPr>
        <p:spPr bwMode="auto">
          <a:xfrm>
            <a:off x="3162300" y="5594032"/>
            <a:ext cx="1440218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>
                <a:solidFill>
                  <a:srgbClr val="D5C4A1"/>
                </a:solidFill>
                <a:latin typeface="Inter"/>
                <a:ea typeface="Inter"/>
                <a:cs typeface="Inter"/>
              </a:rPr>
              <a:t>Tables with more than 50 columns</a:t>
            </a:r>
            <a:endParaRPr lang="en-US" sz="2400"/>
          </a:p>
        </p:txBody>
      </p:sp>
      <p:sp>
        <p:nvSpPr>
          <p:cNvPr id="851581842" name="Shape 16"/>
          <p:cNvSpPr/>
          <p:nvPr/>
        </p:nvSpPr>
        <p:spPr bwMode="auto">
          <a:xfrm>
            <a:off x="1143000" y="7132320"/>
            <a:ext cx="16002000" cy="9525"/>
          </a:xfrm>
          <a:prstGeom prst="rect">
            <a:avLst/>
          </a:prstGeom>
          <a:solidFill>
            <a:srgbClr val="504945"/>
          </a:solidFill>
          <a:ln/>
        </p:spPr>
      </p:sp>
      <p:sp>
        <p:nvSpPr>
          <p:cNvPr id="1831911955" name="Shape 17"/>
          <p:cNvSpPr/>
          <p:nvPr/>
        </p:nvSpPr>
        <p:spPr bwMode="auto">
          <a:xfrm>
            <a:off x="1143000" y="6446520"/>
            <a:ext cx="1714500" cy="476250"/>
          </a:xfrm>
          <a:prstGeom prst="roundRect">
            <a:avLst>
              <a:gd name="adj" fmla="val 4000"/>
            </a:avLst>
          </a:prstGeom>
          <a:ln w="9525">
            <a:solidFill>
              <a:srgbClr val="B8BB26"/>
            </a:solidFill>
            <a:prstDash val="solid"/>
          </a:ln>
        </p:spPr>
      </p:sp>
      <p:sp>
        <p:nvSpPr>
          <p:cNvPr id="1808151591" name="Text 18"/>
          <p:cNvSpPr/>
          <p:nvPr/>
        </p:nvSpPr>
        <p:spPr bwMode="auto">
          <a:xfrm>
            <a:off x="1285875" y="6532245"/>
            <a:ext cx="1428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spc="72">
                <a:solidFill>
                  <a:srgbClr val="B8BB26"/>
                </a:solidFill>
                <a:latin typeface="JetBrains Mono"/>
                <a:ea typeface="JetBrains Mono"/>
                <a:cs typeface="JetBrains Mono"/>
              </a:rPr>
              <a:t>LOW</a:t>
            </a:r>
            <a:endParaRPr lang="en-US" sz="1800"/>
          </a:p>
        </p:txBody>
      </p:sp>
      <p:sp>
        <p:nvSpPr>
          <p:cNvPr id="1243122768" name="Text 19"/>
          <p:cNvSpPr/>
          <p:nvPr/>
        </p:nvSpPr>
        <p:spPr bwMode="auto">
          <a:xfrm>
            <a:off x="3162300" y="6498907"/>
            <a:ext cx="1440218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>
                <a:solidFill>
                  <a:srgbClr val="D5C4A1"/>
                </a:solidFill>
                <a:latin typeface="Inter"/>
                <a:ea typeface="Inter"/>
                <a:cs typeface="Inter"/>
              </a:rPr>
              <a:t>Idle connections for &gt; 1 hour</a:t>
            </a:r>
            <a:endParaRPr lang="en-US" sz="2400"/>
          </a:p>
        </p:txBody>
      </p:sp>
      <p:sp>
        <p:nvSpPr>
          <p:cNvPr id="153299321" name="Shape 20"/>
          <p:cNvSpPr/>
          <p:nvPr/>
        </p:nvSpPr>
        <p:spPr bwMode="auto">
          <a:xfrm>
            <a:off x="1143000" y="7351395"/>
            <a:ext cx="1714500" cy="476250"/>
          </a:xfrm>
          <a:prstGeom prst="roundRect">
            <a:avLst>
              <a:gd name="adj" fmla="val 4000"/>
            </a:avLst>
          </a:prstGeom>
          <a:ln w="9525">
            <a:solidFill>
              <a:srgbClr val="99C6CA"/>
            </a:solidFill>
            <a:prstDash val="solid"/>
          </a:ln>
        </p:spPr>
      </p:sp>
      <p:sp>
        <p:nvSpPr>
          <p:cNvPr id="1643409841" name="Text 21"/>
          <p:cNvSpPr/>
          <p:nvPr/>
        </p:nvSpPr>
        <p:spPr bwMode="auto">
          <a:xfrm>
            <a:off x="1285875" y="7437120"/>
            <a:ext cx="1428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800" spc="72">
                <a:solidFill>
                  <a:srgbClr val="99C6CA"/>
                </a:solidFill>
                <a:latin typeface="JetBrains Mono"/>
                <a:ea typeface="JetBrains Mono"/>
                <a:cs typeface="JetBrains Mono"/>
              </a:rPr>
              <a:t>INFO</a:t>
            </a:r>
            <a:endParaRPr lang="en-US" sz="1800"/>
          </a:p>
        </p:txBody>
      </p:sp>
      <p:sp>
        <p:nvSpPr>
          <p:cNvPr id="1019046282" name="Text 22"/>
          <p:cNvSpPr/>
          <p:nvPr/>
        </p:nvSpPr>
        <p:spPr bwMode="auto">
          <a:xfrm>
            <a:off x="3162300" y="7403782"/>
            <a:ext cx="1440218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>
                <a:solidFill>
                  <a:srgbClr val="D5C4A1"/>
                </a:solidFill>
                <a:latin typeface="Inter"/>
                <a:ea typeface="Inter"/>
                <a:cs typeface="Inter"/>
              </a:rPr>
              <a:t>Server uptime, version, basic facts</a:t>
            </a:r>
            <a:endParaRPr lang="en-US" sz="2400"/>
          </a:p>
        </p:txBody>
      </p:sp>
      <p:sp>
        <p:nvSpPr>
          <p:cNvPr id="1590185080" name="Text 23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09 / 16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133941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1054646643" name="Text 1"/>
          <p:cNvSpPr/>
          <p:nvPr/>
        </p:nvSpPr>
        <p:spPr bwMode="auto">
          <a:xfrm>
            <a:off x="14683740" y="466725"/>
            <a:ext cx="25374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10 · SCENARIO · DEV</a:t>
            </a:r>
            <a:endParaRPr lang="en-US" sz="1500"/>
          </a:p>
        </p:txBody>
      </p:sp>
      <p:sp>
        <p:nvSpPr>
          <p:cNvPr id="1410044334" name="Text 2"/>
          <p:cNvSpPr/>
          <p:nvPr/>
        </p:nvSpPr>
        <p:spPr bwMode="auto">
          <a:xfrm>
            <a:off x="1143000" y="167640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31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SCENARIO_01 · DEVELOPER</a:t>
            </a:r>
            <a:endParaRPr lang="en-US" sz="1650"/>
          </a:p>
        </p:txBody>
      </p:sp>
      <p:sp>
        <p:nvSpPr>
          <p:cNvPr id="1835871866" name="Text 3"/>
          <p:cNvSpPr/>
          <p:nvPr/>
        </p:nvSpPr>
        <p:spPr bwMode="auto">
          <a:xfrm>
            <a:off x="1143000" y="2105025"/>
            <a:ext cx="164820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7200" b="1" spc="-72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A guardrail in the dev lifecycle.</a:t>
            </a:r>
            <a:endParaRPr lang="en-US" sz="7200"/>
          </a:p>
        </p:txBody>
      </p:sp>
      <p:sp>
        <p:nvSpPr>
          <p:cNvPr id="2046260047" name="Text 4"/>
          <p:cNvSpPr/>
          <p:nvPr/>
        </p:nvSpPr>
        <p:spPr bwMode="auto">
          <a:xfrm>
            <a:off x="1143000" y="3217545"/>
            <a:ext cx="1648206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800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pgFirstAid integrates as a guardrail within the development lifecycle.</a:t>
            </a:r>
            <a:endParaRPr lang="en-US" sz="1800"/>
          </a:p>
        </p:txBody>
      </p:sp>
      <p:sp>
        <p:nvSpPr>
          <p:cNvPr id="1029658957" name="Shape 5"/>
          <p:cNvSpPr/>
          <p:nvPr/>
        </p:nvSpPr>
        <p:spPr bwMode="auto">
          <a:xfrm>
            <a:off x="1143000" y="3952875"/>
            <a:ext cx="3829050" cy="2193608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624024238" name="Shape 6"/>
          <p:cNvSpPr/>
          <p:nvPr/>
        </p:nvSpPr>
        <p:spPr bwMode="auto">
          <a:xfrm>
            <a:off x="1143000" y="3952875"/>
            <a:ext cx="28575" cy="2193608"/>
          </a:xfrm>
          <a:prstGeom prst="rect">
            <a:avLst/>
          </a:prstGeom>
          <a:solidFill>
            <a:srgbClr val="FABD2F"/>
          </a:solidFill>
          <a:ln/>
        </p:spPr>
      </p:sp>
      <p:sp>
        <p:nvSpPr>
          <p:cNvPr id="1513611656" name="Text 7"/>
          <p:cNvSpPr/>
          <p:nvPr/>
        </p:nvSpPr>
        <p:spPr bwMode="auto">
          <a:xfrm>
            <a:off x="1438275" y="4181475"/>
            <a:ext cx="33650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210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STEP 01</a:t>
            </a:r>
            <a:endParaRPr lang="en-US" sz="1500"/>
          </a:p>
        </p:txBody>
      </p:sp>
      <p:sp>
        <p:nvSpPr>
          <p:cNvPr id="778551709" name="Text 8"/>
          <p:cNvSpPr/>
          <p:nvPr/>
        </p:nvSpPr>
        <p:spPr bwMode="auto">
          <a:xfrm>
            <a:off x="1438275" y="4486275"/>
            <a:ext cx="336508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250" b="1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Schema definition</a:t>
            </a:r>
            <a:endParaRPr lang="en-US" sz="2250"/>
          </a:p>
        </p:txBody>
      </p:sp>
      <p:sp>
        <p:nvSpPr>
          <p:cNvPr id="314306801" name="Text 9"/>
          <p:cNvSpPr/>
          <p:nvPr/>
        </p:nvSpPr>
        <p:spPr bwMode="auto">
          <a:xfrm>
            <a:off x="1438275" y="4943475"/>
            <a:ext cx="3365087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>
                <a:solidFill>
                  <a:srgbClr val="A89984"/>
                </a:solidFill>
                <a:latin typeface="Inter"/>
                <a:ea typeface="Inter"/>
                <a:cs typeface="Inter"/>
              </a:rPr>
              <a:t>Developer defines schema using standard SQL / migrations.</a:t>
            </a:r>
            <a:endParaRPr lang="en-US" sz="1650"/>
          </a:p>
        </p:txBody>
      </p:sp>
      <p:sp>
        <p:nvSpPr>
          <p:cNvPr id="1496748711" name="Shape 10"/>
          <p:cNvSpPr/>
          <p:nvPr/>
        </p:nvSpPr>
        <p:spPr bwMode="auto">
          <a:xfrm>
            <a:off x="5200650" y="3952875"/>
            <a:ext cx="3829050" cy="2193608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575433968" name="Shape 11"/>
          <p:cNvSpPr/>
          <p:nvPr/>
        </p:nvSpPr>
        <p:spPr bwMode="auto">
          <a:xfrm>
            <a:off x="5200650" y="3952875"/>
            <a:ext cx="28575" cy="2193608"/>
          </a:xfrm>
          <a:prstGeom prst="rect">
            <a:avLst/>
          </a:prstGeom>
          <a:solidFill>
            <a:srgbClr val="FABD2F"/>
          </a:solidFill>
          <a:ln/>
        </p:spPr>
      </p:sp>
      <p:sp>
        <p:nvSpPr>
          <p:cNvPr id="1172539638" name="Text 12"/>
          <p:cNvSpPr/>
          <p:nvPr/>
        </p:nvSpPr>
        <p:spPr bwMode="auto">
          <a:xfrm>
            <a:off x="5495925" y="4181475"/>
            <a:ext cx="33650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210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STEP 02</a:t>
            </a:r>
            <a:endParaRPr lang="en-US" sz="1500"/>
          </a:p>
        </p:txBody>
      </p:sp>
      <p:sp>
        <p:nvSpPr>
          <p:cNvPr id="1788506777" name="Text 13"/>
          <p:cNvSpPr/>
          <p:nvPr/>
        </p:nvSpPr>
        <p:spPr bwMode="auto">
          <a:xfrm>
            <a:off x="5495925" y="4486275"/>
            <a:ext cx="336508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250" b="1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Analysis trigger</a:t>
            </a:r>
            <a:endParaRPr lang="en-US" sz="2250"/>
          </a:p>
        </p:txBody>
      </p:sp>
      <p:sp>
        <p:nvSpPr>
          <p:cNvPr id="520291083" name="Text 14"/>
          <p:cNvSpPr/>
          <p:nvPr/>
        </p:nvSpPr>
        <p:spPr bwMode="auto">
          <a:xfrm>
            <a:off x="5495925" y="4943475"/>
            <a:ext cx="3365087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>
                <a:solidFill>
                  <a:srgbClr val="A89984"/>
                </a:solidFill>
                <a:latin typeface="Inter"/>
                <a:ea typeface="Inter"/>
                <a:cs typeface="Inter"/>
              </a:rPr>
              <a:t>Tool runs against the schema state — pre-commit hook or CI.</a:t>
            </a:r>
            <a:endParaRPr lang="en-US" sz="1650"/>
          </a:p>
        </p:txBody>
      </p:sp>
      <p:sp>
        <p:nvSpPr>
          <p:cNvPr id="6727127" name="Shape 15"/>
          <p:cNvSpPr/>
          <p:nvPr/>
        </p:nvSpPr>
        <p:spPr bwMode="auto">
          <a:xfrm>
            <a:off x="9258300" y="3952875"/>
            <a:ext cx="3829050" cy="2193608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1569551406" name="Shape 16"/>
          <p:cNvSpPr/>
          <p:nvPr/>
        </p:nvSpPr>
        <p:spPr bwMode="auto">
          <a:xfrm>
            <a:off x="9258300" y="3952875"/>
            <a:ext cx="28575" cy="2193608"/>
          </a:xfrm>
          <a:prstGeom prst="rect">
            <a:avLst/>
          </a:prstGeom>
          <a:solidFill>
            <a:srgbClr val="FABD2F"/>
          </a:solidFill>
          <a:ln/>
        </p:spPr>
      </p:sp>
      <p:sp>
        <p:nvSpPr>
          <p:cNvPr id="317698702" name="Text 17"/>
          <p:cNvSpPr/>
          <p:nvPr/>
        </p:nvSpPr>
        <p:spPr bwMode="auto">
          <a:xfrm>
            <a:off x="9553575" y="4181475"/>
            <a:ext cx="33650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210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STEP 03</a:t>
            </a:r>
            <a:endParaRPr lang="en-US" sz="1500"/>
          </a:p>
        </p:txBody>
      </p:sp>
      <p:sp>
        <p:nvSpPr>
          <p:cNvPr id="1825852036" name="Text 18"/>
          <p:cNvSpPr/>
          <p:nvPr/>
        </p:nvSpPr>
        <p:spPr bwMode="auto">
          <a:xfrm>
            <a:off x="9553575" y="4486275"/>
            <a:ext cx="336508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250" b="1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Inspection</a:t>
            </a:r>
            <a:endParaRPr lang="en-US" sz="2250"/>
          </a:p>
        </p:txBody>
      </p:sp>
      <p:sp>
        <p:nvSpPr>
          <p:cNvPr id="1541307820" name="Text 19"/>
          <p:cNvSpPr/>
          <p:nvPr/>
        </p:nvSpPr>
        <p:spPr bwMode="auto">
          <a:xfrm>
            <a:off x="9553575" y="4943475"/>
            <a:ext cx="3365087" cy="1012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>
                <a:solidFill>
                  <a:srgbClr val="A89984"/>
                </a:solidFill>
                <a:latin typeface="Inter"/>
                <a:ea typeface="Inter"/>
                <a:cs typeface="Inter"/>
              </a:rPr>
              <a:t>Queries system metadata for pattern violations: missing FKs, datatype misuse, indexing gaps.</a:t>
            </a:r>
            <a:endParaRPr lang="en-US" sz="1650"/>
          </a:p>
        </p:txBody>
      </p:sp>
      <p:sp>
        <p:nvSpPr>
          <p:cNvPr id="27312683" name="Shape 20"/>
          <p:cNvSpPr/>
          <p:nvPr/>
        </p:nvSpPr>
        <p:spPr bwMode="auto">
          <a:xfrm>
            <a:off x="13315950" y="3952875"/>
            <a:ext cx="3829050" cy="2193608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1453437762" name="Shape 21"/>
          <p:cNvSpPr/>
          <p:nvPr/>
        </p:nvSpPr>
        <p:spPr bwMode="auto">
          <a:xfrm>
            <a:off x="13315950" y="3952875"/>
            <a:ext cx="28575" cy="2193608"/>
          </a:xfrm>
          <a:prstGeom prst="rect">
            <a:avLst/>
          </a:prstGeom>
          <a:solidFill>
            <a:srgbClr val="FABD2F"/>
          </a:solidFill>
          <a:ln/>
        </p:spPr>
      </p:sp>
      <p:sp>
        <p:nvSpPr>
          <p:cNvPr id="1870860678" name="Text 22"/>
          <p:cNvSpPr/>
          <p:nvPr/>
        </p:nvSpPr>
        <p:spPr bwMode="auto">
          <a:xfrm>
            <a:off x="13611225" y="4181475"/>
            <a:ext cx="33650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210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STEP 04</a:t>
            </a:r>
            <a:endParaRPr lang="en-US" sz="1500"/>
          </a:p>
        </p:txBody>
      </p:sp>
      <p:sp>
        <p:nvSpPr>
          <p:cNvPr id="924798331" name="Text 23"/>
          <p:cNvSpPr/>
          <p:nvPr/>
        </p:nvSpPr>
        <p:spPr bwMode="auto">
          <a:xfrm>
            <a:off x="13611225" y="4486275"/>
            <a:ext cx="336508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250" b="1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Reporting</a:t>
            </a:r>
            <a:endParaRPr lang="en-US" sz="2250"/>
          </a:p>
        </p:txBody>
      </p:sp>
      <p:sp>
        <p:nvSpPr>
          <p:cNvPr id="1965153420" name="Text 24"/>
          <p:cNvSpPr/>
          <p:nvPr/>
        </p:nvSpPr>
        <p:spPr bwMode="auto">
          <a:xfrm>
            <a:off x="13611225" y="4943475"/>
            <a:ext cx="3365087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>
                <a:solidFill>
                  <a:srgbClr val="A89984"/>
                </a:solidFill>
                <a:latin typeface="Inter"/>
                <a:ea typeface="Inter"/>
                <a:cs typeface="Inter"/>
              </a:rPr>
              <a:t>Structured report detailing risks and the necessary fixes.</a:t>
            </a:r>
            <a:endParaRPr lang="en-US" sz="1650"/>
          </a:p>
        </p:txBody>
      </p:sp>
      <p:sp>
        <p:nvSpPr>
          <p:cNvPr id="1529202310" name="Text 25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10 / 16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456937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40968715" name="Text 1"/>
          <p:cNvSpPr/>
          <p:nvPr/>
        </p:nvSpPr>
        <p:spPr bwMode="auto">
          <a:xfrm>
            <a:off x="14295120" y="466725"/>
            <a:ext cx="29353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11 · SCENARIO · DEVOPS</a:t>
            </a:r>
            <a:endParaRPr lang="en-US" sz="1500"/>
          </a:p>
        </p:txBody>
      </p:sp>
      <p:sp>
        <p:nvSpPr>
          <p:cNvPr id="1866608902" name="Text 2"/>
          <p:cNvSpPr/>
          <p:nvPr/>
        </p:nvSpPr>
        <p:spPr bwMode="auto">
          <a:xfrm>
            <a:off x="1143000" y="167640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31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SCENARIO_02 · DEVOPS</a:t>
            </a:r>
            <a:endParaRPr lang="en-US" sz="1650"/>
          </a:p>
        </p:txBody>
      </p:sp>
      <p:sp>
        <p:nvSpPr>
          <p:cNvPr id="1533152632" name="Text 3"/>
          <p:cNvSpPr/>
          <p:nvPr/>
        </p:nvSpPr>
        <p:spPr bwMode="auto">
          <a:xfrm flipH="0" flipV="0">
            <a:off x="1143000" y="2105024"/>
            <a:ext cx="17450069" cy="1608519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7200" b="1" spc="-72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A proactive check before deployment.</a:t>
            </a:r>
            <a:endParaRPr lang="en-US" sz="7200"/>
          </a:p>
        </p:txBody>
      </p:sp>
      <p:sp>
        <p:nvSpPr>
          <p:cNvPr id="796119315" name="Text 10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11 / 16</a:t>
            </a:r>
            <a:endParaRPr lang="en-US" sz="1350"/>
          </a:p>
        </p:txBody>
      </p:sp>
      <p:sp>
        <p:nvSpPr>
          <p:cNvPr id="607193741" name="Shape 5"/>
          <p:cNvSpPr/>
          <p:nvPr/>
        </p:nvSpPr>
        <p:spPr bwMode="auto">
          <a:xfrm>
            <a:off x="1128712" y="3837145"/>
            <a:ext cx="3829050" cy="2193607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864239484" name="Shape 6"/>
          <p:cNvSpPr/>
          <p:nvPr/>
        </p:nvSpPr>
        <p:spPr bwMode="auto">
          <a:xfrm>
            <a:off x="1128712" y="3837145"/>
            <a:ext cx="28575" cy="2193607"/>
          </a:xfrm>
          <a:prstGeom prst="rect">
            <a:avLst/>
          </a:prstGeom>
          <a:solidFill>
            <a:srgbClr val="FABD2F"/>
          </a:solidFill>
          <a:ln/>
        </p:spPr>
      </p:sp>
      <p:sp>
        <p:nvSpPr>
          <p:cNvPr id="857818112" name="Text 7"/>
          <p:cNvSpPr/>
          <p:nvPr/>
        </p:nvSpPr>
        <p:spPr bwMode="auto">
          <a:xfrm>
            <a:off x="1423987" y="4065745"/>
            <a:ext cx="3365086" cy="285750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209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STEP 01</a:t>
            </a:r>
            <a:endParaRPr lang="en-US" sz="1500"/>
          </a:p>
        </p:txBody>
      </p:sp>
      <p:sp>
        <p:nvSpPr>
          <p:cNvPr id="1161005561" name="Text 8"/>
          <p:cNvSpPr/>
          <p:nvPr/>
        </p:nvSpPr>
        <p:spPr bwMode="auto">
          <a:xfrm>
            <a:off x="1423987" y="4370545"/>
            <a:ext cx="3365086" cy="419099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250" b="1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Testing Before Deploy</a:t>
            </a:r>
            <a:endParaRPr lang="en-US" sz="2250"/>
          </a:p>
        </p:txBody>
      </p:sp>
      <p:sp>
        <p:nvSpPr>
          <p:cNvPr id="818707868" name="Text 9"/>
          <p:cNvSpPr/>
          <p:nvPr/>
        </p:nvSpPr>
        <p:spPr bwMode="auto">
          <a:xfrm flipH="0" flipV="0">
            <a:off x="1423987" y="4827745"/>
            <a:ext cx="3479143" cy="1386429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25399" tIns="25399" rIns="25399" bIns="25399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000" b="0" i="0" u="none" strike="noStrike" cap="none" spc="32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Catch missing indexes, slow queries, sleeping connections before prod</a:t>
            </a:r>
            <a:endParaRPr sz="2400"/>
          </a:p>
          <a:p>
            <a:pPr marL="0" indent="0" algn="l">
              <a:lnSpc>
                <a:spcPct val="155000"/>
              </a:lnSpc>
              <a:buNone/>
              <a:defRPr/>
            </a:pPr>
            <a:endParaRPr sz="1200"/>
          </a:p>
        </p:txBody>
      </p:sp>
      <p:sp>
        <p:nvSpPr>
          <p:cNvPr id="1763690074" name="Shape 10"/>
          <p:cNvSpPr/>
          <p:nvPr/>
        </p:nvSpPr>
        <p:spPr bwMode="auto">
          <a:xfrm>
            <a:off x="5186362" y="3837145"/>
            <a:ext cx="3829050" cy="2193607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38948649" name="Shape 11"/>
          <p:cNvSpPr/>
          <p:nvPr/>
        </p:nvSpPr>
        <p:spPr bwMode="auto">
          <a:xfrm>
            <a:off x="5186362" y="3837145"/>
            <a:ext cx="28575" cy="2193607"/>
          </a:xfrm>
          <a:prstGeom prst="rect">
            <a:avLst/>
          </a:prstGeom>
          <a:solidFill>
            <a:srgbClr val="FABD2F"/>
          </a:solidFill>
          <a:ln/>
        </p:spPr>
      </p:sp>
      <p:sp>
        <p:nvSpPr>
          <p:cNvPr id="538195659" name="Text 12"/>
          <p:cNvSpPr/>
          <p:nvPr/>
        </p:nvSpPr>
        <p:spPr bwMode="auto">
          <a:xfrm>
            <a:off x="5481636" y="4065745"/>
            <a:ext cx="3365086" cy="285750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209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STEP 02</a:t>
            </a:r>
            <a:endParaRPr lang="en-US" sz="1500"/>
          </a:p>
        </p:txBody>
      </p:sp>
      <p:sp>
        <p:nvSpPr>
          <p:cNvPr id="1503320588" name="Text 13"/>
          <p:cNvSpPr/>
          <p:nvPr/>
        </p:nvSpPr>
        <p:spPr bwMode="auto">
          <a:xfrm>
            <a:off x="5481636" y="4370545"/>
            <a:ext cx="3365086" cy="419099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250" b="1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Instant Feedback</a:t>
            </a:r>
            <a:endParaRPr lang="en-US" sz="2250"/>
          </a:p>
        </p:txBody>
      </p:sp>
      <p:sp>
        <p:nvSpPr>
          <p:cNvPr id="2100166610" name="Text 14"/>
          <p:cNvSpPr/>
          <p:nvPr/>
        </p:nvSpPr>
        <p:spPr bwMode="auto">
          <a:xfrm flipH="0" flipV="0">
            <a:off x="5481636" y="4827745"/>
            <a:ext cx="3365086" cy="112117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25399" tIns="25399" rIns="25399" bIns="25399" numCol="1" spcCol="0" rtlCol="0" fromWordArt="0" anchor="t" anchorCtr="0" forceAA="0" upright="0" compatLnSpc="0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>
                <a:solidFill>
                  <a:srgbClr val="A89984"/>
                </a:solidFill>
                <a:latin typeface="Inter"/>
                <a:ea typeface="Inter"/>
                <a:cs typeface="Inter"/>
              </a:rPr>
              <a:t>No more wasted cycles chasing red herrings</a:t>
            </a:r>
            <a:endParaRPr lang="en-US" sz="1650"/>
          </a:p>
        </p:txBody>
      </p:sp>
      <p:sp>
        <p:nvSpPr>
          <p:cNvPr id="608156867" name="Shape 15"/>
          <p:cNvSpPr/>
          <p:nvPr/>
        </p:nvSpPr>
        <p:spPr bwMode="auto">
          <a:xfrm>
            <a:off x="9244012" y="3837145"/>
            <a:ext cx="3829050" cy="2193607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326128579" name="Shape 16"/>
          <p:cNvSpPr/>
          <p:nvPr/>
        </p:nvSpPr>
        <p:spPr bwMode="auto">
          <a:xfrm>
            <a:off x="9244012" y="3837145"/>
            <a:ext cx="28575" cy="2193607"/>
          </a:xfrm>
          <a:prstGeom prst="rect">
            <a:avLst/>
          </a:prstGeom>
          <a:solidFill>
            <a:srgbClr val="FABD2F"/>
          </a:solidFill>
          <a:ln/>
        </p:spPr>
      </p:sp>
      <p:sp>
        <p:nvSpPr>
          <p:cNvPr id="1037535393" name="Text 17"/>
          <p:cNvSpPr/>
          <p:nvPr/>
        </p:nvSpPr>
        <p:spPr bwMode="auto">
          <a:xfrm>
            <a:off x="9539287" y="4065745"/>
            <a:ext cx="3365086" cy="285750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209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STEP 03</a:t>
            </a:r>
            <a:endParaRPr lang="en-US" sz="1500"/>
          </a:p>
        </p:txBody>
      </p:sp>
      <p:sp>
        <p:nvSpPr>
          <p:cNvPr id="456818242" name="Text 18"/>
          <p:cNvSpPr/>
          <p:nvPr/>
        </p:nvSpPr>
        <p:spPr bwMode="auto">
          <a:xfrm>
            <a:off x="9539287" y="4370545"/>
            <a:ext cx="3365086" cy="419099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25399" tIns="25399" rIns="25399" bIns="25399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 algn="l">
              <a:buNone/>
              <a:defRPr/>
            </a:pPr>
            <a:r>
              <a:rPr lang="en-US" sz="2250" b="1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Post Deployment Check</a:t>
            </a:r>
            <a:endParaRPr lang="en-US" sz="2250"/>
          </a:p>
        </p:txBody>
      </p:sp>
      <p:sp>
        <p:nvSpPr>
          <p:cNvPr id="1608687259" name="Text 19"/>
          <p:cNvSpPr/>
          <p:nvPr/>
        </p:nvSpPr>
        <p:spPr bwMode="auto">
          <a:xfrm flipH="0" flipV="0">
            <a:off x="9539287" y="4827745"/>
            <a:ext cx="3365086" cy="112117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25399" tIns="25399" rIns="25399" bIns="25399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>
                <a:solidFill>
                  <a:srgbClr val="A89984"/>
                </a:solidFill>
                <a:latin typeface="Inter"/>
                <a:ea typeface="Inter"/>
                <a:cs typeface="Inter"/>
              </a:rPr>
              <a:t>Filter results to check for expected outputs or unexpected behavior</a:t>
            </a:r>
            <a:endParaRPr lang="en-US" sz="1650"/>
          </a:p>
        </p:txBody>
      </p:sp>
      <p:sp>
        <p:nvSpPr>
          <p:cNvPr id="1573048651" name="Shape 20"/>
          <p:cNvSpPr/>
          <p:nvPr/>
        </p:nvSpPr>
        <p:spPr bwMode="auto">
          <a:xfrm>
            <a:off x="13301662" y="3837145"/>
            <a:ext cx="3829050" cy="2193607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113030651" name="Shape 21"/>
          <p:cNvSpPr/>
          <p:nvPr/>
        </p:nvSpPr>
        <p:spPr bwMode="auto">
          <a:xfrm>
            <a:off x="13301662" y="3837145"/>
            <a:ext cx="28575" cy="2193607"/>
          </a:xfrm>
          <a:prstGeom prst="rect">
            <a:avLst/>
          </a:prstGeom>
          <a:solidFill>
            <a:srgbClr val="FABD2F"/>
          </a:solidFill>
          <a:ln/>
        </p:spPr>
      </p:sp>
      <p:sp>
        <p:nvSpPr>
          <p:cNvPr id="1710777201" name="Text 22"/>
          <p:cNvSpPr/>
          <p:nvPr/>
        </p:nvSpPr>
        <p:spPr bwMode="auto">
          <a:xfrm>
            <a:off x="13596937" y="4065745"/>
            <a:ext cx="3365086" cy="285750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209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STEP 04</a:t>
            </a:r>
            <a:endParaRPr lang="en-US" sz="1500"/>
          </a:p>
        </p:txBody>
      </p:sp>
      <p:sp>
        <p:nvSpPr>
          <p:cNvPr id="1231061075" name="Text 23"/>
          <p:cNvSpPr/>
          <p:nvPr/>
        </p:nvSpPr>
        <p:spPr bwMode="auto">
          <a:xfrm>
            <a:off x="13596937" y="4370545"/>
            <a:ext cx="3365086" cy="419099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250" b="1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Reporting</a:t>
            </a:r>
            <a:endParaRPr lang="en-US" sz="2250"/>
          </a:p>
        </p:txBody>
      </p:sp>
      <p:sp>
        <p:nvSpPr>
          <p:cNvPr id="650817478" name="Text 24"/>
          <p:cNvSpPr/>
          <p:nvPr/>
        </p:nvSpPr>
        <p:spPr bwMode="auto">
          <a:xfrm flipH="0" flipV="0">
            <a:off x="13596937" y="4827745"/>
            <a:ext cx="3471668" cy="831809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25399" tIns="25399" rIns="25399" bIns="25399" numCol="1" spcCol="0" rtlCol="0" fromWordArt="0" anchor="t" anchorCtr="0" forceAA="0" upright="0" compatLnSpc="0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>
                <a:solidFill>
                  <a:srgbClr val="A89984"/>
                </a:solidFill>
                <a:latin typeface="Inter"/>
                <a:ea typeface="Inter"/>
                <a:cs typeface="Inter"/>
              </a:rPr>
              <a:t>Quantify what each release actually changed</a:t>
            </a:r>
            <a:endParaRPr lang="en-US" sz="16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009841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2051260009" name="Text 1"/>
          <p:cNvSpPr/>
          <p:nvPr/>
        </p:nvSpPr>
        <p:spPr bwMode="auto">
          <a:xfrm>
            <a:off x="15331440" y="466725"/>
            <a:ext cx="1889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12 · PLATFORMS</a:t>
            </a:r>
            <a:endParaRPr lang="en-US" sz="1500"/>
          </a:p>
        </p:txBody>
      </p:sp>
      <p:sp>
        <p:nvSpPr>
          <p:cNvPr id="2122542560" name="Text 2"/>
          <p:cNvSpPr/>
          <p:nvPr/>
        </p:nvSpPr>
        <p:spPr bwMode="auto">
          <a:xfrm>
            <a:off x="1143000" y="167640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31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SUPPORTED PLATFORMS</a:t>
            </a:r>
            <a:endParaRPr lang="en-US" sz="1650"/>
          </a:p>
        </p:txBody>
      </p:sp>
      <p:sp>
        <p:nvSpPr>
          <p:cNvPr id="1599953660" name="Text 3"/>
          <p:cNvSpPr/>
          <p:nvPr/>
        </p:nvSpPr>
        <p:spPr bwMode="auto">
          <a:xfrm>
            <a:off x="1143000" y="2105025"/>
            <a:ext cx="164820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7200" b="1" spc="-72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Where it runs.</a:t>
            </a:r>
            <a:endParaRPr lang="en-US" sz="7200"/>
          </a:p>
        </p:txBody>
      </p:sp>
      <p:sp>
        <p:nvSpPr>
          <p:cNvPr id="1647335170" name="Shape 4"/>
          <p:cNvSpPr/>
          <p:nvPr/>
        </p:nvSpPr>
        <p:spPr bwMode="auto">
          <a:xfrm>
            <a:off x="1143000" y="3446144"/>
            <a:ext cx="1809750" cy="466725"/>
          </a:xfrm>
          <a:prstGeom prst="roundRect">
            <a:avLst>
              <a:gd name="adj" fmla="val 4082"/>
            </a:avLst>
          </a:prstGeom>
          <a:ln w="9525">
            <a:solidFill>
              <a:srgbClr val="FABD2F"/>
            </a:solidFill>
            <a:prstDash val="solid"/>
          </a:ln>
        </p:spPr>
      </p:sp>
      <p:sp>
        <p:nvSpPr>
          <p:cNvPr id="1067714000" name="Text 5"/>
          <p:cNvSpPr/>
          <p:nvPr/>
        </p:nvSpPr>
        <p:spPr bwMode="auto">
          <a:xfrm>
            <a:off x="1304925" y="3512820"/>
            <a:ext cx="1562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950">
                <a:solidFill>
                  <a:srgbClr val="FABD2F"/>
                </a:solidFill>
                <a:latin typeface="JetBrains Mono"/>
                <a:ea typeface="JetBrains Mono"/>
                <a:cs typeface="JetBrains Mono"/>
              </a:rPr>
              <a:t>PG 15 — 18</a:t>
            </a:r>
            <a:endParaRPr lang="en-US" sz="1950"/>
          </a:p>
        </p:txBody>
      </p:sp>
      <p:sp>
        <p:nvSpPr>
          <p:cNvPr id="804295591" name="Shape 6"/>
          <p:cNvSpPr/>
          <p:nvPr/>
        </p:nvSpPr>
        <p:spPr bwMode="auto">
          <a:xfrm>
            <a:off x="3086100" y="3631882"/>
            <a:ext cx="95250" cy="95250"/>
          </a:xfrm>
          <a:prstGeom prst="ellipse">
            <a:avLst/>
          </a:prstGeom>
          <a:solidFill>
            <a:srgbClr val="FABD2F"/>
          </a:solidFill>
          <a:ln/>
        </p:spPr>
      </p:sp>
      <p:sp>
        <p:nvSpPr>
          <p:cNvPr id="1389211022" name="Text 7"/>
          <p:cNvSpPr/>
          <p:nvPr/>
        </p:nvSpPr>
        <p:spPr bwMode="auto">
          <a:xfrm>
            <a:off x="3276600" y="3555682"/>
            <a:ext cx="31786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managed instances supported</a:t>
            </a:r>
            <a:endParaRPr lang="en-US" sz="1500"/>
          </a:p>
        </p:txBody>
      </p:sp>
      <p:sp>
        <p:nvSpPr>
          <p:cNvPr id="795243203" name="Shape 8"/>
          <p:cNvSpPr/>
          <p:nvPr/>
        </p:nvSpPr>
        <p:spPr bwMode="auto">
          <a:xfrm>
            <a:off x="1143000" y="4370070"/>
            <a:ext cx="5219700" cy="952500"/>
          </a:xfrm>
          <a:prstGeom prst="roundRect">
            <a:avLst>
              <a:gd name="adj" fmla="val 2000"/>
            </a:avLst>
          </a:prstGeom>
          <a:solidFill>
            <a:srgbClr val="282828"/>
          </a:solidFill>
          <a:ln w="9525">
            <a:solidFill>
              <a:srgbClr val="3C3836"/>
            </a:solidFill>
            <a:prstDash val="solid"/>
          </a:ln>
        </p:spPr>
      </p:sp>
      <p:sp>
        <p:nvSpPr>
          <p:cNvPr id="1207761296" name="Text 9"/>
          <p:cNvSpPr/>
          <p:nvPr/>
        </p:nvSpPr>
        <p:spPr bwMode="auto">
          <a:xfrm flipH="0" flipV="0">
            <a:off x="1419224" y="4646295"/>
            <a:ext cx="2235268" cy="438148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25399" tIns="25399" rIns="25399" bIns="25399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AWS Aurora/RDS</a:t>
            </a:r>
            <a:endParaRPr lang="en-US" sz="2400"/>
          </a:p>
        </p:txBody>
      </p:sp>
      <p:sp>
        <p:nvSpPr>
          <p:cNvPr id="1502745167" name="Shape 11"/>
          <p:cNvSpPr/>
          <p:nvPr/>
        </p:nvSpPr>
        <p:spPr bwMode="auto">
          <a:xfrm>
            <a:off x="6534150" y="4370070"/>
            <a:ext cx="5219700" cy="952500"/>
          </a:xfrm>
          <a:prstGeom prst="roundRect">
            <a:avLst>
              <a:gd name="adj" fmla="val 2000"/>
            </a:avLst>
          </a:prstGeom>
          <a:solidFill>
            <a:srgbClr val="282828"/>
          </a:solidFill>
          <a:ln w="9525">
            <a:solidFill>
              <a:srgbClr val="3C3836"/>
            </a:solidFill>
            <a:prstDash val="solid"/>
          </a:ln>
        </p:spPr>
      </p:sp>
      <p:sp>
        <p:nvSpPr>
          <p:cNvPr id="1939368584" name="Text 12"/>
          <p:cNvSpPr/>
          <p:nvPr/>
        </p:nvSpPr>
        <p:spPr bwMode="auto">
          <a:xfrm flipH="0" flipV="0">
            <a:off x="6810374" y="4646295"/>
            <a:ext cx="871143" cy="438148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GCP</a:t>
            </a:r>
            <a:endParaRPr lang="en-US" sz="2400"/>
          </a:p>
        </p:txBody>
      </p:sp>
      <p:sp>
        <p:nvSpPr>
          <p:cNvPr id="1007339847" name="Shape 14"/>
          <p:cNvSpPr/>
          <p:nvPr/>
        </p:nvSpPr>
        <p:spPr bwMode="auto">
          <a:xfrm>
            <a:off x="11925300" y="4370070"/>
            <a:ext cx="5219700" cy="952500"/>
          </a:xfrm>
          <a:prstGeom prst="roundRect">
            <a:avLst>
              <a:gd name="adj" fmla="val 2000"/>
            </a:avLst>
          </a:prstGeom>
          <a:solidFill>
            <a:srgbClr val="282828"/>
          </a:solidFill>
          <a:ln w="9525">
            <a:solidFill>
              <a:srgbClr val="3C3836"/>
            </a:solidFill>
            <a:prstDash val="solid"/>
          </a:ln>
        </p:spPr>
      </p:sp>
      <p:sp>
        <p:nvSpPr>
          <p:cNvPr id="1711866556" name="Text 15"/>
          <p:cNvSpPr/>
          <p:nvPr/>
        </p:nvSpPr>
        <p:spPr bwMode="auto">
          <a:xfrm flipH="0" flipV="0">
            <a:off x="12201525" y="4646295"/>
            <a:ext cx="1110594" cy="438148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Azure</a:t>
            </a:r>
            <a:endParaRPr lang="en-US" sz="2400"/>
          </a:p>
        </p:txBody>
      </p:sp>
      <p:sp>
        <p:nvSpPr>
          <p:cNvPr id="1943212556" name="Shape 17"/>
          <p:cNvSpPr/>
          <p:nvPr/>
        </p:nvSpPr>
        <p:spPr bwMode="auto">
          <a:xfrm>
            <a:off x="1143000" y="5494020"/>
            <a:ext cx="5219700" cy="952500"/>
          </a:xfrm>
          <a:prstGeom prst="roundRect">
            <a:avLst>
              <a:gd name="adj" fmla="val 2000"/>
            </a:avLst>
          </a:prstGeom>
          <a:solidFill>
            <a:srgbClr val="282828"/>
          </a:solidFill>
          <a:ln w="9525">
            <a:solidFill>
              <a:srgbClr val="3C3836"/>
            </a:solidFill>
            <a:prstDash val="solid"/>
          </a:ln>
        </p:spPr>
      </p:sp>
      <p:sp>
        <p:nvSpPr>
          <p:cNvPr id="817673652" name="Text 18"/>
          <p:cNvSpPr/>
          <p:nvPr/>
        </p:nvSpPr>
        <p:spPr bwMode="auto">
          <a:xfrm flipH="0" flipV="0">
            <a:off x="1419224" y="5770244"/>
            <a:ext cx="1210426" cy="438148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Neon</a:t>
            </a:r>
            <a:endParaRPr lang="en-US" sz="2400"/>
          </a:p>
        </p:txBody>
      </p:sp>
      <p:sp>
        <p:nvSpPr>
          <p:cNvPr id="521347256" name="Shape 20"/>
          <p:cNvSpPr/>
          <p:nvPr/>
        </p:nvSpPr>
        <p:spPr bwMode="auto">
          <a:xfrm>
            <a:off x="6534150" y="5494020"/>
            <a:ext cx="5219700" cy="952500"/>
          </a:xfrm>
          <a:prstGeom prst="roundRect">
            <a:avLst>
              <a:gd name="adj" fmla="val 2000"/>
            </a:avLst>
          </a:prstGeom>
          <a:solidFill>
            <a:srgbClr val="282828"/>
          </a:solidFill>
          <a:ln w="9525">
            <a:solidFill>
              <a:srgbClr val="3C3836"/>
            </a:solidFill>
            <a:prstDash val="solid"/>
          </a:ln>
        </p:spPr>
      </p:sp>
      <p:sp>
        <p:nvSpPr>
          <p:cNvPr id="27408471" name="Text 21"/>
          <p:cNvSpPr/>
          <p:nvPr/>
        </p:nvSpPr>
        <p:spPr bwMode="auto">
          <a:xfrm flipH="0" flipV="0">
            <a:off x="6810374" y="5770244"/>
            <a:ext cx="1582504" cy="438148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Supabase</a:t>
            </a:r>
            <a:endParaRPr lang="en-US" sz="2400"/>
          </a:p>
        </p:txBody>
      </p:sp>
      <p:sp>
        <p:nvSpPr>
          <p:cNvPr id="1859894732" name="Shape 23"/>
          <p:cNvSpPr/>
          <p:nvPr/>
        </p:nvSpPr>
        <p:spPr bwMode="auto">
          <a:xfrm>
            <a:off x="11925300" y="5494020"/>
            <a:ext cx="5219700" cy="952500"/>
          </a:xfrm>
          <a:prstGeom prst="roundRect">
            <a:avLst>
              <a:gd name="adj" fmla="val 2000"/>
            </a:avLst>
          </a:prstGeom>
          <a:solidFill>
            <a:srgbClr val="282828"/>
          </a:solidFill>
          <a:ln w="9525">
            <a:solidFill>
              <a:srgbClr val="3C3836"/>
            </a:solidFill>
            <a:prstDash val="solid"/>
          </a:ln>
        </p:spPr>
      </p:sp>
      <p:sp>
        <p:nvSpPr>
          <p:cNvPr id="1747187433" name="Text 24"/>
          <p:cNvSpPr/>
          <p:nvPr/>
        </p:nvSpPr>
        <p:spPr bwMode="auto">
          <a:xfrm flipH="0" flipV="0">
            <a:off x="12201525" y="5770244"/>
            <a:ext cx="2219835" cy="438148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DigitalOcean</a:t>
            </a:r>
            <a:endParaRPr lang="en-US" sz="2400"/>
          </a:p>
        </p:txBody>
      </p:sp>
      <p:sp>
        <p:nvSpPr>
          <p:cNvPr id="2001154186" name="Text 26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12 / 16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134886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627475489" name="Text 1"/>
          <p:cNvSpPr/>
          <p:nvPr/>
        </p:nvSpPr>
        <p:spPr bwMode="auto">
          <a:xfrm>
            <a:off x="15072360" y="466725"/>
            <a:ext cx="21488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13 · LIMITATIONS</a:t>
            </a:r>
            <a:endParaRPr lang="en-US" sz="1500"/>
          </a:p>
        </p:txBody>
      </p:sp>
      <p:sp>
        <p:nvSpPr>
          <p:cNvPr id="489836702" name="Text 2"/>
          <p:cNvSpPr/>
          <p:nvPr/>
        </p:nvSpPr>
        <p:spPr bwMode="auto">
          <a:xfrm>
            <a:off x="1143000" y="167640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31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LIMITATIONS · HONEST</a:t>
            </a:r>
            <a:endParaRPr lang="en-US" sz="1650"/>
          </a:p>
        </p:txBody>
      </p:sp>
      <p:sp>
        <p:nvSpPr>
          <p:cNvPr id="1586974743" name="Text 3"/>
          <p:cNvSpPr/>
          <p:nvPr/>
        </p:nvSpPr>
        <p:spPr bwMode="auto">
          <a:xfrm>
            <a:off x="1143000" y="2105025"/>
            <a:ext cx="164820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7200" b="1" spc="-72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What it doesn’t do.</a:t>
            </a:r>
            <a:endParaRPr lang="en-US" sz="7200"/>
          </a:p>
        </p:txBody>
      </p:sp>
      <p:sp>
        <p:nvSpPr>
          <p:cNvPr id="1609493594" name="Text 4"/>
          <p:cNvSpPr/>
          <p:nvPr/>
        </p:nvSpPr>
        <p:spPr bwMode="auto">
          <a:xfrm>
            <a:off x="1485900" y="3649028"/>
            <a:ext cx="584753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No testing coverage for Azure and GCP</a:t>
            </a:r>
            <a:endParaRPr lang="en-US" sz="2400"/>
          </a:p>
        </p:txBody>
      </p:sp>
      <p:sp>
        <p:nvSpPr>
          <p:cNvPr id="1988442320" name="Text 5"/>
          <p:cNvSpPr/>
          <p:nvPr/>
        </p:nvSpPr>
        <p:spPr bwMode="auto">
          <a:xfrm>
            <a:off x="1485900" y="4128135"/>
            <a:ext cx="16128873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 spc="33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Call for action: community support welcome</a:t>
            </a:r>
            <a:endParaRPr lang="en-US" sz="1650"/>
          </a:p>
        </p:txBody>
      </p:sp>
      <p:sp>
        <p:nvSpPr>
          <p:cNvPr id="672001947" name="Text 6"/>
          <p:cNvSpPr/>
          <p:nvPr/>
        </p:nvSpPr>
        <p:spPr bwMode="auto">
          <a:xfrm>
            <a:off x="1485900" y="4674870"/>
            <a:ext cx="327842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No deep runtime logic</a:t>
            </a:r>
            <a:endParaRPr lang="en-US" sz="2400"/>
          </a:p>
        </p:txBody>
      </p:sp>
      <p:sp>
        <p:nvSpPr>
          <p:cNvPr id="2099141960" name="Text 7"/>
          <p:cNvSpPr/>
          <p:nvPr/>
        </p:nvSpPr>
        <p:spPr bwMode="auto">
          <a:xfrm>
            <a:off x="1485900" y="5153977"/>
            <a:ext cx="16128873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 spc="33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Can’t detect application logic bugs</a:t>
            </a:r>
            <a:endParaRPr lang="en-US" sz="1650"/>
          </a:p>
        </p:txBody>
      </p:sp>
      <p:sp>
        <p:nvSpPr>
          <p:cNvPr id="1561948150" name="Text 8"/>
          <p:cNvSpPr/>
          <p:nvPr/>
        </p:nvSpPr>
        <p:spPr bwMode="auto">
          <a:xfrm>
            <a:off x="1485900" y="5700713"/>
            <a:ext cx="446111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400">
                <a:solidFill>
                  <a:srgbClr val="EBDBB2"/>
                </a:solidFill>
                <a:latin typeface="Inter"/>
                <a:ea typeface="Inter"/>
                <a:cs typeface="Inter"/>
              </a:rPr>
              <a:t>pg_stat_statements is optional</a:t>
            </a:r>
            <a:endParaRPr lang="en-US" sz="2400"/>
          </a:p>
        </p:txBody>
      </p:sp>
      <p:sp>
        <p:nvSpPr>
          <p:cNvPr id="1340544697" name="Text 9"/>
          <p:cNvSpPr/>
          <p:nvPr/>
        </p:nvSpPr>
        <p:spPr bwMode="auto">
          <a:xfrm>
            <a:off x="1485900" y="6179820"/>
            <a:ext cx="16128873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1650" spc="33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Provides additional and more detailed stats</a:t>
            </a:r>
            <a:endParaRPr lang="en-US" sz="1650"/>
          </a:p>
        </p:txBody>
      </p:sp>
      <p:sp>
        <p:nvSpPr>
          <p:cNvPr id="1905395222" name="Text 10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13 / 16</a:t>
            </a:r>
            <a:endParaRPr 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957790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787196483" name="Text 1"/>
          <p:cNvSpPr/>
          <p:nvPr/>
        </p:nvSpPr>
        <p:spPr bwMode="auto">
          <a:xfrm>
            <a:off x="15331440" y="466725"/>
            <a:ext cx="18897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14 · LIVE DEMO</a:t>
            </a:r>
            <a:endParaRPr lang="en-US" sz="1500"/>
          </a:p>
        </p:txBody>
      </p:sp>
      <p:sp>
        <p:nvSpPr>
          <p:cNvPr id="392374062" name="Text 2"/>
          <p:cNvSpPr/>
          <p:nvPr/>
        </p:nvSpPr>
        <p:spPr bwMode="auto">
          <a:xfrm>
            <a:off x="1143000" y="167640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31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DEMO</a:t>
            </a:r>
            <a:endParaRPr lang="en-US" sz="1650"/>
          </a:p>
        </p:txBody>
      </p:sp>
      <p:sp>
        <p:nvSpPr>
          <p:cNvPr id="1059111912" name="Text 3"/>
          <p:cNvSpPr/>
          <p:nvPr/>
        </p:nvSpPr>
        <p:spPr bwMode="auto">
          <a:xfrm>
            <a:off x="1143000" y="2105025"/>
            <a:ext cx="16482060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10500" b="1" spc="-105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Live demo.</a:t>
            </a:r>
            <a:endParaRPr lang="en-US" sz="10500"/>
          </a:p>
        </p:txBody>
      </p:sp>
      <p:sp>
        <p:nvSpPr>
          <p:cNvPr id="725123813" name="Text 15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14 / 16</a:t>
            </a:r>
            <a:endParaRPr lang="en-US" sz="1350"/>
          </a:p>
        </p:txBody>
      </p:sp>
      <p:pic>
        <p:nvPicPr>
          <p:cNvPr id="880063572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3201747" y="7124815"/>
            <a:ext cx="2177760" cy="2177760"/>
          </a:xfrm>
          <a:prstGeom prst="rect">
            <a:avLst/>
          </a:prstGeom>
        </p:spPr>
      </p:pic>
      <p:pic>
        <p:nvPicPr>
          <p:cNvPr id="1853155329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10702252" y="5193766"/>
            <a:ext cx="2027092" cy="2027092"/>
          </a:xfrm>
          <a:prstGeom prst="rect">
            <a:avLst/>
          </a:prstGeom>
        </p:spPr>
      </p:pic>
      <p:pic>
        <p:nvPicPr>
          <p:cNvPr id="60205026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6953299" y="7665531"/>
            <a:ext cx="4624004" cy="1416715"/>
          </a:xfrm>
          <a:prstGeom prst="rect">
            <a:avLst/>
          </a:prstGeom>
        </p:spPr>
      </p:pic>
      <p:pic>
        <p:nvPicPr>
          <p:cNvPr id="113611794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4658640" y="4926200"/>
            <a:ext cx="4079392" cy="2294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26950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244315226" name="Text 1"/>
          <p:cNvSpPr/>
          <p:nvPr/>
        </p:nvSpPr>
        <p:spPr bwMode="auto">
          <a:xfrm>
            <a:off x="15460980" y="466725"/>
            <a:ext cx="17602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15 · FEEDBACK</a:t>
            </a:r>
            <a:endParaRPr lang="en-US" sz="1500"/>
          </a:p>
        </p:txBody>
      </p:sp>
      <p:sp>
        <p:nvSpPr>
          <p:cNvPr id="1741438599" name="Text 2"/>
          <p:cNvSpPr/>
          <p:nvPr/>
        </p:nvSpPr>
        <p:spPr bwMode="auto">
          <a:xfrm>
            <a:off x="1143000" y="167640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31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FEEDBACK · TWO MINUTES</a:t>
            </a:r>
            <a:endParaRPr lang="en-US" sz="1650"/>
          </a:p>
        </p:txBody>
      </p:sp>
      <p:sp>
        <p:nvSpPr>
          <p:cNvPr id="476263447" name="Text 3"/>
          <p:cNvSpPr/>
          <p:nvPr/>
        </p:nvSpPr>
        <p:spPr bwMode="auto">
          <a:xfrm>
            <a:off x="1143000" y="2105025"/>
            <a:ext cx="1648206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7200" b="1" spc="-72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Feedback.</a:t>
            </a:r>
            <a:endParaRPr lang="en-US" sz="7200"/>
          </a:p>
        </p:txBody>
      </p:sp>
      <p:sp>
        <p:nvSpPr>
          <p:cNvPr id="1584285663" name="Text 4"/>
          <p:cNvSpPr/>
          <p:nvPr/>
        </p:nvSpPr>
        <p:spPr bwMode="auto">
          <a:xfrm>
            <a:off x="1143000" y="3217545"/>
            <a:ext cx="1648206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  <a:defRPr/>
            </a:pPr>
            <a:r>
              <a:rPr lang="en-US" sz="2100">
                <a:solidFill>
                  <a:srgbClr val="A89984"/>
                </a:solidFill>
                <a:latin typeface="JetBrains Mono"/>
                <a:ea typeface="JetBrains Mono"/>
                <a:cs typeface="JetBrains Mono"/>
              </a:rPr>
              <a:t>Only takes a moment.</a:t>
            </a:r>
            <a:endParaRPr lang="en-US" sz="2100"/>
          </a:p>
        </p:txBody>
      </p:sp>
      <p:sp>
        <p:nvSpPr>
          <p:cNvPr id="572387829" name="Shape 5"/>
          <p:cNvSpPr/>
          <p:nvPr/>
        </p:nvSpPr>
        <p:spPr bwMode="auto">
          <a:xfrm flipH="0" flipV="0">
            <a:off x="1466529" y="3958025"/>
            <a:ext cx="6848354" cy="4870307"/>
          </a:xfrm>
          <a:prstGeom prst="rect">
            <a:avLst/>
          </a:prstGeom>
          <a:solidFill>
            <a:srgbClr val="282828"/>
          </a:solidFill>
          <a:ln w="9525">
            <a:solidFill>
              <a:srgbClr val="504945"/>
            </a:solidFill>
            <a:prstDash val="solid"/>
          </a:ln>
        </p:spPr>
      </p:sp>
      <p:sp>
        <p:nvSpPr>
          <p:cNvPr id="280995205" name="Text 6"/>
          <p:cNvSpPr/>
          <p:nvPr/>
        </p:nvSpPr>
        <p:spPr bwMode="auto">
          <a:xfrm>
            <a:off x="5446815" y="4539165"/>
            <a:ext cx="3512820" cy="344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endParaRPr lang="en-US" sz="1650"/>
          </a:p>
        </p:txBody>
      </p:sp>
      <p:sp>
        <p:nvSpPr>
          <p:cNvPr id="1264584478" name="Text 11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15 / 16</a:t>
            </a:r>
            <a:endParaRPr lang="en-US" sz="1350"/>
          </a:p>
        </p:txBody>
      </p:sp>
      <p:pic>
        <p:nvPicPr>
          <p:cNvPr id="18049572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05937" y="4164329"/>
            <a:ext cx="5715919" cy="4457700"/>
          </a:xfrm>
          <a:prstGeom prst="rect">
            <a:avLst/>
          </a:prstGeom>
        </p:spPr>
      </p:pic>
      <p:pic>
        <p:nvPicPr>
          <p:cNvPr id="57425905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0563100" y="3958025"/>
            <a:ext cx="5032077" cy="50320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1D202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14089" name="Text 0"/>
          <p:cNvSpPr/>
          <p:nvPr/>
        </p:nvSpPr>
        <p:spPr bwMode="auto">
          <a:xfrm>
            <a:off x="1143000" y="457200"/>
            <a:ext cx="3747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RANDONEERING · PGFIRSTAID</a:t>
            </a:r>
            <a:endParaRPr lang="en-US" sz="1500"/>
          </a:p>
        </p:txBody>
      </p:sp>
      <p:sp>
        <p:nvSpPr>
          <p:cNvPr id="2019109434" name="Text 1"/>
          <p:cNvSpPr/>
          <p:nvPr/>
        </p:nvSpPr>
        <p:spPr bwMode="auto">
          <a:xfrm>
            <a:off x="16108680" y="466725"/>
            <a:ext cx="11125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 spc="12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16 · END</a:t>
            </a:r>
            <a:endParaRPr lang="en-US" sz="1500"/>
          </a:p>
        </p:txBody>
      </p:sp>
      <p:sp>
        <p:nvSpPr>
          <p:cNvPr id="180733550" name="Text 2"/>
          <p:cNvSpPr/>
          <p:nvPr/>
        </p:nvSpPr>
        <p:spPr bwMode="auto">
          <a:xfrm>
            <a:off x="1143000" y="1343025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50" spc="264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// THANK YOU · PLEASE...</a:t>
            </a:r>
            <a:endParaRPr lang="en-US" sz="1650"/>
          </a:p>
        </p:txBody>
      </p:sp>
      <p:sp>
        <p:nvSpPr>
          <p:cNvPr id="1911484784" name="Text 3"/>
          <p:cNvSpPr/>
          <p:nvPr/>
        </p:nvSpPr>
        <p:spPr bwMode="auto">
          <a:xfrm>
            <a:off x="1143000" y="2076450"/>
            <a:ext cx="16482060" cy="5867399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25399" tIns="25399" rIns="25399" bIns="25399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15000" b="1" spc="-150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Star. </a:t>
            </a:r>
            <a:endParaRPr lang="en-US" sz="15000" b="1" spc="-149">
              <a:solidFill>
                <a:srgbClr val="EBDBB2"/>
              </a:solidFill>
              <a:latin typeface="IBM Plex Sans Condensed"/>
              <a:ea typeface="IBM Plex Sans Condensed"/>
              <a:cs typeface="IBM Plex Sans Condensed"/>
            </a:endParaRPr>
          </a:p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15000" b="1" spc="-149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Contribute. </a:t>
            </a:r>
            <a:endParaRPr lang="en-US" sz="15000" b="1" spc="-149">
              <a:solidFill>
                <a:srgbClr val="EBDBB2"/>
              </a:solidFill>
              <a:latin typeface="IBM Plex Sans Condensed"/>
              <a:ea typeface="IBM Plex Sans Condensed"/>
              <a:cs typeface="IBM Plex Sans Condensed"/>
            </a:endParaRPr>
          </a:p>
          <a:p>
            <a:pPr marL="0" indent="0" algn="l">
              <a:lnSpc>
                <a:spcPct val="102000"/>
              </a:lnSpc>
              <a:buNone/>
              <a:defRPr/>
            </a:pPr>
            <a:r>
              <a:rPr lang="en-US" sz="15000" b="1" spc="-149">
                <a:solidFill>
                  <a:srgbClr val="EBDBB2"/>
                </a:solidFill>
                <a:latin typeface="IBM Plex Sans Condensed"/>
                <a:ea typeface="IBM Plex Sans Condensed"/>
                <a:cs typeface="IBM Plex Sans Condensed"/>
              </a:rPr>
              <a:t>Share.</a:t>
            </a:r>
            <a:endParaRPr lang="en-US" sz="15000"/>
          </a:p>
        </p:txBody>
      </p:sp>
      <p:sp>
        <p:nvSpPr>
          <p:cNvPr id="1862191625" name="Text 4"/>
          <p:cNvSpPr/>
          <p:nvPr/>
        </p:nvSpPr>
        <p:spPr bwMode="auto">
          <a:xfrm>
            <a:off x="1143000" y="8591550"/>
            <a:ext cx="70872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10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github → </a:t>
            </a:r>
            <a:r>
              <a:rPr lang="en-US" sz="2100">
                <a:solidFill>
                  <a:srgbClr val="D5C4A1"/>
                </a:solidFill>
                <a:latin typeface="JetBrains Mono"/>
                <a:ea typeface="JetBrains Mono"/>
                <a:cs typeface="JetBrains Mono"/>
              </a:rPr>
              <a:t>github.com/randoneering/pgfirstaid</a:t>
            </a:r>
            <a:endParaRPr lang="en-US" sz="2100"/>
          </a:p>
        </p:txBody>
      </p:sp>
      <p:sp>
        <p:nvSpPr>
          <p:cNvPr id="914619732" name="Text 5"/>
          <p:cNvSpPr/>
          <p:nvPr/>
        </p:nvSpPr>
        <p:spPr bwMode="auto">
          <a:xfrm>
            <a:off x="8595360" y="8591550"/>
            <a:ext cx="37908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100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web → </a:t>
            </a:r>
            <a:r>
              <a:rPr lang="en-US" sz="2100">
                <a:solidFill>
                  <a:srgbClr val="D5C4A1"/>
                </a:solidFill>
                <a:latin typeface="JetBrains Mono"/>
                <a:ea typeface="JetBrains Mono"/>
                <a:cs typeface="JetBrains Mono"/>
              </a:rPr>
              <a:t>randoneering.tech</a:t>
            </a:r>
            <a:endParaRPr lang="en-US" sz="2100"/>
          </a:p>
        </p:txBody>
      </p:sp>
      <p:sp>
        <p:nvSpPr>
          <p:cNvPr id="1679311736" name="Text 6"/>
          <p:cNvSpPr/>
          <p:nvPr/>
        </p:nvSpPr>
        <p:spPr bwMode="auto">
          <a:xfrm>
            <a:off x="1143000" y="9677400"/>
            <a:ext cx="891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50" spc="108">
                <a:solidFill>
                  <a:srgbClr val="928374"/>
                </a:solidFill>
                <a:latin typeface="JetBrains Mono"/>
                <a:ea typeface="JetBrains Mono"/>
                <a:cs typeface="JetBrains Mono"/>
              </a:rPr>
              <a:t>16 / 16</a:t>
            </a:r>
            <a:endParaRPr lang="en-US" sz="1350"/>
          </a:p>
        </p:txBody>
      </p:sp>
      <p:pic>
        <p:nvPicPr>
          <p:cNvPr id="773919565" name="Picture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032848" y="3302883"/>
            <a:ext cx="4572000" cy="457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4</cp:revision>
  <dcterms:created xsi:type="dcterms:W3CDTF">2026-04-29T19:40:08Z</dcterms:created>
  <dcterms:modified xsi:type="dcterms:W3CDTF">2026-05-02T04:39:34Z</dcterms:modified>
</cp:coreProperties>
</file>